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this is a menu, not a recommendation. The five families of capital differ in what they take from you, not just what they cost. Numbers on later slides come from the closed books so the options are sized against real capacity rather than hypotheticals.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 of operations is the single most useful idea in the deck. Cost of capital rises left to right, and the rightmost option is the only irreversible one. Grants and gifts sit together because neither is repaid — they differ in who gives and what they want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figures are 2024 actuals. Together they are roughly $36,000 of annual capacity — more than the 2024 loss — with no lender, no application and no dilution. Caveat to say out loud: how much is truly available depends on the cash position, and no balance sheet has been obtained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Rates verified September 2026: prime is 6.75%. The 7(a) range narrows as the loan gets larger. Supplier terms sit on this slide deliberately — net 30 is debt, it is just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Grant terms verified September 2026. The recurring mistake is treating a grant as free money: the 1:1 match on the USDA programme means a $50,000 award requires $50,000 of Kenyon's own cash or documented in-kind time. Owner time logs count as in-kind match, which is one more reason to keep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most family businesses skip and should not. The hard rule is that charitable money follows the charitable entity, not the mill: a Friends 501(c)(3) can raise for the building, the millstones, the archive and public education, but it cannot fund inventory, payroll or marketing for the LLC. Fiscal sponsorship is the fast test — run one campaign under a sponsor before spending months and legal fees on a determination letter. Programme terms verified September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Revenue-based financing is the middle path: no dilution, no personal guarantee, but the effective annualised cost usually beats an SBA rate only when you cannot qualify for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precondition, not on a recommendation. The five items are the cheapest work in the deck and every funding route depends on them — including the donation route, where the property question decides which preservation grants are even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A28"/>
        </a:solidFill>
      </p:bgPr>
    </p:bg>
    <p:spTree>
      <p:nvGrpSpPr>
        <p:cNvPr id="1" name=""/>
        <p:cNvGrpSpPr/>
        <p:nvPr/>
      </p:nvGrpSpPr>
      <p:grpSpPr>
        <a:xfrm>
          <a:off x="0" y="0"/>
          <a:ext cx="0" cy="0"/>
          <a:chOff x="0" y="0"/>
          <a:chExt cx="0" cy="0"/>
        </a:xfrm>
      </p:grpSpPr>
      <p:sp>
        <p:nvSpPr>
          <p:cNvPr id="2" name="Text 0"/>
          <p:cNvSpPr txBox="1"/>
          <p:nvPr/>
        </p:nvSpPr>
        <p:spPr>
          <a:xfrm>
            <a:off x="548640" y="777240"/>
            <a:ext cx="7315200" cy="256032"/>
          </a:xfrm>
          <a:prstGeom prst="rect">
            <a:avLst/>
          </a:prstGeom>
          <a:noFill/>
          <a:ln/>
        </p:spPr>
        <p:txBody>
          <a:bodyPr wrap="square" lIns="0" tIns="0" rIns="0" bIns="0" rtlCol="0" anchor="ctr"/>
          <a:lstStyle/>
          <a:p>
            <a:pPr indent="0" marL="0">
              <a:buNone/>
            </a:pPr>
            <a:r>
              <a:rPr lang="en-US" sz="1200" b="1" spc="160" kern="0" dirty="0">
                <a:solidFill>
                  <a:srgbClr val="C8922F"/>
                </a:solidFill>
                <a:latin typeface="Calibri" pitchFamily="34" charset="0"/>
                <a:ea typeface="Calibri" pitchFamily="34" charset="-122"/>
                <a:cs typeface="Calibri" pitchFamily="34" charset="-120"/>
              </a:rPr>
              <a:t>KENYON'S GRIST MILL   ·   CAPITAL PRIMER</a:t>
            </a:r>
            <a:endParaRPr lang="en-US" sz="1200" dirty="0"/>
          </a:p>
        </p:txBody>
      </p:sp>
      <p:sp>
        <p:nvSpPr>
          <p:cNvPr id="3" name="Text 1"/>
          <p:cNvSpPr txBox="1"/>
          <p:nvPr/>
        </p:nvSpPr>
        <p:spPr>
          <a:xfrm>
            <a:off x="548640" y="1143000"/>
            <a:ext cx="10058400" cy="1051560"/>
          </a:xfrm>
          <a:prstGeom prst="rect">
            <a:avLst/>
          </a:prstGeom>
          <a:noFill/>
          <a:ln/>
        </p:spPr>
        <p:txBody>
          <a:bodyPr wrap="square" lIns="0" tIns="0" rIns="0" bIns="0" rtlCol="0" anchor="ctr"/>
          <a:lstStyle/>
          <a:p>
            <a:pPr indent="0" marL="0">
              <a:buNone/>
            </a:pPr>
            <a:r>
              <a:rPr lang="en-US" sz="5400" b="1" dirty="0">
                <a:solidFill>
                  <a:srgbClr val="EDE7D8"/>
                </a:solidFill>
                <a:latin typeface="Cambria" pitchFamily="34" charset="0"/>
                <a:ea typeface="Cambria" pitchFamily="34" charset="-122"/>
                <a:cs typeface="Cambria" pitchFamily="34" charset="-120"/>
              </a:rPr>
              <a:t>Paying for Growth</a:t>
            </a:r>
            <a:endParaRPr lang="en-US" sz="5400" dirty="0"/>
          </a:p>
        </p:txBody>
      </p:sp>
      <p:sp>
        <p:nvSpPr>
          <p:cNvPr id="4" name="Text 2"/>
          <p:cNvSpPr txBox="1"/>
          <p:nvPr/>
        </p:nvSpPr>
        <p:spPr>
          <a:xfrm>
            <a:off x="548640" y="2331720"/>
            <a:ext cx="8503920" cy="914400"/>
          </a:xfrm>
          <a:prstGeom prst="rect">
            <a:avLst/>
          </a:prstGeom>
          <a:noFill/>
          <a:ln/>
        </p:spPr>
        <p:txBody>
          <a:bodyPr wrap="square" lIns="0" tIns="0" rIns="0" bIns="0" rtlCol="0" anchor="ctr"/>
          <a:lstStyle/>
          <a:p>
            <a:pPr indent="0" marL="0">
              <a:lnSpc>
                <a:spcPct val="125000"/>
              </a:lnSpc>
              <a:buNone/>
            </a:pPr>
            <a:r>
              <a:rPr lang="en-US" sz="1700" dirty="0">
                <a:solidFill>
                  <a:srgbClr val="D9C7A3"/>
                </a:solidFill>
                <a:latin typeface="Calibri" pitchFamily="34" charset="0"/>
                <a:ea typeface="Calibri" pitchFamily="34" charset="-122"/>
                <a:cs typeface="Calibri" pitchFamily="34" charset="-120"/>
              </a:rPr>
              <a:t>Every way there is to fund a project — what each one costs, what it demands in return, and where a 330-year-old mill with no debt and a thin year actually fits.</a:t>
            </a:r>
            <a:endParaRPr lang="en-US" sz="1700" dirty="0"/>
          </a:p>
        </p:txBody>
      </p:sp>
      <p:sp>
        <p:nvSpPr>
          <p:cNvPr id="5" name="Shape 3"/>
          <p:cNvSpPr/>
          <p:nvPr/>
        </p:nvSpPr>
        <p:spPr>
          <a:xfrm>
            <a:off x="548640" y="4114800"/>
            <a:ext cx="2072945" cy="868680"/>
          </a:xfrm>
          <a:prstGeom prst="roundRect">
            <a:avLst>
              <a:gd name="adj" fmla="val 8421"/>
            </a:avLst>
          </a:prstGeom>
          <a:solidFill>
            <a:srgbClr val="3A3835"/>
          </a:solidFill>
          <a:ln w="15875">
            <a:solidFill>
              <a:srgbClr val="3A5A63"/>
            </a:solidFill>
            <a:prstDash val="solid"/>
          </a:ln>
        </p:spPr>
      </p:sp>
      <p:sp>
        <p:nvSpPr>
          <p:cNvPr id="6" name="Shape 4"/>
          <p:cNvSpPr/>
          <p:nvPr/>
        </p:nvSpPr>
        <p:spPr>
          <a:xfrm>
            <a:off x="768096" y="4347972"/>
            <a:ext cx="402336" cy="402336"/>
          </a:xfrm>
          <a:prstGeom prst="ellipse">
            <a:avLst/>
          </a:prstGeom>
          <a:solidFill>
            <a:srgbClr val="3A5A63"/>
          </a:solidFill>
          <a:ln w="12700">
            <a:solidFill>
              <a:srgbClr val="3A5A63"/>
            </a:solidFill>
            <a:prstDash val="solid"/>
          </a:ln>
        </p:spPr>
      </p:sp>
      <p:sp>
        <p:nvSpPr>
          <p:cNvPr id="7" name="Text 5"/>
          <p:cNvSpPr txBox="1"/>
          <p:nvPr/>
        </p:nvSpPr>
        <p:spPr>
          <a:xfrm>
            <a:off x="768096" y="4347972"/>
            <a:ext cx="402336" cy="402336"/>
          </a:xfrm>
          <a:prstGeom prst="rect">
            <a:avLst/>
          </a:prstGeom>
          <a:noFill/>
          <a:ln/>
        </p:spPr>
        <p:txBody>
          <a:bodyPr wrap="square" lIns="0" tIns="0" rIns="0" bIns="0" rtlCol="0" anchor="ctr"/>
          <a:lstStyle/>
          <a:p>
            <a:pPr algn="ctr" indent="0" marL="0">
              <a:buNone/>
            </a:pPr>
            <a:r>
              <a:rPr lang="en-US" sz="1300" b="1" dirty="0">
                <a:solidFill>
                  <a:srgbClr val="EDE7D8"/>
                </a:solidFill>
                <a:latin typeface="Cambria" pitchFamily="34" charset="0"/>
                <a:ea typeface="Cambria" pitchFamily="34" charset="-122"/>
                <a:cs typeface="Cambria" pitchFamily="34" charset="-120"/>
              </a:rPr>
              <a:t>01</a:t>
            </a:r>
            <a:endParaRPr lang="en-US" sz="1300" dirty="0"/>
          </a:p>
        </p:txBody>
      </p:sp>
      <p:sp>
        <p:nvSpPr>
          <p:cNvPr id="8" name="Text 6"/>
          <p:cNvSpPr txBox="1"/>
          <p:nvPr/>
        </p:nvSpPr>
        <p:spPr>
          <a:xfrm>
            <a:off x="1261872" y="4347972"/>
            <a:ext cx="1204265" cy="402336"/>
          </a:xfrm>
          <a:prstGeom prst="rect">
            <a:avLst/>
          </a:prstGeom>
          <a:noFill/>
          <a:ln/>
        </p:spPr>
        <p:txBody>
          <a:bodyPr wrap="square" lIns="0" tIns="0" rIns="0" bIns="0" rtlCol="0" anchor="ctr"/>
          <a:lstStyle/>
          <a:p>
            <a:pPr indent="0" marL="0">
              <a:buNone/>
            </a:pPr>
            <a:r>
              <a:rPr lang="en-US" sz="1350" b="1" dirty="0">
                <a:solidFill>
                  <a:srgbClr val="EDE7D8"/>
                </a:solidFill>
                <a:latin typeface="Cambria" pitchFamily="34" charset="0"/>
                <a:ea typeface="Cambria" pitchFamily="34" charset="-122"/>
                <a:cs typeface="Cambria" pitchFamily="34" charset="-120"/>
              </a:rPr>
              <a:t>Your own cash</a:t>
            </a:r>
            <a:endParaRPr lang="en-US" sz="1350" dirty="0"/>
          </a:p>
        </p:txBody>
      </p:sp>
      <p:sp>
        <p:nvSpPr>
          <p:cNvPr id="9" name="Shape 7"/>
          <p:cNvSpPr/>
          <p:nvPr/>
        </p:nvSpPr>
        <p:spPr>
          <a:xfrm>
            <a:off x="2804465" y="4114800"/>
            <a:ext cx="2072945" cy="868680"/>
          </a:xfrm>
          <a:prstGeom prst="roundRect">
            <a:avLst>
              <a:gd name="adj" fmla="val 8421"/>
            </a:avLst>
          </a:prstGeom>
          <a:solidFill>
            <a:srgbClr val="3A3835"/>
          </a:solidFill>
          <a:ln w="15875">
            <a:solidFill>
              <a:srgbClr val="2E4057"/>
            </a:solidFill>
            <a:prstDash val="solid"/>
          </a:ln>
        </p:spPr>
      </p:sp>
      <p:sp>
        <p:nvSpPr>
          <p:cNvPr id="10" name="Shape 8"/>
          <p:cNvSpPr/>
          <p:nvPr/>
        </p:nvSpPr>
        <p:spPr>
          <a:xfrm>
            <a:off x="3023921" y="4347972"/>
            <a:ext cx="402336" cy="402336"/>
          </a:xfrm>
          <a:prstGeom prst="ellipse">
            <a:avLst/>
          </a:prstGeom>
          <a:solidFill>
            <a:srgbClr val="2E4057"/>
          </a:solidFill>
          <a:ln w="12700">
            <a:solidFill>
              <a:srgbClr val="2E4057"/>
            </a:solidFill>
            <a:prstDash val="solid"/>
          </a:ln>
        </p:spPr>
      </p:sp>
      <p:sp>
        <p:nvSpPr>
          <p:cNvPr id="11" name="Text 9"/>
          <p:cNvSpPr txBox="1"/>
          <p:nvPr/>
        </p:nvSpPr>
        <p:spPr>
          <a:xfrm>
            <a:off x="3023921" y="4347972"/>
            <a:ext cx="402336" cy="402336"/>
          </a:xfrm>
          <a:prstGeom prst="rect">
            <a:avLst/>
          </a:prstGeom>
          <a:noFill/>
          <a:ln/>
        </p:spPr>
        <p:txBody>
          <a:bodyPr wrap="square" lIns="0" tIns="0" rIns="0" bIns="0" rtlCol="0" anchor="ctr"/>
          <a:lstStyle/>
          <a:p>
            <a:pPr algn="ctr" indent="0" marL="0">
              <a:buNone/>
            </a:pPr>
            <a:r>
              <a:rPr lang="en-US" sz="1300" b="1" dirty="0">
                <a:solidFill>
                  <a:srgbClr val="EDE7D8"/>
                </a:solidFill>
                <a:latin typeface="Cambria" pitchFamily="34" charset="0"/>
                <a:ea typeface="Cambria" pitchFamily="34" charset="-122"/>
                <a:cs typeface="Cambria" pitchFamily="34" charset="-120"/>
              </a:rPr>
              <a:t>02</a:t>
            </a:r>
            <a:endParaRPr lang="en-US" sz="1300" dirty="0"/>
          </a:p>
        </p:txBody>
      </p:sp>
      <p:sp>
        <p:nvSpPr>
          <p:cNvPr id="12" name="Text 10"/>
          <p:cNvSpPr txBox="1"/>
          <p:nvPr/>
        </p:nvSpPr>
        <p:spPr>
          <a:xfrm>
            <a:off x="3517697" y="4347972"/>
            <a:ext cx="1204265" cy="402336"/>
          </a:xfrm>
          <a:prstGeom prst="rect">
            <a:avLst/>
          </a:prstGeom>
          <a:noFill/>
          <a:ln/>
        </p:spPr>
        <p:txBody>
          <a:bodyPr wrap="square" lIns="0" tIns="0" rIns="0" bIns="0" rtlCol="0" anchor="ctr"/>
          <a:lstStyle/>
          <a:p>
            <a:pPr indent="0" marL="0">
              <a:buNone/>
            </a:pPr>
            <a:r>
              <a:rPr lang="en-US" sz="1350" b="1" dirty="0">
                <a:solidFill>
                  <a:srgbClr val="EDE7D8"/>
                </a:solidFill>
                <a:latin typeface="Cambria" pitchFamily="34" charset="0"/>
                <a:ea typeface="Cambria" pitchFamily="34" charset="-122"/>
                <a:cs typeface="Cambria" pitchFamily="34" charset="-120"/>
              </a:rPr>
              <a:t>Debt</a:t>
            </a:r>
            <a:endParaRPr lang="en-US" sz="1350" dirty="0"/>
          </a:p>
        </p:txBody>
      </p:sp>
      <p:sp>
        <p:nvSpPr>
          <p:cNvPr id="13" name="Shape 11"/>
          <p:cNvSpPr/>
          <p:nvPr/>
        </p:nvSpPr>
        <p:spPr>
          <a:xfrm>
            <a:off x="5060290" y="4114800"/>
            <a:ext cx="2072945" cy="868680"/>
          </a:xfrm>
          <a:prstGeom prst="roundRect">
            <a:avLst>
              <a:gd name="adj" fmla="val 8421"/>
            </a:avLst>
          </a:prstGeom>
          <a:solidFill>
            <a:srgbClr val="3A3835"/>
          </a:solidFill>
          <a:ln w="15875">
            <a:solidFill>
              <a:srgbClr val="34503C"/>
            </a:solidFill>
            <a:prstDash val="solid"/>
          </a:ln>
        </p:spPr>
      </p:sp>
      <p:sp>
        <p:nvSpPr>
          <p:cNvPr id="14" name="Shape 12"/>
          <p:cNvSpPr/>
          <p:nvPr/>
        </p:nvSpPr>
        <p:spPr>
          <a:xfrm>
            <a:off x="5279746" y="4347972"/>
            <a:ext cx="402336" cy="402336"/>
          </a:xfrm>
          <a:prstGeom prst="ellipse">
            <a:avLst/>
          </a:prstGeom>
          <a:solidFill>
            <a:srgbClr val="34503C"/>
          </a:solidFill>
          <a:ln w="12700">
            <a:solidFill>
              <a:srgbClr val="34503C"/>
            </a:solidFill>
            <a:prstDash val="solid"/>
          </a:ln>
        </p:spPr>
      </p:sp>
      <p:sp>
        <p:nvSpPr>
          <p:cNvPr id="15" name="Text 13"/>
          <p:cNvSpPr txBox="1"/>
          <p:nvPr/>
        </p:nvSpPr>
        <p:spPr>
          <a:xfrm>
            <a:off x="5279746" y="4347972"/>
            <a:ext cx="402336" cy="402336"/>
          </a:xfrm>
          <a:prstGeom prst="rect">
            <a:avLst/>
          </a:prstGeom>
          <a:noFill/>
          <a:ln/>
        </p:spPr>
        <p:txBody>
          <a:bodyPr wrap="square" lIns="0" tIns="0" rIns="0" bIns="0" rtlCol="0" anchor="ctr"/>
          <a:lstStyle/>
          <a:p>
            <a:pPr algn="ctr" indent="0" marL="0">
              <a:buNone/>
            </a:pPr>
            <a:r>
              <a:rPr lang="en-US" sz="1300" b="1" dirty="0">
                <a:solidFill>
                  <a:srgbClr val="EDE7D8"/>
                </a:solidFill>
                <a:latin typeface="Cambria" pitchFamily="34" charset="0"/>
                <a:ea typeface="Cambria" pitchFamily="34" charset="-122"/>
                <a:cs typeface="Cambria" pitchFamily="34" charset="-120"/>
              </a:rPr>
              <a:t>03</a:t>
            </a:r>
            <a:endParaRPr lang="en-US" sz="1300" dirty="0"/>
          </a:p>
        </p:txBody>
      </p:sp>
      <p:sp>
        <p:nvSpPr>
          <p:cNvPr id="16" name="Text 14"/>
          <p:cNvSpPr txBox="1"/>
          <p:nvPr/>
        </p:nvSpPr>
        <p:spPr>
          <a:xfrm>
            <a:off x="5773522" y="4347972"/>
            <a:ext cx="1204265" cy="402336"/>
          </a:xfrm>
          <a:prstGeom prst="rect">
            <a:avLst/>
          </a:prstGeom>
          <a:noFill/>
          <a:ln/>
        </p:spPr>
        <p:txBody>
          <a:bodyPr wrap="square" lIns="0" tIns="0" rIns="0" bIns="0" rtlCol="0" anchor="ctr"/>
          <a:lstStyle/>
          <a:p>
            <a:pPr indent="0" marL="0">
              <a:buNone/>
            </a:pPr>
            <a:r>
              <a:rPr lang="en-US" sz="1350" b="1" dirty="0">
                <a:solidFill>
                  <a:srgbClr val="EDE7D8"/>
                </a:solidFill>
                <a:latin typeface="Cambria" pitchFamily="34" charset="0"/>
                <a:ea typeface="Cambria" pitchFamily="34" charset="-122"/>
                <a:cs typeface="Cambria" pitchFamily="34" charset="-120"/>
              </a:rPr>
              <a:t>Grants</a:t>
            </a:r>
            <a:endParaRPr lang="en-US" sz="1350" dirty="0"/>
          </a:p>
        </p:txBody>
      </p:sp>
      <p:sp>
        <p:nvSpPr>
          <p:cNvPr id="17" name="Shape 15"/>
          <p:cNvSpPr/>
          <p:nvPr/>
        </p:nvSpPr>
        <p:spPr>
          <a:xfrm>
            <a:off x="7316114" y="4114800"/>
            <a:ext cx="2072945" cy="868680"/>
          </a:xfrm>
          <a:prstGeom prst="roundRect">
            <a:avLst>
              <a:gd name="adj" fmla="val 8421"/>
            </a:avLst>
          </a:prstGeom>
          <a:solidFill>
            <a:srgbClr val="3A3835"/>
          </a:solidFill>
          <a:ln w="15875">
            <a:solidFill>
              <a:srgbClr val="8C3A2B"/>
            </a:solidFill>
            <a:prstDash val="solid"/>
          </a:ln>
        </p:spPr>
      </p:sp>
      <p:sp>
        <p:nvSpPr>
          <p:cNvPr id="18" name="Shape 16"/>
          <p:cNvSpPr/>
          <p:nvPr/>
        </p:nvSpPr>
        <p:spPr>
          <a:xfrm>
            <a:off x="7535570" y="4347972"/>
            <a:ext cx="402336" cy="402336"/>
          </a:xfrm>
          <a:prstGeom prst="ellipse">
            <a:avLst/>
          </a:prstGeom>
          <a:solidFill>
            <a:srgbClr val="8C3A2B"/>
          </a:solidFill>
          <a:ln w="12700">
            <a:solidFill>
              <a:srgbClr val="8C3A2B"/>
            </a:solidFill>
            <a:prstDash val="solid"/>
          </a:ln>
        </p:spPr>
      </p:sp>
      <p:sp>
        <p:nvSpPr>
          <p:cNvPr id="19" name="Text 17"/>
          <p:cNvSpPr txBox="1"/>
          <p:nvPr/>
        </p:nvSpPr>
        <p:spPr>
          <a:xfrm>
            <a:off x="7535570" y="4347972"/>
            <a:ext cx="402336" cy="402336"/>
          </a:xfrm>
          <a:prstGeom prst="rect">
            <a:avLst/>
          </a:prstGeom>
          <a:noFill/>
          <a:ln/>
        </p:spPr>
        <p:txBody>
          <a:bodyPr wrap="square" lIns="0" tIns="0" rIns="0" bIns="0" rtlCol="0" anchor="ctr"/>
          <a:lstStyle/>
          <a:p>
            <a:pPr algn="ctr" indent="0" marL="0">
              <a:buNone/>
            </a:pPr>
            <a:r>
              <a:rPr lang="en-US" sz="1300" b="1" dirty="0">
                <a:solidFill>
                  <a:srgbClr val="EDE7D8"/>
                </a:solidFill>
                <a:latin typeface="Cambria" pitchFamily="34" charset="0"/>
                <a:ea typeface="Cambria" pitchFamily="34" charset="-122"/>
                <a:cs typeface="Cambria" pitchFamily="34" charset="-120"/>
              </a:rPr>
              <a:t>04</a:t>
            </a:r>
            <a:endParaRPr lang="en-US" sz="1300" dirty="0"/>
          </a:p>
        </p:txBody>
      </p:sp>
      <p:sp>
        <p:nvSpPr>
          <p:cNvPr id="20" name="Text 18"/>
          <p:cNvSpPr txBox="1"/>
          <p:nvPr/>
        </p:nvSpPr>
        <p:spPr>
          <a:xfrm>
            <a:off x="8029346" y="4347972"/>
            <a:ext cx="1204265" cy="402336"/>
          </a:xfrm>
          <a:prstGeom prst="rect">
            <a:avLst/>
          </a:prstGeom>
          <a:noFill/>
          <a:ln/>
        </p:spPr>
        <p:txBody>
          <a:bodyPr wrap="square" lIns="0" tIns="0" rIns="0" bIns="0" rtlCol="0" anchor="ctr"/>
          <a:lstStyle/>
          <a:p>
            <a:pPr indent="0" marL="0">
              <a:buNone/>
            </a:pPr>
            <a:r>
              <a:rPr lang="en-US" sz="1350" b="1" dirty="0">
                <a:solidFill>
                  <a:srgbClr val="EDE7D8"/>
                </a:solidFill>
                <a:latin typeface="Cambria" pitchFamily="34" charset="0"/>
                <a:ea typeface="Cambria" pitchFamily="34" charset="-122"/>
                <a:cs typeface="Cambria" pitchFamily="34" charset="-120"/>
              </a:rPr>
              <a:t>Gifts</a:t>
            </a:r>
            <a:endParaRPr lang="en-US" sz="1350" dirty="0"/>
          </a:p>
        </p:txBody>
      </p:sp>
      <p:sp>
        <p:nvSpPr>
          <p:cNvPr id="21" name="Shape 19"/>
          <p:cNvSpPr/>
          <p:nvPr/>
        </p:nvSpPr>
        <p:spPr>
          <a:xfrm>
            <a:off x="9571939" y="4114800"/>
            <a:ext cx="2072945" cy="868680"/>
          </a:xfrm>
          <a:prstGeom prst="roundRect">
            <a:avLst>
              <a:gd name="adj" fmla="val 8421"/>
            </a:avLst>
          </a:prstGeom>
          <a:solidFill>
            <a:srgbClr val="3A3835"/>
          </a:solidFill>
          <a:ln w="15875">
            <a:solidFill>
              <a:srgbClr val="6E6A63"/>
            </a:solidFill>
            <a:prstDash val="solid"/>
          </a:ln>
        </p:spPr>
      </p:sp>
      <p:sp>
        <p:nvSpPr>
          <p:cNvPr id="22" name="Shape 20"/>
          <p:cNvSpPr/>
          <p:nvPr/>
        </p:nvSpPr>
        <p:spPr>
          <a:xfrm>
            <a:off x="9791395" y="4347972"/>
            <a:ext cx="402336" cy="402336"/>
          </a:xfrm>
          <a:prstGeom prst="ellipse">
            <a:avLst/>
          </a:prstGeom>
          <a:solidFill>
            <a:srgbClr val="6E6A63"/>
          </a:solidFill>
          <a:ln w="12700">
            <a:solidFill>
              <a:srgbClr val="6E6A63"/>
            </a:solidFill>
            <a:prstDash val="solid"/>
          </a:ln>
        </p:spPr>
      </p:sp>
      <p:sp>
        <p:nvSpPr>
          <p:cNvPr id="23" name="Text 21"/>
          <p:cNvSpPr txBox="1"/>
          <p:nvPr/>
        </p:nvSpPr>
        <p:spPr>
          <a:xfrm>
            <a:off x="9791395" y="4347972"/>
            <a:ext cx="402336" cy="402336"/>
          </a:xfrm>
          <a:prstGeom prst="rect">
            <a:avLst/>
          </a:prstGeom>
          <a:noFill/>
          <a:ln/>
        </p:spPr>
        <p:txBody>
          <a:bodyPr wrap="square" lIns="0" tIns="0" rIns="0" bIns="0" rtlCol="0" anchor="ctr"/>
          <a:lstStyle/>
          <a:p>
            <a:pPr algn="ctr" indent="0" marL="0">
              <a:buNone/>
            </a:pPr>
            <a:r>
              <a:rPr lang="en-US" sz="1300" b="1" dirty="0">
                <a:solidFill>
                  <a:srgbClr val="EDE7D8"/>
                </a:solidFill>
                <a:latin typeface="Cambria" pitchFamily="34" charset="0"/>
                <a:ea typeface="Cambria" pitchFamily="34" charset="-122"/>
                <a:cs typeface="Cambria" pitchFamily="34" charset="-120"/>
              </a:rPr>
              <a:t>05</a:t>
            </a:r>
            <a:endParaRPr lang="en-US" sz="1300" dirty="0"/>
          </a:p>
        </p:txBody>
      </p:sp>
      <p:sp>
        <p:nvSpPr>
          <p:cNvPr id="24" name="Text 22"/>
          <p:cNvSpPr txBox="1"/>
          <p:nvPr/>
        </p:nvSpPr>
        <p:spPr>
          <a:xfrm>
            <a:off x="10285171" y="4347972"/>
            <a:ext cx="1204265" cy="402336"/>
          </a:xfrm>
          <a:prstGeom prst="rect">
            <a:avLst/>
          </a:prstGeom>
          <a:noFill/>
          <a:ln/>
        </p:spPr>
        <p:txBody>
          <a:bodyPr wrap="square" lIns="0" tIns="0" rIns="0" bIns="0" rtlCol="0" anchor="ctr"/>
          <a:lstStyle/>
          <a:p>
            <a:pPr indent="0" marL="0">
              <a:buNone/>
            </a:pPr>
            <a:r>
              <a:rPr lang="en-US" sz="1350" b="1" dirty="0">
                <a:solidFill>
                  <a:srgbClr val="EDE7D8"/>
                </a:solidFill>
                <a:latin typeface="Cambria" pitchFamily="34" charset="0"/>
                <a:ea typeface="Cambria" pitchFamily="34" charset="-122"/>
                <a:cs typeface="Cambria" pitchFamily="34" charset="-120"/>
              </a:rPr>
              <a:t>Ownership</a:t>
            </a:r>
            <a:endParaRPr lang="en-US" sz="1350" dirty="0"/>
          </a:p>
        </p:txBody>
      </p:sp>
      <p:sp>
        <p:nvSpPr>
          <p:cNvPr id="25" name="Text 23"/>
          <p:cNvSpPr txBox="1"/>
          <p:nvPr/>
        </p:nvSpPr>
        <p:spPr>
          <a:xfrm>
            <a:off x="548640" y="5989320"/>
            <a:ext cx="10515600" cy="365760"/>
          </a:xfrm>
          <a:prstGeom prst="rect">
            <a:avLst/>
          </a:prstGeom>
          <a:noFill/>
          <a:ln/>
        </p:spPr>
        <p:txBody>
          <a:bodyPr wrap="square" lIns="0" tIns="0" rIns="0" bIns="0" rtlCol="0" anchor="ctr"/>
          <a:lstStyle/>
          <a:p>
            <a:pPr indent="0" marL="0">
              <a:buNone/>
            </a:pPr>
            <a:r>
              <a:rPr lang="en-US" sz="1100" dirty="0">
                <a:solidFill>
                  <a:srgbClr val="6E6A63"/>
                </a:solidFill>
                <a:latin typeface="Calibri" pitchFamily="34" charset="0"/>
                <a:ea typeface="Calibri" pitchFamily="34" charset="-122"/>
                <a:cs typeface="Calibri" pitchFamily="34" charset="-120"/>
              </a:rPr>
              <a:t>September 2026   ·   Dollar figures are from Kenyon's closed 2021–2024 books (cash basis); program terms and rates verified September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548640" y="457200"/>
            <a:ext cx="10058400" cy="640080"/>
          </a:xfrm>
          <a:prstGeom prst="rect">
            <a:avLst/>
          </a:prstGeom>
          <a:noFill/>
          <a:ln/>
        </p:spPr>
        <p:txBody>
          <a:bodyPr wrap="square" lIns="0" tIns="0" rIns="0" bIns="0" rtlCol="0" anchor="ctr"/>
          <a:lstStyle/>
          <a:p>
            <a:pPr indent="0" marL="0">
              <a:buNone/>
            </a:pPr>
            <a:r>
              <a:rPr lang="en-US" sz="3800" b="1" dirty="0">
                <a:solidFill>
                  <a:srgbClr val="2B2A28"/>
                </a:solidFill>
                <a:latin typeface="Cambria" pitchFamily="34" charset="0"/>
                <a:ea typeface="Cambria" pitchFamily="34" charset="-122"/>
                <a:cs typeface="Cambria" pitchFamily="34" charset="-120"/>
              </a:rPr>
              <a:t>Five families of capital</a:t>
            </a:r>
            <a:endParaRPr lang="en-US" sz="3800" dirty="0"/>
          </a:p>
        </p:txBody>
      </p:sp>
      <p:sp>
        <p:nvSpPr>
          <p:cNvPr id="3" name="Text 1"/>
          <p:cNvSpPr txBox="1"/>
          <p:nvPr/>
        </p:nvSpPr>
        <p:spPr>
          <a:xfrm>
            <a:off x="548640" y="1078992"/>
            <a:ext cx="10607040" cy="320040"/>
          </a:xfrm>
          <a:prstGeom prst="rect">
            <a:avLst/>
          </a:prstGeom>
          <a:noFill/>
          <a:ln/>
        </p:spPr>
        <p:txBody>
          <a:bodyPr wrap="square" lIns="0" tIns="0" rIns="0" bIns="0" rtlCol="0" anchor="ctr"/>
          <a:lstStyle/>
          <a:p>
            <a:pPr indent="0" marL="0">
              <a:buNone/>
            </a:pPr>
            <a:r>
              <a:rPr lang="en-US" sz="1400" dirty="0">
                <a:solidFill>
                  <a:srgbClr val="4A5359"/>
                </a:solidFill>
                <a:latin typeface="Calibri" pitchFamily="34" charset="0"/>
                <a:ea typeface="Calibri" pitchFamily="34" charset="-122"/>
                <a:cs typeface="Calibri" pitchFamily="34" charset="-120"/>
              </a:rPr>
              <a:t>Every funding option on earth is one of these five. They are not interchangeable — each takes something different from you.</a:t>
            </a:r>
            <a:endParaRPr lang="en-US" sz="1400" dirty="0"/>
          </a:p>
        </p:txBody>
      </p:sp>
      <p:sp>
        <p:nvSpPr>
          <p:cNvPr id="4" name="Shape 2"/>
          <p:cNvSpPr/>
          <p:nvPr/>
        </p:nvSpPr>
        <p:spPr>
          <a:xfrm>
            <a:off x="548640" y="1554480"/>
            <a:ext cx="11094415" cy="3639312"/>
          </a:xfrm>
          <a:prstGeom prst="roundRect">
            <a:avLst>
              <a:gd name="adj" fmla="val 2010"/>
            </a:avLst>
          </a:prstGeom>
          <a:solidFill>
            <a:srgbClr val="EDE7D8"/>
          </a:solidFill>
          <a:ln w="9525">
            <a:solidFill>
              <a:srgbClr val="D9C7A3"/>
            </a:solidFill>
            <a:prstDash val="solid"/>
          </a:ln>
          <a:effectLst>
            <a:outerShdw sx="100000" sy="100000" kx="0" ky="0" algn="bl" rotWithShape="0" blurRad="127000" dist="25400" dir="5400000">
              <a:srgbClr val="9A9488">
                <a:alpha val="28000"/>
              </a:srgbClr>
            </a:outerShdw>
          </a:effectLst>
        </p:spPr>
      </p:sp>
      <p:sp>
        <p:nvSpPr>
          <p:cNvPr id="5" name="Text 3"/>
          <p:cNvSpPr txBox="1"/>
          <p:nvPr/>
        </p:nvSpPr>
        <p:spPr>
          <a:xfrm>
            <a:off x="822960" y="1700784"/>
            <a:ext cx="2651760" cy="256032"/>
          </a:xfrm>
          <a:prstGeom prst="rect">
            <a:avLst/>
          </a:prstGeom>
          <a:noFill/>
          <a:ln/>
        </p:spPr>
        <p:txBody>
          <a:bodyPr wrap="square" lIns="0" tIns="0" rIns="0" bIns="0" rtlCol="0" anchor="ctr"/>
          <a:lstStyle/>
          <a:p>
            <a:pPr indent="0" marL="0">
              <a:buNone/>
            </a:pPr>
            <a:r>
              <a:rPr lang="en-US" sz="950" b="1" spc="160" kern="0" dirty="0">
                <a:solidFill>
                  <a:srgbClr val="8A6115"/>
                </a:solidFill>
                <a:latin typeface="Calibri" pitchFamily="34" charset="0"/>
                <a:ea typeface="Calibri" pitchFamily="34" charset="-122"/>
                <a:cs typeface="Calibri" pitchFamily="34" charset="-120"/>
              </a:rPr>
              <a:t>SOURCE</a:t>
            </a:r>
            <a:endParaRPr lang="en-US" sz="950" dirty="0"/>
          </a:p>
        </p:txBody>
      </p:sp>
      <p:sp>
        <p:nvSpPr>
          <p:cNvPr id="6" name="Text 4"/>
          <p:cNvSpPr txBox="1"/>
          <p:nvPr/>
        </p:nvSpPr>
        <p:spPr>
          <a:xfrm>
            <a:off x="3611880" y="1700784"/>
            <a:ext cx="3200400" cy="256032"/>
          </a:xfrm>
          <a:prstGeom prst="rect">
            <a:avLst/>
          </a:prstGeom>
          <a:noFill/>
          <a:ln/>
        </p:spPr>
        <p:txBody>
          <a:bodyPr wrap="square" lIns="0" tIns="0" rIns="0" bIns="0" rtlCol="0" anchor="ctr"/>
          <a:lstStyle/>
          <a:p>
            <a:pPr indent="0" marL="0">
              <a:buNone/>
            </a:pPr>
            <a:r>
              <a:rPr lang="en-US" sz="950" b="1" spc="160" kern="0" dirty="0">
                <a:solidFill>
                  <a:srgbClr val="8A6115"/>
                </a:solidFill>
                <a:latin typeface="Calibri" pitchFamily="34" charset="0"/>
                <a:ea typeface="Calibri" pitchFamily="34" charset="-122"/>
                <a:cs typeface="Calibri" pitchFamily="34" charset="-120"/>
              </a:rPr>
              <a:t>WHAT IT IS</a:t>
            </a:r>
            <a:endParaRPr lang="en-US" sz="950" dirty="0"/>
          </a:p>
        </p:txBody>
      </p:sp>
      <p:sp>
        <p:nvSpPr>
          <p:cNvPr id="7" name="Text 5"/>
          <p:cNvSpPr txBox="1"/>
          <p:nvPr/>
        </p:nvSpPr>
        <p:spPr>
          <a:xfrm>
            <a:off x="6949440" y="1700784"/>
            <a:ext cx="3200400" cy="256032"/>
          </a:xfrm>
          <a:prstGeom prst="rect">
            <a:avLst/>
          </a:prstGeom>
          <a:noFill/>
          <a:ln/>
        </p:spPr>
        <p:txBody>
          <a:bodyPr wrap="square" lIns="0" tIns="0" rIns="0" bIns="0" rtlCol="0" anchor="ctr"/>
          <a:lstStyle/>
          <a:p>
            <a:pPr indent="0" marL="0">
              <a:buNone/>
            </a:pPr>
            <a:r>
              <a:rPr lang="en-US" sz="950" b="1" spc="160" kern="0" dirty="0">
                <a:solidFill>
                  <a:srgbClr val="8A6115"/>
                </a:solidFill>
                <a:latin typeface="Calibri" pitchFamily="34" charset="0"/>
                <a:ea typeface="Calibri" pitchFamily="34" charset="-122"/>
                <a:cs typeface="Calibri" pitchFamily="34" charset="-120"/>
              </a:rPr>
              <a:t>WHAT YOU GIVE UP</a:t>
            </a:r>
            <a:endParaRPr lang="en-US" sz="950" dirty="0"/>
          </a:p>
        </p:txBody>
      </p:sp>
      <p:sp>
        <p:nvSpPr>
          <p:cNvPr id="8" name="Text 6"/>
          <p:cNvSpPr txBox="1"/>
          <p:nvPr/>
        </p:nvSpPr>
        <p:spPr>
          <a:xfrm>
            <a:off x="10287000" y="1700784"/>
            <a:ext cx="1417320" cy="256032"/>
          </a:xfrm>
          <a:prstGeom prst="rect">
            <a:avLst/>
          </a:prstGeom>
          <a:noFill/>
          <a:ln/>
        </p:spPr>
        <p:txBody>
          <a:bodyPr wrap="square" lIns="0" tIns="0" rIns="0" bIns="0" rtlCol="0" anchor="ctr"/>
          <a:lstStyle/>
          <a:p>
            <a:pPr indent="0" marL="0">
              <a:buNone/>
            </a:pPr>
            <a:r>
              <a:rPr lang="en-US" sz="950" b="1" spc="160" kern="0" dirty="0">
                <a:solidFill>
                  <a:srgbClr val="8A6115"/>
                </a:solidFill>
                <a:latin typeface="Calibri" pitchFamily="34" charset="0"/>
                <a:ea typeface="Calibri" pitchFamily="34" charset="-122"/>
                <a:cs typeface="Calibri" pitchFamily="34" charset="-120"/>
              </a:rPr>
              <a:t>HOW FAST</a:t>
            </a:r>
            <a:endParaRPr lang="en-US" sz="950" dirty="0"/>
          </a:p>
        </p:txBody>
      </p:sp>
      <p:sp>
        <p:nvSpPr>
          <p:cNvPr id="9" name="Shape 7"/>
          <p:cNvSpPr/>
          <p:nvPr/>
        </p:nvSpPr>
        <p:spPr>
          <a:xfrm>
            <a:off x="822960" y="2157984"/>
            <a:ext cx="365760" cy="365760"/>
          </a:xfrm>
          <a:prstGeom prst="ellipse">
            <a:avLst/>
          </a:prstGeom>
          <a:solidFill>
            <a:srgbClr val="3A5A63"/>
          </a:solidFill>
          <a:ln w="12700">
            <a:solidFill>
              <a:srgbClr val="3A5A63"/>
            </a:solidFill>
            <a:prstDash val="solid"/>
          </a:ln>
        </p:spPr>
      </p:sp>
      <p:sp>
        <p:nvSpPr>
          <p:cNvPr id="10" name="Text 8"/>
          <p:cNvSpPr txBox="1"/>
          <p:nvPr/>
        </p:nvSpPr>
        <p:spPr>
          <a:xfrm>
            <a:off x="822960" y="2157984"/>
            <a:ext cx="365760" cy="365760"/>
          </a:xfrm>
          <a:prstGeom prst="rect">
            <a:avLst/>
          </a:prstGeom>
          <a:noFill/>
          <a:ln/>
        </p:spPr>
        <p:txBody>
          <a:bodyPr wrap="square" lIns="0" tIns="0" rIns="0" bIns="0" rtlCol="0" anchor="ctr"/>
          <a:lstStyle/>
          <a:p>
            <a:pPr algn="ctr" indent="0" marL="0">
              <a:buNone/>
            </a:pPr>
            <a:r>
              <a:rPr lang="en-US" sz="1200" b="1" dirty="0">
                <a:solidFill>
                  <a:srgbClr val="EDE7D8"/>
                </a:solidFill>
                <a:latin typeface="Cambria" pitchFamily="34" charset="0"/>
                <a:ea typeface="Cambria" pitchFamily="34" charset="-122"/>
                <a:cs typeface="Cambria" pitchFamily="34" charset="-120"/>
              </a:rPr>
              <a:t>01</a:t>
            </a:r>
            <a:endParaRPr lang="en-US" sz="1200" dirty="0"/>
          </a:p>
        </p:txBody>
      </p:sp>
      <p:sp>
        <p:nvSpPr>
          <p:cNvPr id="11" name="Text 9"/>
          <p:cNvSpPr txBox="1"/>
          <p:nvPr/>
        </p:nvSpPr>
        <p:spPr>
          <a:xfrm>
            <a:off x="1298448" y="2157984"/>
            <a:ext cx="2176272" cy="365760"/>
          </a:xfrm>
          <a:prstGeom prst="rect">
            <a:avLst/>
          </a:prstGeom>
          <a:noFill/>
          <a:ln/>
        </p:spPr>
        <p:txBody>
          <a:bodyPr wrap="square" lIns="0" tIns="0" rIns="0" bIns="0" rtlCol="0" anchor="ctr"/>
          <a:lstStyle/>
          <a:p>
            <a:pPr indent="0" marL="0">
              <a:buNone/>
            </a:pPr>
            <a:r>
              <a:rPr lang="en-US" sz="1400" b="1" dirty="0">
                <a:solidFill>
                  <a:srgbClr val="3A5A63"/>
                </a:solidFill>
                <a:latin typeface="Cambria" pitchFamily="34" charset="0"/>
                <a:ea typeface="Cambria" pitchFamily="34" charset="-122"/>
                <a:cs typeface="Cambria" pitchFamily="34" charset="-120"/>
              </a:rPr>
              <a:t>Your own cash</a:t>
            </a:r>
            <a:endParaRPr lang="en-US" sz="1400" dirty="0"/>
          </a:p>
        </p:txBody>
      </p:sp>
      <p:sp>
        <p:nvSpPr>
          <p:cNvPr id="12" name="Text 10"/>
          <p:cNvSpPr txBox="1"/>
          <p:nvPr/>
        </p:nvSpPr>
        <p:spPr>
          <a:xfrm>
            <a:off x="3611880" y="2103120"/>
            <a:ext cx="3200400" cy="475488"/>
          </a:xfrm>
          <a:prstGeom prst="rect">
            <a:avLst/>
          </a:prstGeom>
          <a:noFill/>
          <a:ln/>
        </p:spPr>
        <p:txBody>
          <a:bodyPr wrap="square" lIns="0" tIns="0" rIns="0" bIns="0" rtlCol="0" anchor="ctr"/>
          <a:lstStyle/>
          <a:p>
            <a:pPr indent="0" marL="0">
              <a:lnSpc>
                <a:spcPct val="102000"/>
              </a:lnSpc>
              <a:buNone/>
            </a:pPr>
            <a:r>
              <a:rPr lang="en-US" sz="1050" dirty="0">
                <a:solidFill>
                  <a:srgbClr val="2B2A28"/>
                </a:solidFill>
                <a:latin typeface="Calibri" pitchFamily="34" charset="0"/>
                <a:ea typeface="Calibri" pitchFamily="34" charset="-122"/>
                <a:cs typeface="Calibri" pitchFamily="34" charset="-120"/>
              </a:rPr>
              <a:t>Retained profit, plus cash you free up by fixing something that leaks.</a:t>
            </a:r>
            <a:endParaRPr lang="en-US" sz="1050" dirty="0"/>
          </a:p>
        </p:txBody>
      </p:sp>
      <p:sp>
        <p:nvSpPr>
          <p:cNvPr id="13" name="Text 11"/>
          <p:cNvSpPr txBox="1"/>
          <p:nvPr/>
        </p:nvSpPr>
        <p:spPr>
          <a:xfrm>
            <a:off x="6949440" y="2103120"/>
            <a:ext cx="3200400" cy="475488"/>
          </a:xfrm>
          <a:prstGeom prst="rect">
            <a:avLst/>
          </a:prstGeom>
          <a:noFill/>
          <a:ln/>
        </p:spPr>
        <p:txBody>
          <a:bodyPr wrap="square" lIns="0" tIns="0" rIns="0" bIns="0" rtlCol="0" anchor="ctr"/>
          <a:lstStyle/>
          <a:p>
            <a:pPr indent="0" marL="0">
              <a:lnSpc>
                <a:spcPct val="102000"/>
              </a:lnSpc>
              <a:buNone/>
            </a:pPr>
            <a:r>
              <a:rPr lang="en-US" sz="1050" dirty="0">
                <a:solidFill>
                  <a:srgbClr val="2B2A28"/>
                </a:solidFill>
                <a:latin typeface="Calibri" pitchFamily="34" charset="0"/>
                <a:ea typeface="Calibri" pitchFamily="34" charset="-122"/>
                <a:cs typeface="Calibri" pitchFamily="34" charset="-120"/>
              </a:rPr>
              <a:t>The buffer that keeps you solvent through a bad quarter.</a:t>
            </a:r>
            <a:endParaRPr lang="en-US" sz="1050" dirty="0"/>
          </a:p>
        </p:txBody>
      </p:sp>
      <p:sp>
        <p:nvSpPr>
          <p:cNvPr id="14" name="Text 12"/>
          <p:cNvSpPr txBox="1"/>
          <p:nvPr/>
        </p:nvSpPr>
        <p:spPr>
          <a:xfrm>
            <a:off x="10287000" y="2103120"/>
            <a:ext cx="1417320" cy="475488"/>
          </a:xfrm>
          <a:prstGeom prst="rect">
            <a:avLst/>
          </a:prstGeom>
          <a:noFill/>
          <a:ln/>
        </p:spPr>
        <p:txBody>
          <a:bodyPr wrap="square" lIns="0" tIns="0" rIns="0" bIns="0" rtlCol="0" anchor="ctr"/>
          <a:lstStyle/>
          <a:p>
            <a:pPr indent="0" marL="0">
              <a:buNone/>
            </a:pPr>
            <a:r>
              <a:rPr lang="en-US" sz="1050" b="1" dirty="0">
                <a:solidFill>
                  <a:srgbClr val="4A5359"/>
                </a:solidFill>
                <a:latin typeface="Calibri" pitchFamily="34" charset="0"/>
                <a:ea typeface="Calibri" pitchFamily="34" charset="-122"/>
                <a:cs typeface="Calibri" pitchFamily="34" charset="-120"/>
              </a:rPr>
              <a:t>Immediate</a:t>
            </a:r>
            <a:endParaRPr lang="en-US" sz="1050" dirty="0"/>
          </a:p>
        </p:txBody>
      </p:sp>
      <p:sp>
        <p:nvSpPr>
          <p:cNvPr id="15" name="Shape 13"/>
          <p:cNvSpPr/>
          <p:nvPr/>
        </p:nvSpPr>
        <p:spPr>
          <a:xfrm>
            <a:off x="822960" y="2633472"/>
            <a:ext cx="10545775" cy="0"/>
          </a:xfrm>
          <a:prstGeom prst="line">
            <a:avLst/>
          </a:prstGeom>
          <a:noFill/>
          <a:ln w="7620">
            <a:solidFill>
              <a:srgbClr val="D9C7A3"/>
            </a:solidFill>
            <a:prstDash val="solid"/>
          </a:ln>
        </p:spPr>
      </p:sp>
      <p:sp>
        <p:nvSpPr>
          <p:cNvPr id="16" name="Shape 14"/>
          <p:cNvSpPr/>
          <p:nvPr/>
        </p:nvSpPr>
        <p:spPr>
          <a:xfrm>
            <a:off x="822960" y="2761488"/>
            <a:ext cx="365760" cy="365760"/>
          </a:xfrm>
          <a:prstGeom prst="ellipse">
            <a:avLst/>
          </a:prstGeom>
          <a:solidFill>
            <a:srgbClr val="2E4057"/>
          </a:solidFill>
          <a:ln w="12700">
            <a:solidFill>
              <a:srgbClr val="2E4057"/>
            </a:solidFill>
            <a:prstDash val="solid"/>
          </a:ln>
        </p:spPr>
      </p:sp>
      <p:sp>
        <p:nvSpPr>
          <p:cNvPr id="17" name="Text 15"/>
          <p:cNvSpPr txBox="1"/>
          <p:nvPr/>
        </p:nvSpPr>
        <p:spPr>
          <a:xfrm>
            <a:off x="822960" y="2761488"/>
            <a:ext cx="365760" cy="365760"/>
          </a:xfrm>
          <a:prstGeom prst="rect">
            <a:avLst/>
          </a:prstGeom>
          <a:noFill/>
          <a:ln/>
        </p:spPr>
        <p:txBody>
          <a:bodyPr wrap="square" lIns="0" tIns="0" rIns="0" bIns="0" rtlCol="0" anchor="ctr"/>
          <a:lstStyle/>
          <a:p>
            <a:pPr algn="ctr" indent="0" marL="0">
              <a:buNone/>
            </a:pPr>
            <a:r>
              <a:rPr lang="en-US" sz="1200" b="1" dirty="0">
                <a:solidFill>
                  <a:srgbClr val="EDE7D8"/>
                </a:solidFill>
                <a:latin typeface="Cambria" pitchFamily="34" charset="0"/>
                <a:ea typeface="Cambria" pitchFamily="34" charset="-122"/>
                <a:cs typeface="Cambria" pitchFamily="34" charset="-120"/>
              </a:rPr>
              <a:t>02</a:t>
            </a:r>
            <a:endParaRPr lang="en-US" sz="1200" dirty="0"/>
          </a:p>
        </p:txBody>
      </p:sp>
      <p:sp>
        <p:nvSpPr>
          <p:cNvPr id="18" name="Text 16"/>
          <p:cNvSpPr txBox="1"/>
          <p:nvPr/>
        </p:nvSpPr>
        <p:spPr>
          <a:xfrm>
            <a:off x="1298448" y="2761488"/>
            <a:ext cx="2176272" cy="365760"/>
          </a:xfrm>
          <a:prstGeom prst="rect">
            <a:avLst/>
          </a:prstGeom>
          <a:noFill/>
          <a:ln/>
        </p:spPr>
        <p:txBody>
          <a:bodyPr wrap="square" lIns="0" tIns="0" rIns="0" bIns="0" rtlCol="0" anchor="ctr"/>
          <a:lstStyle/>
          <a:p>
            <a:pPr indent="0" marL="0">
              <a:buNone/>
            </a:pPr>
            <a:r>
              <a:rPr lang="en-US" sz="1400" b="1" dirty="0">
                <a:solidFill>
                  <a:srgbClr val="2E4057"/>
                </a:solidFill>
                <a:latin typeface="Cambria" pitchFamily="34" charset="0"/>
                <a:ea typeface="Cambria" pitchFamily="34" charset="-122"/>
                <a:cs typeface="Cambria" pitchFamily="34" charset="-120"/>
              </a:rPr>
              <a:t>Debt</a:t>
            </a:r>
            <a:endParaRPr lang="en-US" sz="1400" dirty="0"/>
          </a:p>
        </p:txBody>
      </p:sp>
      <p:sp>
        <p:nvSpPr>
          <p:cNvPr id="19" name="Text 17"/>
          <p:cNvSpPr txBox="1"/>
          <p:nvPr/>
        </p:nvSpPr>
        <p:spPr>
          <a:xfrm>
            <a:off x="3611880" y="2706624"/>
            <a:ext cx="3200400" cy="475488"/>
          </a:xfrm>
          <a:prstGeom prst="rect">
            <a:avLst/>
          </a:prstGeom>
          <a:noFill/>
          <a:ln/>
        </p:spPr>
        <p:txBody>
          <a:bodyPr wrap="square" lIns="0" tIns="0" rIns="0" bIns="0" rtlCol="0" anchor="ctr"/>
          <a:lstStyle/>
          <a:p>
            <a:pPr indent="0" marL="0">
              <a:lnSpc>
                <a:spcPct val="102000"/>
              </a:lnSpc>
              <a:buNone/>
            </a:pPr>
            <a:r>
              <a:rPr lang="en-US" sz="1050" dirty="0">
                <a:solidFill>
                  <a:srgbClr val="2B2A28"/>
                </a:solidFill>
                <a:latin typeface="Calibri" pitchFamily="34" charset="0"/>
                <a:ea typeface="Calibri" pitchFamily="34" charset="-122"/>
                <a:cs typeface="Calibri" pitchFamily="34" charset="-120"/>
              </a:rPr>
              <a:t>Borrowed money, repaid with interest on a schedule you fix in advance.</a:t>
            </a:r>
            <a:endParaRPr lang="en-US" sz="1050" dirty="0"/>
          </a:p>
        </p:txBody>
      </p:sp>
      <p:sp>
        <p:nvSpPr>
          <p:cNvPr id="20" name="Text 18"/>
          <p:cNvSpPr txBox="1"/>
          <p:nvPr/>
        </p:nvSpPr>
        <p:spPr>
          <a:xfrm>
            <a:off x="6949440" y="2706624"/>
            <a:ext cx="3200400" cy="475488"/>
          </a:xfrm>
          <a:prstGeom prst="rect">
            <a:avLst/>
          </a:prstGeom>
          <a:noFill/>
          <a:ln/>
        </p:spPr>
        <p:txBody>
          <a:bodyPr wrap="square" lIns="0" tIns="0" rIns="0" bIns="0" rtlCol="0" anchor="ctr"/>
          <a:lstStyle/>
          <a:p>
            <a:pPr indent="0" marL="0">
              <a:lnSpc>
                <a:spcPct val="102000"/>
              </a:lnSpc>
              <a:buNone/>
            </a:pPr>
            <a:r>
              <a:rPr lang="en-US" sz="1050" dirty="0">
                <a:solidFill>
                  <a:srgbClr val="2B2A28"/>
                </a:solidFill>
                <a:latin typeface="Calibri" pitchFamily="34" charset="0"/>
                <a:ea typeface="Calibri" pitchFamily="34" charset="-122"/>
                <a:cs typeface="Calibri" pitchFamily="34" charset="-120"/>
              </a:rPr>
              <a:t>A payment due every month, whether the season came or not.</a:t>
            </a:r>
            <a:endParaRPr lang="en-US" sz="1050" dirty="0"/>
          </a:p>
        </p:txBody>
      </p:sp>
      <p:sp>
        <p:nvSpPr>
          <p:cNvPr id="21" name="Text 19"/>
          <p:cNvSpPr txBox="1"/>
          <p:nvPr/>
        </p:nvSpPr>
        <p:spPr>
          <a:xfrm>
            <a:off x="10287000" y="2706624"/>
            <a:ext cx="1417320" cy="475488"/>
          </a:xfrm>
          <a:prstGeom prst="rect">
            <a:avLst/>
          </a:prstGeom>
          <a:noFill/>
          <a:ln/>
        </p:spPr>
        <p:txBody>
          <a:bodyPr wrap="square" lIns="0" tIns="0" rIns="0" bIns="0" rtlCol="0" anchor="ctr"/>
          <a:lstStyle/>
          <a:p>
            <a:pPr indent="0" marL="0">
              <a:buNone/>
            </a:pPr>
            <a:r>
              <a:rPr lang="en-US" sz="1050" b="1" dirty="0">
                <a:solidFill>
                  <a:srgbClr val="4A5359"/>
                </a:solidFill>
                <a:latin typeface="Calibri" pitchFamily="34" charset="0"/>
                <a:ea typeface="Calibri" pitchFamily="34" charset="-122"/>
                <a:cs typeface="Calibri" pitchFamily="34" charset="-120"/>
              </a:rPr>
              <a:t>3 – 10 weeks</a:t>
            </a:r>
            <a:endParaRPr lang="en-US" sz="1050" dirty="0"/>
          </a:p>
        </p:txBody>
      </p:sp>
      <p:sp>
        <p:nvSpPr>
          <p:cNvPr id="22" name="Shape 20"/>
          <p:cNvSpPr/>
          <p:nvPr/>
        </p:nvSpPr>
        <p:spPr>
          <a:xfrm>
            <a:off x="822960" y="3236976"/>
            <a:ext cx="10545775" cy="0"/>
          </a:xfrm>
          <a:prstGeom prst="line">
            <a:avLst/>
          </a:prstGeom>
          <a:noFill/>
          <a:ln w="7620">
            <a:solidFill>
              <a:srgbClr val="D9C7A3"/>
            </a:solidFill>
            <a:prstDash val="solid"/>
          </a:ln>
        </p:spPr>
      </p:sp>
      <p:sp>
        <p:nvSpPr>
          <p:cNvPr id="23" name="Shape 21"/>
          <p:cNvSpPr/>
          <p:nvPr/>
        </p:nvSpPr>
        <p:spPr>
          <a:xfrm>
            <a:off x="822960" y="3364992"/>
            <a:ext cx="365760" cy="365760"/>
          </a:xfrm>
          <a:prstGeom prst="ellipse">
            <a:avLst/>
          </a:prstGeom>
          <a:solidFill>
            <a:srgbClr val="34503C"/>
          </a:solidFill>
          <a:ln w="12700">
            <a:solidFill>
              <a:srgbClr val="34503C"/>
            </a:solidFill>
            <a:prstDash val="solid"/>
          </a:ln>
        </p:spPr>
      </p:sp>
      <p:sp>
        <p:nvSpPr>
          <p:cNvPr id="24" name="Text 22"/>
          <p:cNvSpPr txBox="1"/>
          <p:nvPr/>
        </p:nvSpPr>
        <p:spPr>
          <a:xfrm>
            <a:off x="822960" y="3364992"/>
            <a:ext cx="365760" cy="365760"/>
          </a:xfrm>
          <a:prstGeom prst="rect">
            <a:avLst/>
          </a:prstGeom>
          <a:noFill/>
          <a:ln/>
        </p:spPr>
        <p:txBody>
          <a:bodyPr wrap="square" lIns="0" tIns="0" rIns="0" bIns="0" rtlCol="0" anchor="ctr"/>
          <a:lstStyle/>
          <a:p>
            <a:pPr algn="ctr" indent="0" marL="0">
              <a:buNone/>
            </a:pPr>
            <a:r>
              <a:rPr lang="en-US" sz="1200" b="1" dirty="0">
                <a:solidFill>
                  <a:srgbClr val="EDE7D8"/>
                </a:solidFill>
                <a:latin typeface="Cambria" pitchFamily="34" charset="0"/>
                <a:ea typeface="Cambria" pitchFamily="34" charset="-122"/>
                <a:cs typeface="Cambria" pitchFamily="34" charset="-120"/>
              </a:rPr>
              <a:t>03</a:t>
            </a:r>
            <a:endParaRPr lang="en-US" sz="1200" dirty="0"/>
          </a:p>
        </p:txBody>
      </p:sp>
      <p:sp>
        <p:nvSpPr>
          <p:cNvPr id="25" name="Text 23"/>
          <p:cNvSpPr txBox="1"/>
          <p:nvPr/>
        </p:nvSpPr>
        <p:spPr>
          <a:xfrm>
            <a:off x="1298448" y="3364992"/>
            <a:ext cx="2176272" cy="365760"/>
          </a:xfrm>
          <a:prstGeom prst="rect">
            <a:avLst/>
          </a:prstGeom>
          <a:noFill/>
          <a:ln/>
        </p:spPr>
        <p:txBody>
          <a:bodyPr wrap="square" lIns="0" tIns="0" rIns="0" bIns="0" rtlCol="0" anchor="ctr"/>
          <a:lstStyle/>
          <a:p>
            <a:pPr indent="0" marL="0">
              <a:buNone/>
            </a:pPr>
            <a:r>
              <a:rPr lang="en-US" sz="1400" b="1" dirty="0">
                <a:solidFill>
                  <a:srgbClr val="34503C"/>
                </a:solidFill>
                <a:latin typeface="Cambria" pitchFamily="34" charset="0"/>
                <a:ea typeface="Cambria" pitchFamily="34" charset="-122"/>
                <a:cs typeface="Cambria" pitchFamily="34" charset="-120"/>
              </a:rPr>
              <a:t>Grants</a:t>
            </a:r>
            <a:endParaRPr lang="en-US" sz="1400" dirty="0"/>
          </a:p>
        </p:txBody>
      </p:sp>
      <p:sp>
        <p:nvSpPr>
          <p:cNvPr id="26" name="Text 24"/>
          <p:cNvSpPr txBox="1"/>
          <p:nvPr/>
        </p:nvSpPr>
        <p:spPr>
          <a:xfrm>
            <a:off x="3611880" y="3310128"/>
            <a:ext cx="3200400" cy="475488"/>
          </a:xfrm>
          <a:prstGeom prst="rect">
            <a:avLst/>
          </a:prstGeom>
          <a:noFill/>
          <a:ln/>
        </p:spPr>
        <p:txBody>
          <a:bodyPr wrap="square" lIns="0" tIns="0" rIns="0" bIns="0" rtlCol="0" anchor="ctr"/>
          <a:lstStyle/>
          <a:p>
            <a:pPr indent="0" marL="0">
              <a:lnSpc>
                <a:spcPct val="102000"/>
              </a:lnSpc>
              <a:buNone/>
            </a:pPr>
            <a:r>
              <a:rPr lang="en-US" sz="1050" dirty="0">
                <a:solidFill>
                  <a:srgbClr val="2B2A28"/>
                </a:solidFill>
                <a:latin typeface="Calibri" pitchFamily="34" charset="0"/>
                <a:ea typeface="Calibri" pitchFamily="34" charset="-122"/>
                <a:cs typeface="Calibri" pitchFamily="34" charset="-120"/>
              </a:rPr>
              <a:t>Public and foundation money awarded against a defined project.</a:t>
            </a:r>
            <a:endParaRPr lang="en-US" sz="1050" dirty="0"/>
          </a:p>
        </p:txBody>
      </p:sp>
      <p:sp>
        <p:nvSpPr>
          <p:cNvPr id="27" name="Text 25"/>
          <p:cNvSpPr txBox="1"/>
          <p:nvPr/>
        </p:nvSpPr>
        <p:spPr>
          <a:xfrm>
            <a:off x="6949440" y="3310128"/>
            <a:ext cx="3200400" cy="475488"/>
          </a:xfrm>
          <a:prstGeom prst="rect">
            <a:avLst/>
          </a:prstGeom>
          <a:noFill/>
          <a:ln/>
        </p:spPr>
        <p:txBody>
          <a:bodyPr wrap="square" lIns="0" tIns="0" rIns="0" bIns="0" rtlCol="0" anchor="ctr"/>
          <a:lstStyle/>
          <a:p>
            <a:pPr indent="0" marL="0">
              <a:lnSpc>
                <a:spcPct val="102000"/>
              </a:lnSpc>
              <a:buNone/>
            </a:pPr>
            <a:r>
              <a:rPr lang="en-US" sz="1050" dirty="0">
                <a:solidFill>
                  <a:srgbClr val="2B2A28"/>
                </a:solidFill>
                <a:latin typeface="Calibri" pitchFamily="34" charset="0"/>
                <a:ea typeface="Calibri" pitchFamily="34" charset="-122"/>
                <a:cs typeface="Calibri" pitchFamily="34" charset="-120"/>
              </a:rPr>
              <a:t>Time, paperwork, matching funds, and limits on what you may spend it on.</a:t>
            </a:r>
            <a:endParaRPr lang="en-US" sz="1050" dirty="0"/>
          </a:p>
        </p:txBody>
      </p:sp>
      <p:sp>
        <p:nvSpPr>
          <p:cNvPr id="28" name="Text 26"/>
          <p:cNvSpPr txBox="1"/>
          <p:nvPr/>
        </p:nvSpPr>
        <p:spPr>
          <a:xfrm>
            <a:off x="10287000" y="3310128"/>
            <a:ext cx="1417320" cy="475488"/>
          </a:xfrm>
          <a:prstGeom prst="rect">
            <a:avLst/>
          </a:prstGeom>
          <a:noFill/>
          <a:ln/>
        </p:spPr>
        <p:txBody>
          <a:bodyPr wrap="square" lIns="0" tIns="0" rIns="0" bIns="0" rtlCol="0" anchor="ctr"/>
          <a:lstStyle/>
          <a:p>
            <a:pPr indent="0" marL="0">
              <a:buNone/>
            </a:pPr>
            <a:r>
              <a:rPr lang="en-US" sz="1050" b="1" dirty="0">
                <a:solidFill>
                  <a:srgbClr val="4A5359"/>
                </a:solidFill>
                <a:latin typeface="Calibri" pitchFamily="34" charset="0"/>
                <a:ea typeface="Calibri" pitchFamily="34" charset="-122"/>
                <a:cs typeface="Calibri" pitchFamily="34" charset="-120"/>
              </a:rPr>
              <a:t>2 – 12 months</a:t>
            </a:r>
            <a:endParaRPr lang="en-US" sz="1050" dirty="0"/>
          </a:p>
        </p:txBody>
      </p:sp>
      <p:sp>
        <p:nvSpPr>
          <p:cNvPr id="29" name="Shape 27"/>
          <p:cNvSpPr/>
          <p:nvPr/>
        </p:nvSpPr>
        <p:spPr>
          <a:xfrm>
            <a:off x="822960" y="3840480"/>
            <a:ext cx="10545775" cy="0"/>
          </a:xfrm>
          <a:prstGeom prst="line">
            <a:avLst/>
          </a:prstGeom>
          <a:noFill/>
          <a:ln w="7620">
            <a:solidFill>
              <a:srgbClr val="D9C7A3"/>
            </a:solidFill>
            <a:prstDash val="solid"/>
          </a:ln>
        </p:spPr>
      </p:sp>
      <p:sp>
        <p:nvSpPr>
          <p:cNvPr id="30" name="Shape 28"/>
          <p:cNvSpPr/>
          <p:nvPr/>
        </p:nvSpPr>
        <p:spPr>
          <a:xfrm>
            <a:off x="822960" y="3968496"/>
            <a:ext cx="365760" cy="365760"/>
          </a:xfrm>
          <a:prstGeom prst="ellipse">
            <a:avLst/>
          </a:prstGeom>
          <a:solidFill>
            <a:srgbClr val="8C3A2B"/>
          </a:solidFill>
          <a:ln w="12700">
            <a:solidFill>
              <a:srgbClr val="8C3A2B"/>
            </a:solidFill>
            <a:prstDash val="solid"/>
          </a:ln>
        </p:spPr>
      </p:sp>
      <p:sp>
        <p:nvSpPr>
          <p:cNvPr id="31" name="Text 29"/>
          <p:cNvSpPr txBox="1"/>
          <p:nvPr/>
        </p:nvSpPr>
        <p:spPr>
          <a:xfrm>
            <a:off x="822960" y="3968496"/>
            <a:ext cx="365760" cy="365760"/>
          </a:xfrm>
          <a:prstGeom prst="rect">
            <a:avLst/>
          </a:prstGeom>
          <a:noFill/>
          <a:ln/>
        </p:spPr>
        <p:txBody>
          <a:bodyPr wrap="square" lIns="0" tIns="0" rIns="0" bIns="0" rtlCol="0" anchor="ctr"/>
          <a:lstStyle/>
          <a:p>
            <a:pPr algn="ctr" indent="0" marL="0">
              <a:buNone/>
            </a:pPr>
            <a:r>
              <a:rPr lang="en-US" sz="1200" b="1" dirty="0">
                <a:solidFill>
                  <a:srgbClr val="EDE7D8"/>
                </a:solidFill>
                <a:latin typeface="Cambria" pitchFamily="34" charset="0"/>
                <a:ea typeface="Cambria" pitchFamily="34" charset="-122"/>
                <a:cs typeface="Cambria" pitchFamily="34" charset="-120"/>
              </a:rPr>
              <a:t>04</a:t>
            </a:r>
            <a:endParaRPr lang="en-US" sz="1200" dirty="0"/>
          </a:p>
        </p:txBody>
      </p:sp>
      <p:sp>
        <p:nvSpPr>
          <p:cNvPr id="32" name="Text 30"/>
          <p:cNvSpPr txBox="1"/>
          <p:nvPr/>
        </p:nvSpPr>
        <p:spPr>
          <a:xfrm>
            <a:off x="1298448" y="3968496"/>
            <a:ext cx="2176272" cy="365760"/>
          </a:xfrm>
          <a:prstGeom prst="rect">
            <a:avLst/>
          </a:prstGeom>
          <a:noFill/>
          <a:ln/>
        </p:spPr>
        <p:txBody>
          <a:bodyPr wrap="square" lIns="0" tIns="0" rIns="0" bIns="0" rtlCol="0" anchor="ctr"/>
          <a:lstStyle/>
          <a:p>
            <a:pPr indent="0" marL="0">
              <a:buNone/>
            </a:pPr>
            <a:r>
              <a:rPr lang="en-US" sz="1400" b="1" dirty="0">
                <a:solidFill>
                  <a:srgbClr val="8C3A2B"/>
                </a:solidFill>
                <a:latin typeface="Cambria" pitchFamily="34" charset="0"/>
                <a:ea typeface="Cambria" pitchFamily="34" charset="-122"/>
                <a:cs typeface="Cambria" pitchFamily="34" charset="-120"/>
              </a:rPr>
              <a:t>Gifts</a:t>
            </a:r>
            <a:endParaRPr lang="en-US" sz="1400" dirty="0"/>
          </a:p>
        </p:txBody>
      </p:sp>
      <p:sp>
        <p:nvSpPr>
          <p:cNvPr id="33" name="Text 31"/>
          <p:cNvSpPr txBox="1"/>
          <p:nvPr/>
        </p:nvSpPr>
        <p:spPr>
          <a:xfrm>
            <a:off x="3611880" y="3913632"/>
            <a:ext cx="3200400" cy="475488"/>
          </a:xfrm>
          <a:prstGeom prst="rect">
            <a:avLst/>
          </a:prstGeom>
          <a:noFill/>
          <a:ln/>
        </p:spPr>
        <p:txBody>
          <a:bodyPr wrap="square" lIns="0" tIns="0" rIns="0" bIns="0" rtlCol="0" anchor="ctr"/>
          <a:lstStyle/>
          <a:p>
            <a:pPr indent="0" marL="0">
              <a:lnSpc>
                <a:spcPct val="102000"/>
              </a:lnSpc>
              <a:buNone/>
            </a:pPr>
            <a:r>
              <a:rPr lang="en-US" sz="1050" dirty="0">
                <a:solidFill>
                  <a:srgbClr val="2B2A28"/>
                </a:solidFill>
                <a:latin typeface="Calibri" pitchFamily="34" charset="0"/>
                <a:ea typeface="Calibri" pitchFamily="34" charset="-122"/>
                <a:cs typeface="Calibri" pitchFamily="34" charset="-120"/>
              </a:rPr>
              <a:t>Donations, memberships, sponsorship and crowdfunding — usually via a 501(c)(3).</a:t>
            </a:r>
            <a:endParaRPr lang="en-US" sz="1050" dirty="0"/>
          </a:p>
        </p:txBody>
      </p:sp>
      <p:sp>
        <p:nvSpPr>
          <p:cNvPr id="34" name="Text 32"/>
          <p:cNvSpPr txBox="1"/>
          <p:nvPr/>
        </p:nvSpPr>
        <p:spPr>
          <a:xfrm>
            <a:off x="6949440" y="3913632"/>
            <a:ext cx="3200400" cy="475488"/>
          </a:xfrm>
          <a:prstGeom prst="rect">
            <a:avLst/>
          </a:prstGeom>
          <a:noFill/>
          <a:ln/>
        </p:spPr>
        <p:txBody>
          <a:bodyPr wrap="square" lIns="0" tIns="0" rIns="0" bIns="0" rtlCol="0" anchor="ctr"/>
          <a:lstStyle/>
          <a:p>
            <a:pPr indent="0" marL="0">
              <a:lnSpc>
                <a:spcPct val="102000"/>
              </a:lnSpc>
              <a:buNone/>
            </a:pPr>
            <a:r>
              <a:rPr lang="en-US" sz="1050" dirty="0">
                <a:solidFill>
                  <a:srgbClr val="2B2A28"/>
                </a:solidFill>
                <a:latin typeface="Calibri" pitchFamily="34" charset="0"/>
                <a:ea typeface="Calibri" pitchFamily="34" charset="-122"/>
                <a:cs typeface="Calibri" pitchFamily="34" charset="-120"/>
              </a:rPr>
              <a:t>A charitable purpose to serve, a board to answer to, and the work of asking.</a:t>
            </a:r>
            <a:endParaRPr lang="en-US" sz="1050" dirty="0"/>
          </a:p>
        </p:txBody>
      </p:sp>
      <p:sp>
        <p:nvSpPr>
          <p:cNvPr id="35" name="Text 33"/>
          <p:cNvSpPr txBox="1"/>
          <p:nvPr/>
        </p:nvSpPr>
        <p:spPr>
          <a:xfrm>
            <a:off x="10287000" y="3913632"/>
            <a:ext cx="1417320" cy="475488"/>
          </a:xfrm>
          <a:prstGeom prst="rect">
            <a:avLst/>
          </a:prstGeom>
          <a:noFill/>
          <a:ln/>
        </p:spPr>
        <p:txBody>
          <a:bodyPr wrap="square" lIns="0" tIns="0" rIns="0" bIns="0" rtlCol="0" anchor="ctr"/>
          <a:lstStyle/>
          <a:p>
            <a:pPr indent="0" marL="0">
              <a:buNone/>
            </a:pPr>
            <a:r>
              <a:rPr lang="en-US" sz="1050" b="1" dirty="0">
                <a:solidFill>
                  <a:srgbClr val="4A5359"/>
                </a:solidFill>
                <a:latin typeface="Calibri" pitchFamily="34" charset="0"/>
                <a:ea typeface="Calibri" pitchFamily="34" charset="-122"/>
                <a:cs typeface="Calibri" pitchFamily="34" charset="-120"/>
              </a:rPr>
              <a:t>3 – 18 months</a:t>
            </a:r>
            <a:endParaRPr lang="en-US" sz="1050" dirty="0"/>
          </a:p>
        </p:txBody>
      </p:sp>
      <p:sp>
        <p:nvSpPr>
          <p:cNvPr id="36" name="Shape 34"/>
          <p:cNvSpPr/>
          <p:nvPr/>
        </p:nvSpPr>
        <p:spPr>
          <a:xfrm>
            <a:off x="822960" y="4443984"/>
            <a:ext cx="10545775" cy="0"/>
          </a:xfrm>
          <a:prstGeom prst="line">
            <a:avLst/>
          </a:prstGeom>
          <a:noFill/>
          <a:ln w="7620">
            <a:solidFill>
              <a:srgbClr val="D9C7A3"/>
            </a:solidFill>
            <a:prstDash val="solid"/>
          </a:ln>
        </p:spPr>
      </p:sp>
      <p:sp>
        <p:nvSpPr>
          <p:cNvPr id="37" name="Shape 35"/>
          <p:cNvSpPr/>
          <p:nvPr/>
        </p:nvSpPr>
        <p:spPr>
          <a:xfrm>
            <a:off x="822960" y="4572000"/>
            <a:ext cx="365760" cy="365760"/>
          </a:xfrm>
          <a:prstGeom prst="ellipse">
            <a:avLst/>
          </a:prstGeom>
          <a:solidFill>
            <a:srgbClr val="6E6A63"/>
          </a:solidFill>
          <a:ln w="12700">
            <a:solidFill>
              <a:srgbClr val="6E6A63"/>
            </a:solidFill>
            <a:prstDash val="solid"/>
          </a:ln>
        </p:spPr>
      </p:sp>
      <p:sp>
        <p:nvSpPr>
          <p:cNvPr id="38" name="Text 36"/>
          <p:cNvSpPr txBox="1"/>
          <p:nvPr/>
        </p:nvSpPr>
        <p:spPr>
          <a:xfrm>
            <a:off x="822960" y="4572000"/>
            <a:ext cx="365760" cy="365760"/>
          </a:xfrm>
          <a:prstGeom prst="rect">
            <a:avLst/>
          </a:prstGeom>
          <a:noFill/>
          <a:ln/>
        </p:spPr>
        <p:txBody>
          <a:bodyPr wrap="square" lIns="0" tIns="0" rIns="0" bIns="0" rtlCol="0" anchor="ctr"/>
          <a:lstStyle/>
          <a:p>
            <a:pPr algn="ctr" indent="0" marL="0">
              <a:buNone/>
            </a:pPr>
            <a:r>
              <a:rPr lang="en-US" sz="1200" b="1" dirty="0">
                <a:solidFill>
                  <a:srgbClr val="EDE7D8"/>
                </a:solidFill>
                <a:latin typeface="Cambria" pitchFamily="34" charset="0"/>
                <a:ea typeface="Cambria" pitchFamily="34" charset="-122"/>
                <a:cs typeface="Cambria" pitchFamily="34" charset="-120"/>
              </a:rPr>
              <a:t>05</a:t>
            </a:r>
            <a:endParaRPr lang="en-US" sz="1200" dirty="0"/>
          </a:p>
        </p:txBody>
      </p:sp>
      <p:sp>
        <p:nvSpPr>
          <p:cNvPr id="39" name="Text 37"/>
          <p:cNvSpPr txBox="1"/>
          <p:nvPr/>
        </p:nvSpPr>
        <p:spPr>
          <a:xfrm>
            <a:off x="1298448" y="4572000"/>
            <a:ext cx="2176272" cy="365760"/>
          </a:xfrm>
          <a:prstGeom prst="rect">
            <a:avLst/>
          </a:prstGeom>
          <a:noFill/>
          <a:ln/>
        </p:spPr>
        <p:txBody>
          <a:bodyPr wrap="square" lIns="0" tIns="0" rIns="0" bIns="0" rtlCol="0" anchor="ctr"/>
          <a:lstStyle/>
          <a:p>
            <a:pPr indent="0" marL="0">
              <a:buNone/>
            </a:pPr>
            <a:r>
              <a:rPr lang="en-US" sz="1400" b="1" dirty="0">
                <a:solidFill>
                  <a:srgbClr val="6E6A63"/>
                </a:solidFill>
                <a:latin typeface="Cambria" pitchFamily="34" charset="0"/>
                <a:ea typeface="Cambria" pitchFamily="34" charset="-122"/>
                <a:cs typeface="Cambria" pitchFamily="34" charset="-120"/>
              </a:rPr>
              <a:t>Ownership</a:t>
            </a:r>
            <a:endParaRPr lang="en-US" sz="1400" dirty="0"/>
          </a:p>
        </p:txBody>
      </p:sp>
      <p:sp>
        <p:nvSpPr>
          <p:cNvPr id="40" name="Text 38"/>
          <p:cNvSpPr txBox="1"/>
          <p:nvPr/>
        </p:nvSpPr>
        <p:spPr>
          <a:xfrm>
            <a:off x="3611880" y="4517136"/>
            <a:ext cx="3200400" cy="475488"/>
          </a:xfrm>
          <a:prstGeom prst="rect">
            <a:avLst/>
          </a:prstGeom>
          <a:noFill/>
          <a:ln/>
        </p:spPr>
        <p:txBody>
          <a:bodyPr wrap="square" lIns="0" tIns="0" rIns="0" bIns="0" rtlCol="0" anchor="ctr"/>
          <a:lstStyle/>
          <a:p>
            <a:pPr indent="0" marL="0">
              <a:lnSpc>
                <a:spcPct val="102000"/>
              </a:lnSpc>
              <a:buNone/>
            </a:pPr>
            <a:r>
              <a:rPr lang="en-US" sz="1050" dirty="0">
                <a:solidFill>
                  <a:srgbClr val="2B2A28"/>
                </a:solidFill>
                <a:latin typeface="Calibri" pitchFamily="34" charset="0"/>
                <a:ea typeface="Calibri" pitchFamily="34" charset="-122"/>
                <a:cs typeface="Calibri" pitchFamily="34" charset="-120"/>
              </a:rPr>
              <a:t>Selling a permanent share of the business to an investor or a partner.</a:t>
            </a:r>
            <a:endParaRPr lang="en-US" sz="1050" dirty="0"/>
          </a:p>
        </p:txBody>
      </p:sp>
      <p:sp>
        <p:nvSpPr>
          <p:cNvPr id="41" name="Text 39"/>
          <p:cNvSpPr txBox="1"/>
          <p:nvPr/>
        </p:nvSpPr>
        <p:spPr>
          <a:xfrm>
            <a:off x="6949440" y="4517136"/>
            <a:ext cx="3200400" cy="475488"/>
          </a:xfrm>
          <a:prstGeom prst="rect">
            <a:avLst/>
          </a:prstGeom>
          <a:noFill/>
          <a:ln/>
        </p:spPr>
        <p:txBody>
          <a:bodyPr wrap="square" lIns="0" tIns="0" rIns="0" bIns="0" rtlCol="0" anchor="ctr"/>
          <a:lstStyle/>
          <a:p>
            <a:pPr indent="0" marL="0">
              <a:lnSpc>
                <a:spcPct val="102000"/>
              </a:lnSpc>
              <a:buNone/>
            </a:pPr>
            <a:r>
              <a:rPr lang="en-US" sz="1050" dirty="0">
                <a:solidFill>
                  <a:srgbClr val="2B2A28"/>
                </a:solidFill>
                <a:latin typeface="Calibri" pitchFamily="34" charset="0"/>
                <a:ea typeface="Calibri" pitchFamily="34" charset="-122"/>
                <a:cs typeface="Calibri" pitchFamily="34" charset="-120"/>
              </a:rPr>
              <a:t>A slice of every dollar the business earns from now on, and some control.</a:t>
            </a:r>
            <a:endParaRPr lang="en-US" sz="1050" dirty="0"/>
          </a:p>
        </p:txBody>
      </p:sp>
      <p:sp>
        <p:nvSpPr>
          <p:cNvPr id="42" name="Text 40"/>
          <p:cNvSpPr txBox="1"/>
          <p:nvPr/>
        </p:nvSpPr>
        <p:spPr>
          <a:xfrm>
            <a:off x="10287000" y="4517136"/>
            <a:ext cx="1417320" cy="475488"/>
          </a:xfrm>
          <a:prstGeom prst="rect">
            <a:avLst/>
          </a:prstGeom>
          <a:noFill/>
          <a:ln/>
        </p:spPr>
        <p:txBody>
          <a:bodyPr wrap="square" lIns="0" tIns="0" rIns="0" bIns="0" rtlCol="0" anchor="ctr"/>
          <a:lstStyle/>
          <a:p>
            <a:pPr indent="0" marL="0">
              <a:buNone/>
            </a:pPr>
            <a:r>
              <a:rPr lang="en-US" sz="1050" b="1" dirty="0">
                <a:solidFill>
                  <a:srgbClr val="4A5359"/>
                </a:solidFill>
                <a:latin typeface="Calibri" pitchFamily="34" charset="0"/>
                <a:ea typeface="Calibri" pitchFamily="34" charset="-122"/>
                <a:cs typeface="Calibri" pitchFamily="34" charset="-120"/>
              </a:rPr>
              <a:t>4 – 12 months</a:t>
            </a:r>
            <a:endParaRPr lang="en-US" sz="1050" dirty="0"/>
          </a:p>
        </p:txBody>
      </p:sp>
      <p:sp>
        <p:nvSpPr>
          <p:cNvPr id="43" name="Shape 41"/>
          <p:cNvSpPr/>
          <p:nvPr/>
        </p:nvSpPr>
        <p:spPr>
          <a:xfrm>
            <a:off x="548640" y="5358384"/>
            <a:ext cx="11094415" cy="1005840"/>
          </a:xfrm>
          <a:prstGeom prst="roundRect">
            <a:avLst>
              <a:gd name="adj" fmla="val 5455"/>
            </a:avLst>
          </a:prstGeom>
          <a:solidFill>
            <a:srgbClr val="2B2A28"/>
          </a:solidFill>
          <a:ln w="12700">
            <a:solidFill>
              <a:srgbClr val="2B2A28"/>
            </a:solidFill>
            <a:prstDash val="solid"/>
          </a:ln>
        </p:spPr>
      </p:sp>
      <p:sp>
        <p:nvSpPr>
          <p:cNvPr id="44" name="Text 42"/>
          <p:cNvSpPr txBox="1"/>
          <p:nvPr/>
        </p:nvSpPr>
        <p:spPr>
          <a:xfrm>
            <a:off x="868680" y="5458968"/>
            <a:ext cx="10454335" cy="804672"/>
          </a:xfrm>
          <a:prstGeom prst="rect">
            <a:avLst/>
          </a:prstGeom>
          <a:noFill/>
          <a:ln/>
        </p:spPr>
        <p:txBody>
          <a:bodyPr wrap="square" lIns="0" tIns="0" rIns="0" bIns="0" rtlCol="0" anchor="ctr"/>
          <a:lstStyle/>
          <a:p>
            <a:pPr indent="0" marL="0">
              <a:lnSpc>
                <a:spcPct val="115000"/>
              </a:lnSpc>
              <a:buNone/>
            </a:pPr>
            <a:r>
              <a:rPr lang="en-US" sz="1350" b="1" dirty="0">
                <a:solidFill>
                  <a:srgbClr val="C8922F"/>
                </a:solidFill>
                <a:latin typeface="Calibri" pitchFamily="34" charset="0"/>
                <a:ea typeface="Calibri" pitchFamily="34" charset="-122"/>
                <a:cs typeface="Calibri" pitchFamily="34" charset="-120"/>
              </a:rPr>
              <a:t>Order of operations — spend the cheapest money first.  </a:t>
            </a:r>
            <a:pPr indent="0" marL="0">
              <a:lnSpc>
                <a:spcPct val="115000"/>
              </a:lnSpc>
              <a:buNone/>
            </a:pPr>
            <a:r>
              <a:rPr lang="en-US" sz="1350" dirty="0">
                <a:solidFill>
                  <a:srgbClr val="EDE7D8"/>
                </a:solidFill>
                <a:latin typeface="Calibri" pitchFamily="34" charset="0"/>
                <a:ea typeface="Calibri" pitchFamily="34" charset="-122"/>
                <a:cs typeface="Calibri" pitchFamily="34" charset="-120"/>
              </a:rPr>
              <a:t>Cash you free up  →  customer and supplier terms  →  grants and gifts  →  secured debt  →  ownership. Jumping straight to the end is how a small business gives away a third of itself to fund a $40,000 project.</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548640" y="457200"/>
            <a:ext cx="475488" cy="475488"/>
          </a:xfrm>
          <a:prstGeom prst="ellipse">
            <a:avLst/>
          </a:prstGeom>
          <a:solidFill>
            <a:srgbClr val="3A5A63"/>
          </a:solidFill>
          <a:ln w="12700">
            <a:solidFill>
              <a:srgbClr val="3A5A63"/>
            </a:solidFill>
            <a:prstDash val="solid"/>
          </a:ln>
        </p:spPr>
      </p:sp>
      <p:sp>
        <p:nvSpPr>
          <p:cNvPr id="3" name="Text 1"/>
          <p:cNvSpPr txBox="1"/>
          <p:nvPr/>
        </p:nvSpPr>
        <p:spPr>
          <a:xfrm>
            <a:off x="548640" y="457200"/>
            <a:ext cx="475488" cy="475488"/>
          </a:xfrm>
          <a:prstGeom prst="rect">
            <a:avLst/>
          </a:prstGeom>
          <a:noFill/>
          <a:ln/>
        </p:spPr>
        <p:txBody>
          <a:bodyPr wrap="square" lIns="0" tIns="0" rIns="0" bIns="0" rtlCol="0" anchor="ctr"/>
          <a:lstStyle/>
          <a:p>
            <a:pPr algn="ctr" indent="0" marL="0">
              <a:buNone/>
            </a:pPr>
            <a:r>
              <a:rPr lang="en-US" sz="1500" b="1" dirty="0">
                <a:solidFill>
                  <a:srgbClr val="EDE7D8"/>
                </a:solidFill>
                <a:latin typeface="Cambria" pitchFamily="34" charset="0"/>
                <a:ea typeface="Cambria" pitchFamily="34" charset="-122"/>
                <a:cs typeface="Cambria" pitchFamily="34" charset="-120"/>
              </a:rPr>
              <a:t>01</a:t>
            </a:r>
            <a:endParaRPr lang="en-US" sz="1500" dirty="0"/>
          </a:p>
        </p:txBody>
      </p:sp>
      <p:sp>
        <p:nvSpPr>
          <p:cNvPr id="4" name="Text 2"/>
          <p:cNvSpPr txBox="1"/>
          <p:nvPr/>
        </p:nvSpPr>
        <p:spPr>
          <a:xfrm>
            <a:off x="1170432" y="420624"/>
            <a:ext cx="10241280" cy="548640"/>
          </a:xfrm>
          <a:prstGeom prst="rect">
            <a:avLst/>
          </a:prstGeom>
          <a:noFill/>
          <a:ln/>
        </p:spPr>
        <p:txBody>
          <a:bodyPr wrap="square" lIns="0" tIns="0" rIns="0" bIns="0" rtlCol="0" anchor="ctr"/>
          <a:lstStyle/>
          <a:p>
            <a:pPr indent="0" marL="0">
              <a:buNone/>
            </a:pPr>
            <a:r>
              <a:rPr lang="en-US" sz="3400" b="1" dirty="0">
                <a:solidFill>
                  <a:srgbClr val="2B2A28"/>
                </a:solidFill>
                <a:latin typeface="Cambria" pitchFamily="34" charset="0"/>
                <a:ea typeface="Cambria" pitchFamily="34" charset="-122"/>
                <a:cs typeface="Cambria" pitchFamily="34" charset="-120"/>
              </a:rPr>
              <a:t>Fund it yourself</a:t>
            </a:r>
            <a:endParaRPr lang="en-US" sz="3400" dirty="0"/>
          </a:p>
        </p:txBody>
      </p:sp>
      <p:sp>
        <p:nvSpPr>
          <p:cNvPr id="5" name="Text 3"/>
          <p:cNvSpPr txBox="1"/>
          <p:nvPr/>
        </p:nvSpPr>
        <p:spPr>
          <a:xfrm>
            <a:off x="548640" y="1024128"/>
            <a:ext cx="10881360" cy="292608"/>
          </a:xfrm>
          <a:prstGeom prst="rect">
            <a:avLst/>
          </a:prstGeom>
          <a:noFill/>
          <a:ln/>
        </p:spPr>
        <p:txBody>
          <a:bodyPr wrap="square" lIns="0" tIns="0" rIns="0" bIns="0" rtlCol="0" anchor="ctr"/>
          <a:lstStyle/>
          <a:p>
            <a:pPr indent="0" marL="0">
              <a:buNone/>
            </a:pPr>
            <a:r>
              <a:rPr lang="en-US" sz="1400" dirty="0">
                <a:solidFill>
                  <a:srgbClr val="4A5359"/>
                </a:solidFill>
                <a:latin typeface="Calibri" pitchFamily="34" charset="0"/>
                <a:ea typeface="Calibri" pitchFamily="34" charset="-122"/>
                <a:cs typeface="Calibri" pitchFamily="34" charset="-120"/>
              </a:rPr>
              <a:t>Retained profit — and, more often, cash freed by fixing something that quietly leaks.</a:t>
            </a:r>
            <a:endParaRPr lang="en-US" sz="1400" dirty="0"/>
          </a:p>
        </p:txBody>
      </p:sp>
      <p:sp>
        <p:nvSpPr>
          <p:cNvPr id="6" name="Shape 4"/>
          <p:cNvSpPr/>
          <p:nvPr/>
        </p:nvSpPr>
        <p:spPr>
          <a:xfrm>
            <a:off x="548640" y="1481328"/>
            <a:ext cx="5394960" cy="1920240"/>
          </a:xfrm>
          <a:prstGeom prst="roundRect">
            <a:avLst>
              <a:gd name="adj" fmla="val 3810"/>
            </a:avLst>
          </a:prstGeom>
          <a:solidFill>
            <a:srgbClr val="EDE7D8"/>
          </a:solidFill>
          <a:ln w="9525">
            <a:solidFill>
              <a:srgbClr val="D9C7A3"/>
            </a:solidFill>
            <a:prstDash val="solid"/>
          </a:ln>
          <a:effectLst>
            <a:outerShdw sx="100000" sy="100000" kx="0" ky="0" algn="bl" rotWithShape="0" blurRad="127000" dist="25400" dir="5400000">
              <a:srgbClr val="9A9488">
                <a:alpha val="28000"/>
              </a:srgbClr>
            </a:outerShdw>
          </a:effectLst>
        </p:spPr>
      </p:sp>
      <p:sp>
        <p:nvSpPr>
          <p:cNvPr id="7" name="Text 5"/>
          <p:cNvSpPr txBox="1"/>
          <p:nvPr/>
        </p:nvSpPr>
        <p:spPr>
          <a:xfrm>
            <a:off x="822960" y="1682496"/>
            <a:ext cx="3657600" cy="256032"/>
          </a:xfrm>
          <a:prstGeom prst="rect">
            <a:avLst/>
          </a:prstGeom>
          <a:noFill/>
          <a:ln/>
        </p:spPr>
        <p:txBody>
          <a:bodyPr wrap="square" lIns="0" tIns="0" rIns="0" bIns="0" rtlCol="0" anchor="ctr"/>
          <a:lstStyle/>
          <a:p>
            <a:pPr indent="0" marL="0">
              <a:buNone/>
            </a:pPr>
            <a:r>
              <a:rPr lang="en-US" sz="1200" b="1" spc="160" kern="0" dirty="0">
                <a:solidFill>
                  <a:srgbClr val="34503C"/>
                </a:solidFill>
                <a:latin typeface="Calibri" pitchFamily="34" charset="0"/>
                <a:ea typeface="Calibri" pitchFamily="34" charset="-122"/>
                <a:cs typeface="Calibri" pitchFamily="34" charset="-120"/>
              </a:rPr>
              <a:t>WHERE IT HELPS</a:t>
            </a:r>
            <a:endParaRPr lang="en-US" sz="1200" dirty="0"/>
          </a:p>
        </p:txBody>
      </p:sp>
      <p:sp>
        <p:nvSpPr>
          <p:cNvPr id="8" name="Text 6"/>
          <p:cNvSpPr txBox="1"/>
          <p:nvPr/>
        </p:nvSpPr>
        <p:spPr>
          <a:xfrm>
            <a:off x="822960" y="2048256"/>
            <a:ext cx="4846320" cy="128016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250" dirty="0">
                <a:solidFill>
                  <a:srgbClr val="2B2A28"/>
                </a:solidFill>
                <a:latin typeface="Calibri" pitchFamily="34" charset="0"/>
                <a:ea typeface="Calibri" pitchFamily="34" charset="-122"/>
                <a:cs typeface="Calibri" pitchFamily="34" charset="-120"/>
              </a:rPr>
              <a:t>No interest, no application, nobody's permission</a:t>
            </a:r>
            <a:endParaRPr lang="en-US" sz="1250" dirty="0"/>
          </a:p>
          <a:p>
            <a:pPr marL="177800" indent="-177800">
              <a:lnSpc>
                <a:spcPct val="105000"/>
              </a:lnSpc>
              <a:spcAft>
                <a:spcPts val="600"/>
              </a:spcAft>
              <a:buSzPct val="100000"/>
              <a:buChar char="•"/>
            </a:pPr>
            <a:r>
              <a:rPr lang="en-US" sz="1250" dirty="0">
                <a:solidFill>
                  <a:srgbClr val="2B2A28"/>
                </a:solidFill>
                <a:latin typeface="Calibri" pitchFamily="34" charset="0"/>
                <a:ea typeface="Calibri" pitchFamily="34" charset="-122"/>
                <a:cs typeface="Calibri" pitchFamily="34" charset="-120"/>
              </a:rPr>
              <a:t>Keeps 100% of the ownership and every future dollar</a:t>
            </a:r>
            <a:endParaRPr lang="en-US" sz="1250" dirty="0"/>
          </a:p>
          <a:p>
            <a:pPr marL="177800" indent="-177800">
              <a:lnSpc>
                <a:spcPct val="105000"/>
              </a:lnSpc>
              <a:spcAft>
                <a:spcPts val="600"/>
              </a:spcAft>
              <a:buSzPct val="100000"/>
              <a:buChar char="•"/>
            </a:pPr>
            <a:r>
              <a:rPr lang="en-US" sz="1250" dirty="0">
                <a:solidFill>
                  <a:srgbClr val="2B2A28"/>
                </a:solidFill>
                <a:latin typeface="Calibri" pitchFamily="34" charset="0"/>
                <a:ea typeface="Calibri" pitchFamily="34" charset="-122"/>
                <a:cs typeface="Calibri" pitchFamily="34" charset="-120"/>
              </a:rPr>
              <a:t>Available this month, not next quarter</a:t>
            </a:r>
            <a:endParaRPr lang="en-US" sz="1250" dirty="0"/>
          </a:p>
          <a:p>
            <a:pPr marL="177800" indent="-177800">
              <a:lnSpc>
                <a:spcPct val="105000"/>
              </a:lnSpc>
              <a:spcAft>
                <a:spcPts val="600"/>
              </a:spcAft>
              <a:buSzPct val="100000"/>
              <a:buChar char="•"/>
            </a:pPr>
            <a:r>
              <a:rPr lang="en-US" sz="1250" dirty="0">
                <a:solidFill>
                  <a:srgbClr val="2B2A28"/>
                </a:solidFill>
                <a:latin typeface="Calibri" pitchFamily="34" charset="0"/>
                <a:ea typeface="Calibri" pitchFamily="34" charset="-122"/>
                <a:cs typeface="Calibri" pitchFamily="34" charset="-120"/>
              </a:rPr>
              <a:t>Forces the project to stay small enough to reverse</a:t>
            </a:r>
            <a:endParaRPr lang="en-US" sz="1250" dirty="0"/>
          </a:p>
        </p:txBody>
      </p:sp>
      <p:sp>
        <p:nvSpPr>
          <p:cNvPr id="9" name="Shape 7"/>
          <p:cNvSpPr/>
          <p:nvPr/>
        </p:nvSpPr>
        <p:spPr>
          <a:xfrm>
            <a:off x="6248095" y="1481328"/>
            <a:ext cx="5394960" cy="1920240"/>
          </a:xfrm>
          <a:prstGeom prst="roundRect">
            <a:avLst>
              <a:gd name="adj" fmla="val 3810"/>
            </a:avLst>
          </a:prstGeom>
          <a:solidFill>
            <a:srgbClr val="EDE7D8"/>
          </a:solidFill>
          <a:ln w="9525">
            <a:solidFill>
              <a:srgbClr val="D9C7A3"/>
            </a:solidFill>
            <a:prstDash val="solid"/>
          </a:ln>
          <a:effectLst>
            <a:outerShdw sx="100000" sy="100000" kx="0" ky="0" algn="bl" rotWithShape="0" blurRad="127000" dist="25400" dir="5400000">
              <a:srgbClr val="9A9488">
                <a:alpha val="28000"/>
              </a:srgbClr>
            </a:outerShdw>
          </a:effectLst>
        </p:spPr>
      </p:sp>
      <p:sp>
        <p:nvSpPr>
          <p:cNvPr id="10" name="Text 8"/>
          <p:cNvSpPr txBox="1"/>
          <p:nvPr/>
        </p:nvSpPr>
        <p:spPr>
          <a:xfrm>
            <a:off x="6522415" y="1682496"/>
            <a:ext cx="4114800" cy="256032"/>
          </a:xfrm>
          <a:prstGeom prst="rect">
            <a:avLst/>
          </a:prstGeom>
          <a:noFill/>
          <a:ln/>
        </p:spPr>
        <p:txBody>
          <a:bodyPr wrap="square" lIns="0" tIns="0" rIns="0" bIns="0" rtlCol="0" anchor="ctr"/>
          <a:lstStyle/>
          <a:p>
            <a:pPr indent="0" marL="0">
              <a:buNone/>
            </a:pPr>
            <a:r>
              <a:rPr lang="en-US" sz="1200" b="1" spc="160" kern="0" dirty="0">
                <a:solidFill>
                  <a:srgbClr val="8C3A2B"/>
                </a:solidFill>
                <a:latin typeface="Calibri" pitchFamily="34" charset="0"/>
                <a:ea typeface="Calibri" pitchFamily="34" charset="-122"/>
                <a:cs typeface="Calibri" pitchFamily="34" charset="-120"/>
              </a:rPr>
              <a:t>WHERE IT COSTS YOU</a:t>
            </a:r>
            <a:endParaRPr lang="en-US" sz="1200" dirty="0"/>
          </a:p>
        </p:txBody>
      </p:sp>
      <p:sp>
        <p:nvSpPr>
          <p:cNvPr id="11" name="Text 9"/>
          <p:cNvSpPr txBox="1"/>
          <p:nvPr/>
        </p:nvSpPr>
        <p:spPr>
          <a:xfrm>
            <a:off x="6522415" y="2048256"/>
            <a:ext cx="4846320" cy="128016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250" dirty="0">
                <a:solidFill>
                  <a:srgbClr val="2B2A28"/>
                </a:solidFill>
                <a:latin typeface="Calibri" pitchFamily="34" charset="0"/>
                <a:ea typeface="Calibri" pitchFamily="34" charset="-122"/>
                <a:cs typeface="Calibri" pitchFamily="34" charset="-120"/>
              </a:rPr>
              <a:t>Capped by cash on hand — and with no balance sheet yet, that number is unknown</a:t>
            </a:r>
            <a:endParaRPr lang="en-US" sz="1250" dirty="0"/>
          </a:p>
          <a:p>
            <a:pPr marL="177800" indent="-177800">
              <a:lnSpc>
                <a:spcPct val="105000"/>
              </a:lnSpc>
              <a:spcAft>
                <a:spcPts val="600"/>
              </a:spcAft>
              <a:buSzPct val="100000"/>
              <a:buChar char="•"/>
            </a:pPr>
            <a:r>
              <a:rPr lang="en-US" sz="1250" dirty="0">
                <a:solidFill>
                  <a:srgbClr val="2B2A28"/>
                </a:solidFill>
                <a:latin typeface="Calibri" pitchFamily="34" charset="0"/>
                <a:ea typeface="Calibri" pitchFamily="34" charset="-122"/>
                <a:cs typeface="Calibri" pitchFamily="34" charset="-120"/>
              </a:rPr>
              <a:t>Spending the cushion turns a safety margin into a bet</a:t>
            </a:r>
            <a:endParaRPr lang="en-US" sz="1250" dirty="0"/>
          </a:p>
          <a:p>
            <a:pPr marL="177800" indent="-177800">
              <a:lnSpc>
                <a:spcPct val="105000"/>
              </a:lnSpc>
              <a:spcAft>
                <a:spcPts val="600"/>
              </a:spcAft>
              <a:buSzPct val="100000"/>
              <a:buChar char="•"/>
            </a:pPr>
            <a:r>
              <a:rPr lang="en-US" sz="1250" dirty="0">
                <a:solidFill>
                  <a:srgbClr val="2B2A28"/>
                </a:solidFill>
                <a:latin typeface="Calibri" pitchFamily="34" charset="0"/>
                <a:ea typeface="Calibri" pitchFamily="34" charset="-122"/>
                <a:cs typeface="Calibri" pitchFamily="34" charset="-120"/>
              </a:rPr>
              <a:t>You can only fund what the business earns, so it is slow</a:t>
            </a:r>
            <a:endParaRPr lang="en-US" sz="1250" dirty="0"/>
          </a:p>
          <a:p>
            <a:pPr marL="177800" indent="-177800">
              <a:lnSpc>
                <a:spcPct val="105000"/>
              </a:lnSpc>
              <a:spcAft>
                <a:spcPts val="600"/>
              </a:spcAft>
              <a:buSzPct val="100000"/>
              <a:buChar char="•"/>
            </a:pPr>
            <a:r>
              <a:rPr lang="en-US" sz="1250" dirty="0">
                <a:solidFill>
                  <a:srgbClr val="2B2A28"/>
                </a:solidFill>
                <a:latin typeface="Calibri" pitchFamily="34" charset="0"/>
                <a:ea typeface="Calibri" pitchFamily="34" charset="-122"/>
                <a:cs typeface="Calibri" pitchFamily="34" charset="-120"/>
              </a:rPr>
              <a:t>Nothing is left to absorb a bad season</a:t>
            </a:r>
            <a:endParaRPr lang="en-US" sz="1250" dirty="0"/>
          </a:p>
        </p:txBody>
      </p:sp>
      <p:sp>
        <p:nvSpPr>
          <p:cNvPr id="12" name="Text 10"/>
          <p:cNvSpPr txBox="1"/>
          <p:nvPr/>
        </p:nvSpPr>
        <p:spPr>
          <a:xfrm>
            <a:off x="548640" y="3675888"/>
            <a:ext cx="6400800" cy="256032"/>
          </a:xfrm>
          <a:prstGeom prst="rect">
            <a:avLst/>
          </a:prstGeom>
          <a:noFill/>
          <a:ln/>
        </p:spPr>
        <p:txBody>
          <a:bodyPr wrap="square" lIns="0" tIns="0" rIns="0" bIns="0" rtlCol="0" anchor="ctr"/>
          <a:lstStyle/>
          <a:p>
            <a:pPr indent="0" marL="0">
              <a:buNone/>
            </a:pPr>
            <a:r>
              <a:rPr lang="en-US" sz="1200" b="1" spc="160" kern="0" dirty="0">
                <a:solidFill>
                  <a:srgbClr val="8A6115"/>
                </a:solidFill>
                <a:latin typeface="Calibri" pitchFamily="34" charset="0"/>
                <a:ea typeface="Calibri" pitchFamily="34" charset="-122"/>
                <a:cs typeface="Calibri" pitchFamily="34" charset="-120"/>
              </a:rPr>
              <a:t>WHERE THE MONEY ALREADY IS AT KENYON'S</a:t>
            </a:r>
            <a:endParaRPr lang="en-US" sz="1200" dirty="0"/>
          </a:p>
        </p:txBody>
      </p:sp>
      <p:sp>
        <p:nvSpPr>
          <p:cNvPr id="13" name="Shape 11"/>
          <p:cNvSpPr/>
          <p:nvPr/>
        </p:nvSpPr>
        <p:spPr>
          <a:xfrm>
            <a:off x="548640" y="4023360"/>
            <a:ext cx="3514954" cy="2148840"/>
          </a:xfrm>
          <a:prstGeom prst="roundRect">
            <a:avLst>
              <a:gd name="adj" fmla="val 3404"/>
            </a:avLst>
          </a:prstGeom>
          <a:solidFill>
            <a:srgbClr val="F0E3C4"/>
          </a:solidFill>
          <a:ln w="9525">
            <a:solidFill>
              <a:srgbClr val="D9C7A3"/>
            </a:solidFill>
            <a:prstDash val="solid"/>
          </a:ln>
          <a:effectLst>
            <a:outerShdw sx="100000" sy="100000" kx="0" ky="0" algn="bl" rotWithShape="0" blurRad="127000" dist="25400" dir="5400000">
              <a:srgbClr val="9A9488">
                <a:alpha val="28000"/>
              </a:srgbClr>
            </a:outerShdw>
          </a:effectLst>
        </p:spPr>
      </p:sp>
      <p:sp>
        <p:nvSpPr>
          <p:cNvPr id="14" name="Text 12"/>
          <p:cNvSpPr txBox="1"/>
          <p:nvPr/>
        </p:nvSpPr>
        <p:spPr>
          <a:xfrm>
            <a:off x="822960" y="4297680"/>
            <a:ext cx="2966314" cy="685800"/>
          </a:xfrm>
          <a:prstGeom prst="rect">
            <a:avLst/>
          </a:prstGeom>
          <a:noFill/>
          <a:ln/>
        </p:spPr>
        <p:txBody>
          <a:bodyPr wrap="square" lIns="0" tIns="0" rIns="0" bIns="0" rtlCol="0" anchor="ctr"/>
          <a:lstStyle/>
          <a:p>
            <a:pPr indent="0" marL="0">
              <a:buNone/>
            </a:pPr>
            <a:r>
              <a:rPr lang="en-US" sz="3600" b="1" dirty="0">
                <a:solidFill>
                  <a:srgbClr val="2B2A28"/>
                </a:solidFill>
                <a:latin typeface="Cambria" pitchFamily="34" charset="0"/>
                <a:ea typeface="Cambria" pitchFamily="34" charset="-122"/>
                <a:cs typeface="Cambria" pitchFamily="34" charset="-120"/>
              </a:rPr>
              <a:t>$17,900</a:t>
            </a:r>
            <a:endParaRPr lang="en-US" sz="3600" dirty="0"/>
          </a:p>
        </p:txBody>
      </p:sp>
      <p:sp>
        <p:nvSpPr>
          <p:cNvPr id="15" name="Text 13"/>
          <p:cNvSpPr txBox="1"/>
          <p:nvPr/>
        </p:nvSpPr>
        <p:spPr>
          <a:xfrm>
            <a:off x="822960" y="5084064"/>
            <a:ext cx="2966314" cy="914400"/>
          </a:xfrm>
          <a:prstGeom prst="rect">
            <a:avLst/>
          </a:prstGeom>
          <a:noFill/>
          <a:ln/>
        </p:spPr>
        <p:txBody>
          <a:bodyPr wrap="square" lIns="0" tIns="0" rIns="0" bIns="0" rtlCol="0" anchor="t"/>
          <a:lstStyle/>
          <a:p>
            <a:pPr indent="0" marL="0">
              <a:lnSpc>
                <a:spcPct val="108000"/>
              </a:lnSpc>
              <a:buNone/>
            </a:pPr>
            <a:r>
              <a:rPr lang="en-US" sz="1150" dirty="0">
                <a:solidFill>
                  <a:srgbClr val="2B2A28"/>
                </a:solidFill>
                <a:latin typeface="Calibri" pitchFamily="34" charset="0"/>
                <a:ea typeface="Calibri" pitchFamily="34" charset="-122"/>
                <a:cs typeface="Calibri" pitchFamily="34" charset="-120"/>
              </a:rPr>
              <a:t>of delivery cost absorbed in 2024, against a $33,780 loss. Pricing shipping properly is a funding source, not just a cost cut.</a:t>
            </a:r>
            <a:endParaRPr lang="en-US" sz="1150" dirty="0"/>
          </a:p>
        </p:txBody>
      </p:sp>
      <p:sp>
        <p:nvSpPr>
          <p:cNvPr id="16" name="Shape 14"/>
          <p:cNvSpPr/>
          <p:nvPr/>
        </p:nvSpPr>
        <p:spPr>
          <a:xfrm>
            <a:off x="4337914" y="4023360"/>
            <a:ext cx="3514954" cy="2148840"/>
          </a:xfrm>
          <a:prstGeom prst="roundRect">
            <a:avLst>
              <a:gd name="adj" fmla="val 3404"/>
            </a:avLst>
          </a:prstGeom>
          <a:solidFill>
            <a:srgbClr val="F0E3C4"/>
          </a:solidFill>
          <a:ln w="9525">
            <a:solidFill>
              <a:srgbClr val="D9C7A3"/>
            </a:solidFill>
            <a:prstDash val="solid"/>
          </a:ln>
          <a:effectLst>
            <a:outerShdw sx="100000" sy="100000" kx="0" ky="0" algn="bl" rotWithShape="0" blurRad="127000" dist="25400" dir="5400000">
              <a:srgbClr val="9A9488">
                <a:alpha val="28000"/>
              </a:srgbClr>
            </a:outerShdw>
          </a:effectLst>
        </p:spPr>
      </p:sp>
      <p:sp>
        <p:nvSpPr>
          <p:cNvPr id="17" name="Text 15"/>
          <p:cNvSpPr txBox="1"/>
          <p:nvPr/>
        </p:nvSpPr>
        <p:spPr>
          <a:xfrm>
            <a:off x="4612234" y="4297680"/>
            <a:ext cx="2966314" cy="685800"/>
          </a:xfrm>
          <a:prstGeom prst="rect">
            <a:avLst/>
          </a:prstGeom>
          <a:noFill/>
          <a:ln/>
        </p:spPr>
        <p:txBody>
          <a:bodyPr wrap="square" lIns="0" tIns="0" rIns="0" bIns="0" rtlCol="0" anchor="ctr"/>
          <a:lstStyle/>
          <a:p>
            <a:pPr indent="0" marL="0">
              <a:buNone/>
            </a:pPr>
            <a:r>
              <a:rPr lang="en-US" sz="3600" b="1" dirty="0">
                <a:solidFill>
                  <a:srgbClr val="2B2A28"/>
                </a:solidFill>
                <a:latin typeface="Cambria" pitchFamily="34" charset="0"/>
                <a:ea typeface="Cambria" pitchFamily="34" charset="-122"/>
                <a:cs typeface="Cambria" pitchFamily="34" charset="-120"/>
              </a:rPr>
              <a:t>$12,315</a:t>
            </a:r>
            <a:endParaRPr lang="en-US" sz="3600" dirty="0"/>
          </a:p>
        </p:txBody>
      </p:sp>
      <p:sp>
        <p:nvSpPr>
          <p:cNvPr id="18" name="Text 16"/>
          <p:cNvSpPr txBox="1"/>
          <p:nvPr/>
        </p:nvSpPr>
        <p:spPr>
          <a:xfrm>
            <a:off x="4612234" y="5084064"/>
            <a:ext cx="2966314" cy="914400"/>
          </a:xfrm>
          <a:prstGeom prst="rect">
            <a:avLst/>
          </a:prstGeom>
          <a:noFill/>
          <a:ln/>
        </p:spPr>
        <p:txBody>
          <a:bodyPr wrap="square" lIns="0" tIns="0" rIns="0" bIns="0" rtlCol="0" anchor="t"/>
          <a:lstStyle/>
          <a:p>
            <a:pPr indent="0" marL="0">
              <a:lnSpc>
                <a:spcPct val="108000"/>
              </a:lnSpc>
              <a:buNone/>
            </a:pPr>
            <a:r>
              <a:rPr lang="en-US" sz="1150" dirty="0">
                <a:solidFill>
                  <a:srgbClr val="2B2A28"/>
                </a:solidFill>
                <a:latin typeface="Calibri" pitchFamily="34" charset="0"/>
                <a:ea typeface="Calibri" pitchFamily="34" charset="-122"/>
                <a:cs typeface="Calibri" pitchFamily="34" charset="-120"/>
              </a:rPr>
              <a:t>of insurance in 2024 — 3.8% of revenue, up from 1.1% in 2021. Re-shopping the policy at 10–20% frees $1,200–$2,500 a year.</a:t>
            </a:r>
            <a:endParaRPr lang="en-US" sz="1150" dirty="0"/>
          </a:p>
        </p:txBody>
      </p:sp>
      <p:sp>
        <p:nvSpPr>
          <p:cNvPr id="19" name="Shape 17"/>
          <p:cNvSpPr/>
          <p:nvPr/>
        </p:nvSpPr>
        <p:spPr>
          <a:xfrm>
            <a:off x="8127187" y="4023360"/>
            <a:ext cx="3514954" cy="2148840"/>
          </a:xfrm>
          <a:prstGeom prst="roundRect">
            <a:avLst>
              <a:gd name="adj" fmla="val 3404"/>
            </a:avLst>
          </a:prstGeom>
          <a:solidFill>
            <a:srgbClr val="F0E3C4"/>
          </a:solidFill>
          <a:ln w="9525">
            <a:solidFill>
              <a:srgbClr val="D9C7A3"/>
            </a:solidFill>
            <a:prstDash val="solid"/>
          </a:ln>
          <a:effectLst>
            <a:outerShdw sx="100000" sy="100000" kx="0" ky="0" algn="bl" rotWithShape="0" blurRad="127000" dist="25400" dir="5400000">
              <a:srgbClr val="9A9488">
                <a:alpha val="28000"/>
              </a:srgbClr>
            </a:outerShdw>
          </a:effectLst>
        </p:spPr>
      </p:sp>
      <p:sp>
        <p:nvSpPr>
          <p:cNvPr id="20" name="Text 18"/>
          <p:cNvSpPr txBox="1"/>
          <p:nvPr/>
        </p:nvSpPr>
        <p:spPr>
          <a:xfrm>
            <a:off x="8401507" y="4297680"/>
            <a:ext cx="2966314" cy="685800"/>
          </a:xfrm>
          <a:prstGeom prst="rect">
            <a:avLst/>
          </a:prstGeom>
          <a:noFill/>
          <a:ln/>
        </p:spPr>
        <p:txBody>
          <a:bodyPr wrap="square" lIns="0" tIns="0" rIns="0" bIns="0" rtlCol="0" anchor="ctr"/>
          <a:lstStyle/>
          <a:p>
            <a:pPr indent="0" marL="0">
              <a:buNone/>
            </a:pPr>
            <a:r>
              <a:rPr lang="en-US" sz="3600" b="1" dirty="0">
                <a:solidFill>
                  <a:srgbClr val="2B2A28"/>
                </a:solidFill>
                <a:latin typeface="Cambria" pitchFamily="34" charset="0"/>
                <a:ea typeface="Cambria" pitchFamily="34" charset="-122"/>
                <a:cs typeface="Cambria" pitchFamily="34" charset="-120"/>
              </a:rPr>
              <a:t>$109,987</a:t>
            </a:r>
            <a:endParaRPr lang="en-US" sz="3600" dirty="0"/>
          </a:p>
        </p:txBody>
      </p:sp>
      <p:sp>
        <p:nvSpPr>
          <p:cNvPr id="21" name="Text 19"/>
          <p:cNvSpPr txBox="1"/>
          <p:nvPr/>
        </p:nvSpPr>
        <p:spPr>
          <a:xfrm>
            <a:off x="8401507" y="5084064"/>
            <a:ext cx="2966314" cy="914400"/>
          </a:xfrm>
          <a:prstGeom prst="rect">
            <a:avLst/>
          </a:prstGeom>
          <a:noFill/>
          <a:ln/>
        </p:spPr>
        <p:txBody>
          <a:bodyPr wrap="square" lIns="0" tIns="0" rIns="0" bIns="0" rtlCol="0" anchor="t"/>
          <a:lstStyle/>
          <a:p>
            <a:pPr indent="0" marL="0">
              <a:lnSpc>
                <a:spcPct val="108000"/>
              </a:lnSpc>
              <a:buNone/>
            </a:pPr>
            <a:r>
              <a:rPr lang="en-US" sz="1150" dirty="0">
                <a:solidFill>
                  <a:srgbClr val="2B2A28"/>
                </a:solidFill>
                <a:latin typeface="Calibri" pitchFamily="34" charset="0"/>
                <a:ea typeface="Calibri" pitchFamily="34" charset="-122"/>
                <a:cs typeface="Calibri" pitchFamily="34" charset="-120"/>
              </a:rPr>
              <a:t>of soap purchases, 63.6% of all COGS. Trimming that inventory position by 15% releases roughly $16,500 of working capital.</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548640" y="457200"/>
            <a:ext cx="475488" cy="475488"/>
          </a:xfrm>
          <a:prstGeom prst="ellipse">
            <a:avLst/>
          </a:prstGeom>
          <a:solidFill>
            <a:srgbClr val="2E4057"/>
          </a:solidFill>
          <a:ln w="12700">
            <a:solidFill>
              <a:srgbClr val="2E4057"/>
            </a:solidFill>
            <a:prstDash val="solid"/>
          </a:ln>
        </p:spPr>
      </p:sp>
      <p:sp>
        <p:nvSpPr>
          <p:cNvPr id="3" name="Text 1"/>
          <p:cNvSpPr txBox="1"/>
          <p:nvPr/>
        </p:nvSpPr>
        <p:spPr>
          <a:xfrm>
            <a:off x="548640" y="457200"/>
            <a:ext cx="475488" cy="475488"/>
          </a:xfrm>
          <a:prstGeom prst="rect">
            <a:avLst/>
          </a:prstGeom>
          <a:noFill/>
          <a:ln/>
        </p:spPr>
        <p:txBody>
          <a:bodyPr wrap="square" lIns="0" tIns="0" rIns="0" bIns="0" rtlCol="0" anchor="ctr"/>
          <a:lstStyle/>
          <a:p>
            <a:pPr algn="ctr" indent="0" marL="0">
              <a:buNone/>
            </a:pPr>
            <a:r>
              <a:rPr lang="en-US" sz="1500" b="1" dirty="0">
                <a:solidFill>
                  <a:srgbClr val="EDE7D8"/>
                </a:solidFill>
                <a:latin typeface="Cambria" pitchFamily="34" charset="0"/>
                <a:ea typeface="Cambria" pitchFamily="34" charset="-122"/>
                <a:cs typeface="Cambria" pitchFamily="34" charset="-120"/>
              </a:rPr>
              <a:t>02</a:t>
            </a:r>
            <a:endParaRPr lang="en-US" sz="1500" dirty="0"/>
          </a:p>
        </p:txBody>
      </p:sp>
      <p:sp>
        <p:nvSpPr>
          <p:cNvPr id="4" name="Text 2"/>
          <p:cNvSpPr txBox="1"/>
          <p:nvPr/>
        </p:nvSpPr>
        <p:spPr>
          <a:xfrm>
            <a:off x="1170432" y="420624"/>
            <a:ext cx="10241280" cy="548640"/>
          </a:xfrm>
          <a:prstGeom prst="rect">
            <a:avLst/>
          </a:prstGeom>
          <a:noFill/>
          <a:ln/>
        </p:spPr>
        <p:txBody>
          <a:bodyPr wrap="square" lIns="0" tIns="0" rIns="0" bIns="0" rtlCol="0" anchor="ctr"/>
          <a:lstStyle/>
          <a:p>
            <a:pPr indent="0" marL="0">
              <a:buNone/>
            </a:pPr>
            <a:r>
              <a:rPr lang="en-US" sz="3400" b="1" dirty="0">
                <a:solidFill>
                  <a:srgbClr val="2B2A28"/>
                </a:solidFill>
                <a:latin typeface="Cambria" pitchFamily="34" charset="0"/>
                <a:ea typeface="Cambria" pitchFamily="34" charset="-122"/>
                <a:cs typeface="Cambria" pitchFamily="34" charset="-120"/>
              </a:rPr>
              <a:t>Borrow it</a:t>
            </a:r>
            <a:endParaRPr lang="en-US" sz="3400" dirty="0"/>
          </a:p>
        </p:txBody>
      </p:sp>
      <p:sp>
        <p:nvSpPr>
          <p:cNvPr id="5" name="Text 3"/>
          <p:cNvSpPr txBox="1"/>
          <p:nvPr/>
        </p:nvSpPr>
        <p:spPr>
          <a:xfrm>
            <a:off x="548640" y="1024128"/>
            <a:ext cx="10881360" cy="292608"/>
          </a:xfrm>
          <a:prstGeom prst="rect">
            <a:avLst/>
          </a:prstGeom>
          <a:noFill/>
          <a:ln/>
        </p:spPr>
        <p:txBody>
          <a:bodyPr wrap="square" lIns="0" tIns="0" rIns="0" bIns="0" rtlCol="0" anchor="ctr"/>
          <a:lstStyle/>
          <a:p>
            <a:pPr indent="0" marL="0">
              <a:buNone/>
            </a:pPr>
            <a:r>
              <a:rPr lang="en-US" sz="1400" dirty="0">
                <a:solidFill>
                  <a:srgbClr val="4A5359"/>
                </a:solidFill>
                <a:latin typeface="Calibri" pitchFamily="34" charset="0"/>
                <a:ea typeface="Calibri" pitchFamily="34" charset="-122"/>
                <a:cs typeface="Calibri" pitchFamily="34" charset="-120"/>
              </a:rPr>
              <a:t>Someone else's money, on a schedule you agree to before you know how the year goes.</a:t>
            </a:r>
            <a:endParaRPr lang="en-US" sz="1400" dirty="0"/>
          </a:p>
        </p:txBody>
      </p:sp>
      <p:sp>
        <p:nvSpPr>
          <p:cNvPr id="6" name="Shape 4"/>
          <p:cNvSpPr/>
          <p:nvPr/>
        </p:nvSpPr>
        <p:spPr>
          <a:xfrm>
            <a:off x="548640" y="1481328"/>
            <a:ext cx="5989320" cy="3291840"/>
          </a:xfrm>
          <a:prstGeom prst="roundRect">
            <a:avLst>
              <a:gd name="adj" fmla="val 2222"/>
            </a:avLst>
          </a:prstGeom>
          <a:solidFill>
            <a:srgbClr val="EDE7D8"/>
          </a:solidFill>
          <a:ln w="9525">
            <a:solidFill>
              <a:srgbClr val="D9C7A3"/>
            </a:solidFill>
            <a:prstDash val="solid"/>
          </a:ln>
          <a:effectLst>
            <a:outerShdw sx="100000" sy="100000" kx="0" ky="0" algn="bl" rotWithShape="0" blurRad="127000" dist="25400" dir="5400000">
              <a:srgbClr val="9A9488">
                <a:alpha val="28000"/>
              </a:srgbClr>
            </a:outerShdw>
          </a:effectLst>
        </p:spPr>
      </p:sp>
      <p:sp>
        <p:nvSpPr>
          <p:cNvPr id="7" name="Text 5"/>
          <p:cNvSpPr txBox="1"/>
          <p:nvPr/>
        </p:nvSpPr>
        <p:spPr>
          <a:xfrm>
            <a:off x="822960" y="1682496"/>
            <a:ext cx="5486400" cy="256032"/>
          </a:xfrm>
          <a:prstGeom prst="rect">
            <a:avLst/>
          </a:prstGeom>
          <a:noFill/>
          <a:ln/>
        </p:spPr>
        <p:txBody>
          <a:bodyPr wrap="square" lIns="0" tIns="0" rIns="0" bIns="0" rtlCol="0" anchor="ctr"/>
          <a:lstStyle/>
          <a:p>
            <a:pPr indent="0" marL="0">
              <a:buNone/>
            </a:pPr>
            <a:r>
              <a:rPr lang="en-US" sz="1100" b="1" spc="160" kern="0" dirty="0">
                <a:solidFill>
                  <a:srgbClr val="8A6115"/>
                </a:solidFill>
                <a:latin typeface="Calibri" pitchFamily="34" charset="0"/>
                <a:ea typeface="Calibri" pitchFamily="34" charset="-122"/>
                <a:cs typeface="Calibri" pitchFamily="34" charset="-120"/>
              </a:rPr>
              <a:t>WHAT'S ON THE MENU   ·   RATES AS OF SEPT 2026</a:t>
            </a:r>
            <a:endParaRPr lang="en-US" sz="1100" dirty="0"/>
          </a:p>
        </p:txBody>
      </p:sp>
      <p:sp>
        <p:nvSpPr>
          <p:cNvPr id="8" name="Shape 6"/>
          <p:cNvSpPr/>
          <p:nvPr/>
        </p:nvSpPr>
        <p:spPr>
          <a:xfrm>
            <a:off x="841248" y="2194560"/>
            <a:ext cx="91440" cy="91440"/>
          </a:xfrm>
          <a:prstGeom prst="ellipse">
            <a:avLst/>
          </a:prstGeom>
          <a:solidFill>
            <a:srgbClr val="C8922F"/>
          </a:solidFill>
          <a:ln w="12700">
            <a:solidFill>
              <a:srgbClr val="C8922F"/>
            </a:solidFill>
            <a:prstDash val="solid"/>
          </a:ln>
        </p:spPr>
      </p:sp>
      <p:sp>
        <p:nvSpPr>
          <p:cNvPr id="9" name="Text 7"/>
          <p:cNvSpPr txBox="1"/>
          <p:nvPr/>
        </p:nvSpPr>
        <p:spPr>
          <a:xfrm>
            <a:off x="1060704" y="2084832"/>
            <a:ext cx="3200400" cy="310896"/>
          </a:xfrm>
          <a:prstGeom prst="rect">
            <a:avLst/>
          </a:prstGeom>
          <a:noFill/>
          <a:ln/>
        </p:spPr>
        <p:txBody>
          <a:bodyPr wrap="square" lIns="0" tIns="0" rIns="0" bIns="0" rtlCol="0" anchor="ctr"/>
          <a:lstStyle/>
          <a:p>
            <a:pPr indent="0" marL="0">
              <a:buNone/>
            </a:pPr>
            <a:r>
              <a:rPr lang="en-US" sz="1200" b="1" dirty="0">
                <a:solidFill>
                  <a:srgbClr val="2B2A28"/>
                </a:solidFill>
                <a:latin typeface="Calibri" pitchFamily="34" charset="0"/>
                <a:ea typeface="Calibri" pitchFamily="34" charset="-122"/>
                <a:cs typeface="Calibri" pitchFamily="34" charset="-120"/>
              </a:rPr>
              <a:t>SBA 7(a) term loan</a:t>
            </a:r>
            <a:endParaRPr lang="en-US" sz="1200" dirty="0"/>
          </a:p>
        </p:txBody>
      </p:sp>
      <p:sp>
        <p:nvSpPr>
          <p:cNvPr id="10" name="Text 8"/>
          <p:cNvSpPr txBox="1"/>
          <p:nvPr/>
        </p:nvSpPr>
        <p:spPr>
          <a:xfrm>
            <a:off x="4261104" y="2084832"/>
            <a:ext cx="2011680" cy="310896"/>
          </a:xfrm>
          <a:prstGeom prst="rect">
            <a:avLst/>
          </a:prstGeom>
          <a:noFill/>
          <a:ln/>
        </p:spPr>
        <p:txBody>
          <a:bodyPr wrap="square" lIns="0" tIns="0" rIns="0" bIns="0" rtlCol="0" anchor="ctr"/>
          <a:lstStyle/>
          <a:p>
            <a:pPr algn="r" indent="0" marL="0">
              <a:buNone/>
            </a:pPr>
            <a:r>
              <a:rPr lang="en-US" sz="1100" dirty="0">
                <a:solidFill>
                  <a:srgbClr val="4A5359"/>
                </a:solidFill>
                <a:latin typeface="Calibri" pitchFamily="34" charset="0"/>
                <a:ea typeface="Calibri" pitchFamily="34" charset="-122"/>
                <a:cs typeface="Calibri" pitchFamily="34" charset="-120"/>
              </a:rPr>
              <a:t>9.75% – 13.25% variable, by size</a:t>
            </a:r>
            <a:endParaRPr lang="en-US" sz="1100" dirty="0"/>
          </a:p>
        </p:txBody>
      </p:sp>
      <p:sp>
        <p:nvSpPr>
          <p:cNvPr id="11" name="Shape 9"/>
          <p:cNvSpPr/>
          <p:nvPr/>
        </p:nvSpPr>
        <p:spPr>
          <a:xfrm>
            <a:off x="841248" y="2633472"/>
            <a:ext cx="91440" cy="91440"/>
          </a:xfrm>
          <a:prstGeom prst="ellipse">
            <a:avLst/>
          </a:prstGeom>
          <a:solidFill>
            <a:srgbClr val="C8922F"/>
          </a:solidFill>
          <a:ln w="12700">
            <a:solidFill>
              <a:srgbClr val="C8922F"/>
            </a:solidFill>
            <a:prstDash val="solid"/>
          </a:ln>
        </p:spPr>
      </p:sp>
      <p:sp>
        <p:nvSpPr>
          <p:cNvPr id="12" name="Text 10"/>
          <p:cNvSpPr txBox="1"/>
          <p:nvPr/>
        </p:nvSpPr>
        <p:spPr>
          <a:xfrm>
            <a:off x="1060704" y="2523744"/>
            <a:ext cx="3200400" cy="310896"/>
          </a:xfrm>
          <a:prstGeom prst="rect">
            <a:avLst/>
          </a:prstGeom>
          <a:noFill/>
          <a:ln/>
        </p:spPr>
        <p:txBody>
          <a:bodyPr wrap="square" lIns="0" tIns="0" rIns="0" bIns="0" rtlCol="0" anchor="ctr"/>
          <a:lstStyle/>
          <a:p>
            <a:pPr indent="0" marL="0">
              <a:buNone/>
            </a:pPr>
            <a:r>
              <a:rPr lang="en-US" sz="1200" b="1" dirty="0">
                <a:solidFill>
                  <a:srgbClr val="2B2A28"/>
                </a:solidFill>
                <a:latin typeface="Calibri" pitchFamily="34" charset="0"/>
                <a:ea typeface="Calibri" pitchFamily="34" charset="-122"/>
                <a:cs typeface="Calibri" pitchFamily="34" charset="-120"/>
              </a:rPr>
              <a:t>SBA 504 — property &amp; heavy equipment</a:t>
            </a:r>
            <a:endParaRPr lang="en-US" sz="1200" dirty="0"/>
          </a:p>
        </p:txBody>
      </p:sp>
      <p:sp>
        <p:nvSpPr>
          <p:cNvPr id="13" name="Text 11"/>
          <p:cNvSpPr txBox="1"/>
          <p:nvPr/>
        </p:nvSpPr>
        <p:spPr>
          <a:xfrm>
            <a:off x="4261104" y="2523744"/>
            <a:ext cx="2011680" cy="310896"/>
          </a:xfrm>
          <a:prstGeom prst="rect">
            <a:avLst/>
          </a:prstGeom>
          <a:noFill/>
          <a:ln/>
        </p:spPr>
        <p:txBody>
          <a:bodyPr wrap="square" lIns="0" tIns="0" rIns="0" bIns="0" rtlCol="0" anchor="ctr"/>
          <a:lstStyle/>
          <a:p>
            <a:pPr algn="r" indent="0" marL="0">
              <a:buNone/>
            </a:pPr>
            <a:r>
              <a:rPr lang="en-US" sz="1100" dirty="0">
                <a:solidFill>
                  <a:srgbClr val="4A5359"/>
                </a:solidFill>
                <a:latin typeface="Calibri" pitchFamily="34" charset="0"/>
                <a:ea typeface="Calibri" pitchFamily="34" charset="-122"/>
                <a:cs typeface="Calibri" pitchFamily="34" charset="-120"/>
              </a:rPr>
              <a:t>roughly 5% – 7% fixed</a:t>
            </a:r>
            <a:endParaRPr lang="en-US" sz="1100" dirty="0"/>
          </a:p>
        </p:txBody>
      </p:sp>
      <p:sp>
        <p:nvSpPr>
          <p:cNvPr id="14" name="Shape 12"/>
          <p:cNvSpPr/>
          <p:nvPr/>
        </p:nvSpPr>
        <p:spPr>
          <a:xfrm>
            <a:off x="841248" y="3072384"/>
            <a:ext cx="91440" cy="91440"/>
          </a:xfrm>
          <a:prstGeom prst="ellipse">
            <a:avLst/>
          </a:prstGeom>
          <a:solidFill>
            <a:srgbClr val="C8922F"/>
          </a:solidFill>
          <a:ln w="12700">
            <a:solidFill>
              <a:srgbClr val="C8922F"/>
            </a:solidFill>
            <a:prstDash val="solid"/>
          </a:ln>
        </p:spPr>
      </p:sp>
      <p:sp>
        <p:nvSpPr>
          <p:cNvPr id="15" name="Text 13"/>
          <p:cNvSpPr txBox="1"/>
          <p:nvPr/>
        </p:nvSpPr>
        <p:spPr>
          <a:xfrm>
            <a:off x="1060704" y="2962656"/>
            <a:ext cx="3200400" cy="310896"/>
          </a:xfrm>
          <a:prstGeom prst="rect">
            <a:avLst/>
          </a:prstGeom>
          <a:noFill/>
          <a:ln/>
        </p:spPr>
        <p:txBody>
          <a:bodyPr wrap="square" lIns="0" tIns="0" rIns="0" bIns="0" rtlCol="0" anchor="ctr"/>
          <a:lstStyle/>
          <a:p>
            <a:pPr indent="0" marL="0">
              <a:buNone/>
            </a:pPr>
            <a:r>
              <a:rPr lang="en-US" sz="1200" b="1" dirty="0">
                <a:solidFill>
                  <a:srgbClr val="2B2A28"/>
                </a:solidFill>
                <a:latin typeface="Calibri" pitchFamily="34" charset="0"/>
                <a:ea typeface="Calibri" pitchFamily="34" charset="-122"/>
                <a:cs typeface="Calibri" pitchFamily="34" charset="-120"/>
              </a:rPr>
              <a:t>SBA microloan (under $50k)</a:t>
            </a:r>
            <a:endParaRPr lang="en-US" sz="1200" dirty="0"/>
          </a:p>
        </p:txBody>
      </p:sp>
      <p:sp>
        <p:nvSpPr>
          <p:cNvPr id="16" name="Text 14"/>
          <p:cNvSpPr txBox="1"/>
          <p:nvPr/>
        </p:nvSpPr>
        <p:spPr>
          <a:xfrm>
            <a:off x="4261104" y="2962656"/>
            <a:ext cx="2011680" cy="310896"/>
          </a:xfrm>
          <a:prstGeom prst="rect">
            <a:avLst/>
          </a:prstGeom>
          <a:noFill/>
          <a:ln/>
        </p:spPr>
        <p:txBody>
          <a:bodyPr wrap="square" lIns="0" tIns="0" rIns="0" bIns="0" rtlCol="0" anchor="ctr"/>
          <a:lstStyle/>
          <a:p>
            <a:pPr algn="r" indent="0" marL="0">
              <a:buNone/>
            </a:pPr>
            <a:r>
              <a:rPr lang="en-US" sz="1100" dirty="0">
                <a:solidFill>
                  <a:srgbClr val="4A5359"/>
                </a:solidFill>
                <a:latin typeface="Calibri" pitchFamily="34" charset="0"/>
                <a:ea typeface="Calibri" pitchFamily="34" charset="-122"/>
                <a:cs typeface="Calibri" pitchFamily="34" charset="-120"/>
              </a:rPr>
              <a:t>8% – 13%</a:t>
            </a:r>
            <a:endParaRPr lang="en-US" sz="1100" dirty="0"/>
          </a:p>
        </p:txBody>
      </p:sp>
      <p:sp>
        <p:nvSpPr>
          <p:cNvPr id="17" name="Shape 15"/>
          <p:cNvSpPr/>
          <p:nvPr/>
        </p:nvSpPr>
        <p:spPr>
          <a:xfrm>
            <a:off x="841248" y="3511296"/>
            <a:ext cx="91440" cy="91440"/>
          </a:xfrm>
          <a:prstGeom prst="ellipse">
            <a:avLst/>
          </a:prstGeom>
          <a:solidFill>
            <a:srgbClr val="C8922F"/>
          </a:solidFill>
          <a:ln w="12700">
            <a:solidFill>
              <a:srgbClr val="C8922F"/>
            </a:solidFill>
            <a:prstDash val="solid"/>
          </a:ln>
        </p:spPr>
      </p:sp>
      <p:sp>
        <p:nvSpPr>
          <p:cNvPr id="18" name="Text 16"/>
          <p:cNvSpPr txBox="1"/>
          <p:nvPr/>
        </p:nvSpPr>
        <p:spPr>
          <a:xfrm>
            <a:off x="1060704" y="3401568"/>
            <a:ext cx="3200400" cy="310896"/>
          </a:xfrm>
          <a:prstGeom prst="rect">
            <a:avLst/>
          </a:prstGeom>
          <a:noFill/>
          <a:ln/>
        </p:spPr>
        <p:txBody>
          <a:bodyPr wrap="square" lIns="0" tIns="0" rIns="0" bIns="0" rtlCol="0" anchor="ctr"/>
          <a:lstStyle/>
          <a:p>
            <a:pPr indent="0" marL="0">
              <a:buNone/>
            </a:pPr>
            <a:r>
              <a:rPr lang="en-US" sz="1200" b="1" dirty="0">
                <a:solidFill>
                  <a:srgbClr val="2B2A28"/>
                </a:solidFill>
                <a:latin typeface="Calibri" pitchFamily="34" charset="0"/>
                <a:ea typeface="Calibri" pitchFamily="34" charset="-122"/>
                <a:cs typeface="Calibri" pitchFamily="34" charset="-120"/>
              </a:rPr>
              <a:t>Bank line of credit</a:t>
            </a:r>
            <a:endParaRPr lang="en-US" sz="1200" dirty="0"/>
          </a:p>
        </p:txBody>
      </p:sp>
      <p:sp>
        <p:nvSpPr>
          <p:cNvPr id="19" name="Text 17"/>
          <p:cNvSpPr txBox="1"/>
          <p:nvPr/>
        </p:nvSpPr>
        <p:spPr>
          <a:xfrm>
            <a:off x="4261104" y="3401568"/>
            <a:ext cx="2011680" cy="310896"/>
          </a:xfrm>
          <a:prstGeom prst="rect">
            <a:avLst/>
          </a:prstGeom>
          <a:noFill/>
          <a:ln/>
        </p:spPr>
        <p:txBody>
          <a:bodyPr wrap="square" lIns="0" tIns="0" rIns="0" bIns="0" rtlCol="0" anchor="ctr"/>
          <a:lstStyle/>
          <a:p>
            <a:pPr algn="r" indent="0" marL="0">
              <a:buNone/>
            </a:pPr>
            <a:r>
              <a:rPr lang="en-US" sz="1100" dirty="0">
                <a:solidFill>
                  <a:srgbClr val="4A5359"/>
                </a:solidFill>
                <a:latin typeface="Calibri" pitchFamily="34" charset="0"/>
                <a:ea typeface="Calibri" pitchFamily="34" charset="-122"/>
                <a:cs typeface="Calibri" pitchFamily="34" charset="-120"/>
              </a:rPr>
              <a:t>Prime (6.75%) + 2 – 6%</a:t>
            </a:r>
            <a:endParaRPr lang="en-US" sz="1100" dirty="0"/>
          </a:p>
        </p:txBody>
      </p:sp>
      <p:sp>
        <p:nvSpPr>
          <p:cNvPr id="20" name="Shape 18"/>
          <p:cNvSpPr/>
          <p:nvPr/>
        </p:nvSpPr>
        <p:spPr>
          <a:xfrm>
            <a:off x="841248" y="3950208"/>
            <a:ext cx="91440" cy="91440"/>
          </a:xfrm>
          <a:prstGeom prst="ellipse">
            <a:avLst/>
          </a:prstGeom>
          <a:solidFill>
            <a:srgbClr val="C8922F"/>
          </a:solidFill>
          <a:ln w="12700">
            <a:solidFill>
              <a:srgbClr val="C8922F"/>
            </a:solidFill>
            <a:prstDash val="solid"/>
          </a:ln>
        </p:spPr>
      </p:sp>
      <p:sp>
        <p:nvSpPr>
          <p:cNvPr id="21" name="Text 19"/>
          <p:cNvSpPr txBox="1"/>
          <p:nvPr/>
        </p:nvSpPr>
        <p:spPr>
          <a:xfrm>
            <a:off x="1060704" y="3840480"/>
            <a:ext cx="3200400" cy="310896"/>
          </a:xfrm>
          <a:prstGeom prst="rect">
            <a:avLst/>
          </a:prstGeom>
          <a:noFill/>
          <a:ln/>
        </p:spPr>
        <p:txBody>
          <a:bodyPr wrap="square" lIns="0" tIns="0" rIns="0" bIns="0" rtlCol="0" anchor="ctr"/>
          <a:lstStyle/>
          <a:p>
            <a:pPr indent="0" marL="0">
              <a:buNone/>
            </a:pPr>
            <a:r>
              <a:rPr lang="en-US" sz="1200" b="1" dirty="0">
                <a:solidFill>
                  <a:srgbClr val="2B2A28"/>
                </a:solidFill>
                <a:latin typeface="Calibri" pitchFamily="34" charset="0"/>
                <a:ea typeface="Calibri" pitchFamily="34" charset="-122"/>
                <a:cs typeface="Calibri" pitchFamily="34" charset="-120"/>
              </a:rPr>
              <a:t>Equipment financing or lease</a:t>
            </a:r>
            <a:endParaRPr lang="en-US" sz="1200" dirty="0"/>
          </a:p>
        </p:txBody>
      </p:sp>
      <p:sp>
        <p:nvSpPr>
          <p:cNvPr id="22" name="Text 20"/>
          <p:cNvSpPr txBox="1"/>
          <p:nvPr/>
        </p:nvSpPr>
        <p:spPr>
          <a:xfrm>
            <a:off x="4261104" y="3840480"/>
            <a:ext cx="2011680" cy="310896"/>
          </a:xfrm>
          <a:prstGeom prst="rect">
            <a:avLst/>
          </a:prstGeom>
          <a:noFill/>
          <a:ln/>
        </p:spPr>
        <p:txBody>
          <a:bodyPr wrap="square" lIns="0" tIns="0" rIns="0" bIns="0" rtlCol="0" anchor="ctr"/>
          <a:lstStyle/>
          <a:p>
            <a:pPr algn="r" indent="0" marL="0">
              <a:buNone/>
            </a:pPr>
            <a:r>
              <a:rPr lang="en-US" sz="1100" dirty="0">
                <a:solidFill>
                  <a:srgbClr val="4A5359"/>
                </a:solidFill>
                <a:latin typeface="Calibri" pitchFamily="34" charset="0"/>
                <a:ea typeface="Calibri" pitchFamily="34" charset="-122"/>
                <a:cs typeface="Calibri" pitchFamily="34" charset="-120"/>
              </a:rPr>
              <a:t>built into the payment; the gear is the collateral</a:t>
            </a:r>
            <a:endParaRPr lang="en-US" sz="1100" dirty="0"/>
          </a:p>
        </p:txBody>
      </p:sp>
      <p:sp>
        <p:nvSpPr>
          <p:cNvPr id="23" name="Shape 21"/>
          <p:cNvSpPr/>
          <p:nvPr/>
        </p:nvSpPr>
        <p:spPr>
          <a:xfrm>
            <a:off x="841248" y="4389120"/>
            <a:ext cx="91440" cy="91440"/>
          </a:xfrm>
          <a:prstGeom prst="ellipse">
            <a:avLst/>
          </a:prstGeom>
          <a:solidFill>
            <a:srgbClr val="C8922F"/>
          </a:solidFill>
          <a:ln w="12700">
            <a:solidFill>
              <a:srgbClr val="C8922F"/>
            </a:solidFill>
            <a:prstDash val="solid"/>
          </a:ln>
        </p:spPr>
      </p:sp>
      <p:sp>
        <p:nvSpPr>
          <p:cNvPr id="24" name="Text 22"/>
          <p:cNvSpPr txBox="1"/>
          <p:nvPr/>
        </p:nvSpPr>
        <p:spPr>
          <a:xfrm>
            <a:off x="1060704" y="4279392"/>
            <a:ext cx="3200400" cy="310896"/>
          </a:xfrm>
          <a:prstGeom prst="rect">
            <a:avLst/>
          </a:prstGeom>
          <a:noFill/>
          <a:ln/>
        </p:spPr>
        <p:txBody>
          <a:bodyPr wrap="square" lIns="0" tIns="0" rIns="0" bIns="0" rtlCol="0" anchor="ctr"/>
          <a:lstStyle/>
          <a:p>
            <a:pPr indent="0" marL="0">
              <a:buNone/>
            </a:pPr>
            <a:r>
              <a:rPr lang="en-US" sz="1200" b="1" dirty="0">
                <a:solidFill>
                  <a:srgbClr val="2B2A28"/>
                </a:solidFill>
                <a:latin typeface="Calibri" pitchFamily="34" charset="0"/>
                <a:ea typeface="Calibri" pitchFamily="34" charset="-122"/>
                <a:cs typeface="Calibri" pitchFamily="34" charset="-120"/>
              </a:rPr>
              <a:t>Supplier terms, net 30 / 60</a:t>
            </a:r>
            <a:endParaRPr lang="en-US" sz="1200" dirty="0"/>
          </a:p>
        </p:txBody>
      </p:sp>
      <p:sp>
        <p:nvSpPr>
          <p:cNvPr id="25" name="Text 23"/>
          <p:cNvSpPr txBox="1"/>
          <p:nvPr/>
        </p:nvSpPr>
        <p:spPr>
          <a:xfrm>
            <a:off x="4261104" y="4279392"/>
            <a:ext cx="2011680" cy="310896"/>
          </a:xfrm>
          <a:prstGeom prst="rect">
            <a:avLst/>
          </a:prstGeom>
          <a:noFill/>
          <a:ln/>
        </p:spPr>
        <p:txBody>
          <a:bodyPr wrap="square" lIns="0" tIns="0" rIns="0" bIns="0" rtlCol="0" anchor="ctr"/>
          <a:lstStyle/>
          <a:p>
            <a:pPr algn="r" indent="0" marL="0">
              <a:buNone/>
            </a:pPr>
            <a:r>
              <a:rPr lang="en-US" sz="1100" dirty="0">
                <a:solidFill>
                  <a:srgbClr val="4A5359"/>
                </a:solidFill>
                <a:latin typeface="Calibri" pitchFamily="34" charset="0"/>
                <a:ea typeface="Calibri" pitchFamily="34" charset="-122"/>
                <a:cs typeface="Calibri" pitchFamily="34" charset="-120"/>
              </a:rPr>
              <a:t>0%, if you pay on time</a:t>
            </a:r>
            <a:endParaRPr lang="en-US" sz="1100" dirty="0"/>
          </a:p>
        </p:txBody>
      </p:sp>
      <p:sp>
        <p:nvSpPr>
          <p:cNvPr id="26" name="Shape 24"/>
          <p:cNvSpPr/>
          <p:nvPr/>
        </p:nvSpPr>
        <p:spPr>
          <a:xfrm>
            <a:off x="6839712" y="1481328"/>
            <a:ext cx="4800600" cy="1572768"/>
          </a:xfrm>
          <a:prstGeom prst="roundRect">
            <a:avLst>
              <a:gd name="adj" fmla="val 4651"/>
            </a:avLst>
          </a:prstGeom>
          <a:solidFill>
            <a:srgbClr val="EDE7D8"/>
          </a:solidFill>
          <a:ln w="9525">
            <a:solidFill>
              <a:srgbClr val="D9C7A3"/>
            </a:solidFill>
            <a:prstDash val="solid"/>
          </a:ln>
          <a:effectLst>
            <a:outerShdw sx="100000" sy="100000" kx="0" ky="0" algn="bl" rotWithShape="0" blurRad="127000" dist="25400" dir="5400000">
              <a:srgbClr val="9A9488">
                <a:alpha val="28000"/>
              </a:srgbClr>
            </a:outerShdw>
          </a:effectLst>
        </p:spPr>
      </p:sp>
      <p:sp>
        <p:nvSpPr>
          <p:cNvPr id="27" name="Text 25"/>
          <p:cNvSpPr txBox="1"/>
          <p:nvPr/>
        </p:nvSpPr>
        <p:spPr>
          <a:xfrm>
            <a:off x="7114032" y="1645920"/>
            <a:ext cx="3657600" cy="256032"/>
          </a:xfrm>
          <a:prstGeom prst="rect">
            <a:avLst/>
          </a:prstGeom>
          <a:noFill/>
          <a:ln/>
        </p:spPr>
        <p:txBody>
          <a:bodyPr wrap="square" lIns="0" tIns="0" rIns="0" bIns="0" rtlCol="0" anchor="ctr"/>
          <a:lstStyle/>
          <a:p>
            <a:pPr indent="0" marL="0">
              <a:buNone/>
            </a:pPr>
            <a:r>
              <a:rPr lang="en-US" sz="1200" b="1" spc="160" kern="0" dirty="0">
                <a:solidFill>
                  <a:srgbClr val="34503C"/>
                </a:solidFill>
                <a:latin typeface="Calibri" pitchFamily="34" charset="0"/>
                <a:ea typeface="Calibri" pitchFamily="34" charset="-122"/>
                <a:cs typeface="Calibri" pitchFamily="34" charset="-120"/>
              </a:rPr>
              <a:t>WHERE IT HELPS</a:t>
            </a:r>
            <a:endParaRPr lang="en-US" sz="1200" dirty="0"/>
          </a:p>
        </p:txBody>
      </p:sp>
      <p:sp>
        <p:nvSpPr>
          <p:cNvPr id="28" name="Text 26"/>
          <p:cNvSpPr txBox="1"/>
          <p:nvPr/>
        </p:nvSpPr>
        <p:spPr>
          <a:xfrm>
            <a:off x="7114032" y="1993392"/>
            <a:ext cx="4251960" cy="1005840"/>
          </a:xfrm>
          <a:prstGeom prst="rect">
            <a:avLst/>
          </a:prstGeom>
          <a:noFill/>
          <a:ln/>
        </p:spPr>
        <p:txBody>
          <a:bodyPr wrap="square" lIns="0" tIns="0" rIns="0" bIns="0" rtlCol="0" anchor="t"/>
          <a:lstStyle/>
          <a:p>
            <a:pPr marL="177800" indent="-177800">
              <a:lnSpc>
                <a:spcPct val="105000"/>
              </a:lnSpc>
              <a:spcAft>
                <a:spcPts val="300"/>
              </a:spcAft>
              <a:buSzPct val="100000"/>
              <a:buChar char="•"/>
            </a:pPr>
            <a:r>
              <a:rPr lang="en-US" sz="1150" dirty="0">
                <a:solidFill>
                  <a:srgbClr val="2B2A28"/>
                </a:solidFill>
                <a:latin typeface="Calibri" pitchFamily="34" charset="0"/>
                <a:ea typeface="Calibri" pitchFamily="34" charset="-122"/>
                <a:cs typeface="Calibri" pitchFamily="34" charset="-120"/>
              </a:rPr>
              <a:t>Ownership stays whole</a:t>
            </a:r>
            <a:endParaRPr lang="en-US" sz="1150" dirty="0"/>
          </a:p>
          <a:p>
            <a:pPr marL="177800" indent="-177800">
              <a:lnSpc>
                <a:spcPct val="105000"/>
              </a:lnSpc>
              <a:spcAft>
                <a:spcPts val="300"/>
              </a:spcAft>
              <a:buSzPct val="100000"/>
              <a:buChar char="•"/>
            </a:pPr>
            <a:r>
              <a:rPr lang="en-US" sz="1150" dirty="0">
                <a:solidFill>
                  <a:srgbClr val="2B2A28"/>
                </a:solidFill>
                <a:latin typeface="Calibri" pitchFamily="34" charset="0"/>
                <a:ea typeface="Calibri" pitchFamily="34" charset="-122"/>
                <a:cs typeface="Calibri" pitchFamily="34" charset="-120"/>
              </a:rPr>
              <a:t>Interest is deductible; payments are predictable</a:t>
            </a:r>
            <a:endParaRPr lang="en-US" sz="1150" dirty="0"/>
          </a:p>
          <a:p>
            <a:pPr marL="177800" indent="-177800">
              <a:lnSpc>
                <a:spcPct val="105000"/>
              </a:lnSpc>
              <a:spcAft>
                <a:spcPts val="300"/>
              </a:spcAft>
              <a:buSzPct val="100000"/>
              <a:buChar char="•"/>
            </a:pPr>
            <a:r>
              <a:rPr lang="en-US" sz="1150" dirty="0">
                <a:solidFill>
                  <a:srgbClr val="2B2A28"/>
                </a:solidFill>
                <a:latin typeface="Calibri" pitchFamily="34" charset="0"/>
                <a:ea typeface="Calibri" pitchFamily="34" charset="-122"/>
                <a:cs typeface="Calibri" pitchFamily="34" charset="-120"/>
              </a:rPr>
              <a:t>Cheapest outside money — if you can qualify</a:t>
            </a:r>
            <a:endParaRPr lang="en-US" sz="1150" dirty="0"/>
          </a:p>
          <a:p>
            <a:pPr marL="177800" indent="-177800">
              <a:lnSpc>
                <a:spcPct val="105000"/>
              </a:lnSpc>
              <a:spcAft>
                <a:spcPts val="300"/>
              </a:spcAft>
              <a:buSzPct val="100000"/>
              <a:buChar char="•"/>
            </a:pPr>
            <a:r>
              <a:rPr lang="en-US" sz="1150" dirty="0">
                <a:solidFill>
                  <a:srgbClr val="2B2A28"/>
                </a:solidFill>
                <a:latin typeface="Calibri" pitchFamily="34" charset="0"/>
                <a:ea typeface="Calibri" pitchFamily="34" charset="-122"/>
                <a:cs typeface="Calibri" pitchFamily="34" charset="-120"/>
              </a:rPr>
              <a:t>Builds the record for a bigger ask later</a:t>
            </a:r>
            <a:endParaRPr lang="en-US" sz="1150" dirty="0"/>
          </a:p>
        </p:txBody>
      </p:sp>
      <p:sp>
        <p:nvSpPr>
          <p:cNvPr id="29" name="Shape 27"/>
          <p:cNvSpPr/>
          <p:nvPr/>
        </p:nvSpPr>
        <p:spPr>
          <a:xfrm>
            <a:off x="6839712" y="3200400"/>
            <a:ext cx="4800600" cy="1572768"/>
          </a:xfrm>
          <a:prstGeom prst="roundRect">
            <a:avLst>
              <a:gd name="adj" fmla="val 4651"/>
            </a:avLst>
          </a:prstGeom>
          <a:solidFill>
            <a:srgbClr val="EDE7D8"/>
          </a:solidFill>
          <a:ln w="9525">
            <a:solidFill>
              <a:srgbClr val="D9C7A3"/>
            </a:solidFill>
            <a:prstDash val="solid"/>
          </a:ln>
          <a:effectLst>
            <a:outerShdw sx="100000" sy="100000" kx="0" ky="0" algn="bl" rotWithShape="0" blurRad="127000" dist="25400" dir="5400000">
              <a:srgbClr val="9A9488">
                <a:alpha val="28000"/>
              </a:srgbClr>
            </a:outerShdw>
          </a:effectLst>
        </p:spPr>
      </p:sp>
      <p:sp>
        <p:nvSpPr>
          <p:cNvPr id="30" name="Text 28"/>
          <p:cNvSpPr txBox="1"/>
          <p:nvPr/>
        </p:nvSpPr>
        <p:spPr>
          <a:xfrm>
            <a:off x="7114032" y="3364992"/>
            <a:ext cx="4114800" cy="256032"/>
          </a:xfrm>
          <a:prstGeom prst="rect">
            <a:avLst/>
          </a:prstGeom>
          <a:noFill/>
          <a:ln/>
        </p:spPr>
        <p:txBody>
          <a:bodyPr wrap="square" lIns="0" tIns="0" rIns="0" bIns="0" rtlCol="0" anchor="ctr"/>
          <a:lstStyle/>
          <a:p>
            <a:pPr indent="0" marL="0">
              <a:buNone/>
            </a:pPr>
            <a:r>
              <a:rPr lang="en-US" sz="1200" b="1" spc="160" kern="0" dirty="0">
                <a:solidFill>
                  <a:srgbClr val="8C3A2B"/>
                </a:solidFill>
                <a:latin typeface="Calibri" pitchFamily="34" charset="0"/>
                <a:ea typeface="Calibri" pitchFamily="34" charset="-122"/>
                <a:cs typeface="Calibri" pitchFamily="34" charset="-120"/>
              </a:rPr>
              <a:t>WHERE IT COSTS YOU</a:t>
            </a:r>
            <a:endParaRPr lang="en-US" sz="1200" dirty="0"/>
          </a:p>
        </p:txBody>
      </p:sp>
      <p:sp>
        <p:nvSpPr>
          <p:cNvPr id="31" name="Text 29"/>
          <p:cNvSpPr txBox="1"/>
          <p:nvPr/>
        </p:nvSpPr>
        <p:spPr>
          <a:xfrm>
            <a:off x="7114032" y="3712464"/>
            <a:ext cx="4251960" cy="1005840"/>
          </a:xfrm>
          <a:prstGeom prst="rect">
            <a:avLst/>
          </a:prstGeom>
          <a:noFill/>
          <a:ln/>
        </p:spPr>
        <p:txBody>
          <a:bodyPr wrap="square" lIns="0" tIns="0" rIns="0" bIns="0" rtlCol="0" anchor="t"/>
          <a:lstStyle/>
          <a:p>
            <a:pPr marL="177800" indent="-177800">
              <a:lnSpc>
                <a:spcPct val="105000"/>
              </a:lnSpc>
              <a:spcAft>
                <a:spcPts val="300"/>
              </a:spcAft>
              <a:buSzPct val="100000"/>
              <a:buChar char="•"/>
            </a:pPr>
            <a:r>
              <a:rPr lang="en-US" sz="1150" dirty="0">
                <a:solidFill>
                  <a:srgbClr val="2B2A28"/>
                </a:solidFill>
                <a:latin typeface="Calibri" pitchFamily="34" charset="0"/>
                <a:ea typeface="Calibri" pitchFamily="34" charset="-122"/>
                <a:cs typeface="Calibri" pitchFamily="34" charset="-120"/>
              </a:rPr>
              <a:t>The payment comes whether the season did or not</a:t>
            </a:r>
            <a:endParaRPr lang="en-US" sz="1150" dirty="0"/>
          </a:p>
          <a:p>
            <a:pPr marL="177800" indent="-177800">
              <a:lnSpc>
                <a:spcPct val="105000"/>
              </a:lnSpc>
              <a:spcAft>
                <a:spcPts val="300"/>
              </a:spcAft>
              <a:buSzPct val="100000"/>
              <a:buChar char="•"/>
            </a:pPr>
            <a:r>
              <a:rPr lang="en-US" sz="1150" dirty="0">
                <a:solidFill>
                  <a:srgbClr val="2B2A28"/>
                </a:solidFill>
                <a:latin typeface="Calibri" pitchFamily="34" charset="0"/>
                <a:ea typeface="Calibri" pitchFamily="34" charset="-122"/>
                <a:cs typeface="Calibri" pitchFamily="34" charset="-120"/>
              </a:rPr>
              <a:t>Personal guarantee and collateral are standard</a:t>
            </a:r>
            <a:endParaRPr lang="en-US" sz="1150" dirty="0"/>
          </a:p>
          <a:p>
            <a:pPr marL="177800" indent="-177800">
              <a:lnSpc>
                <a:spcPct val="105000"/>
              </a:lnSpc>
              <a:spcAft>
                <a:spcPts val="300"/>
              </a:spcAft>
              <a:buSzPct val="100000"/>
              <a:buChar char="•"/>
            </a:pPr>
            <a:r>
              <a:rPr lang="en-US" sz="1150" dirty="0">
                <a:solidFill>
                  <a:srgbClr val="2B2A28"/>
                </a:solidFill>
                <a:latin typeface="Calibri" pitchFamily="34" charset="0"/>
                <a:ea typeface="Calibri" pitchFamily="34" charset="-122"/>
                <a:cs typeface="Calibri" pitchFamily="34" charset="-120"/>
              </a:rPr>
              <a:t>A loss year is an underwriting problem</a:t>
            </a:r>
            <a:endParaRPr lang="en-US" sz="1150" dirty="0"/>
          </a:p>
          <a:p>
            <a:pPr marL="177800" indent="-177800">
              <a:lnSpc>
                <a:spcPct val="105000"/>
              </a:lnSpc>
              <a:spcAft>
                <a:spcPts val="300"/>
              </a:spcAft>
              <a:buSzPct val="100000"/>
              <a:buChar char="•"/>
            </a:pPr>
            <a:r>
              <a:rPr lang="en-US" sz="1150" dirty="0">
                <a:solidFill>
                  <a:srgbClr val="2B2A28"/>
                </a:solidFill>
                <a:latin typeface="Calibri" pitchFamily="34" charset="0"/>
                <a:ea typeface="Calibri" pitchFamily="34" charset="-122"/>
                <a:cs typeface="Calibri" pitchFamily="34" charset="-120"/>
              </a:rPr>
              <a:t>Seasonal revenue against a flat payment squeezes cash</a:t>
            </a:r>
            <a:endParaRPr lang="en-US" sz="1150" dirty="0"/>
          </a:p>
        </p:txBody>
      </p:sp>
      <p:sp>
        <p:nvSpPr>
          <p:cNvPr id="32" name="Shape 30"/>
          <p:cNvSpPr/>
          <p:nvPr/>
        </p:nvSpPr>
        <p:spPr>
          <a:xfrm>
            <a:off x="548640" y="4956048"/>
            <a:ext cx="11094415" cy="1298448"/>
          </a:xfrm>
          <a:prstGeom prst="roundRect">
            <a:avLst>
              <a:gd name="adj" fmla="val 4225"/>
            </a:avLst>
          </a:prstGeom>
          <a:solidFill>
            <a:srgbClr val="2E4057"/>
          </a:solidFill>
          <a:ln w="12700">
            <a:solidFill>
              <a:srgbClr val="2E4057"/>
            </a:solidFill>
            <a:prstDash val="solid"/>
          </a:ln>
        </p:spPr>
      </p:sp>
      <p:sp>
        <p:nvSpPr>
          <p:cNvPr id="33" name="Text 31"/>
          <p:cNvSpPr txBox="1"/>
          <p:nvPr/>
        </p:nvSpPr>
        <p:spPr>
          <a:xfrm>
            <a:off x="868680" y="5065776"/>
            <a:ext cx="10454335" cy="1078992"/>
          </a:xfrm>
          <a:prstGeom prst="rect">
            <a:avLst/>
          </a:prstGeom>
          <a:noFill/>
          <a:ln/>
        </p:spPr>
        <p:txBody>
          <a:bodyPr wrap="square" lIns="0" tIns="0" rIns="0" bIns="0" rtlCol="0" anchor="ctr"/>
          <a:lstStyle/>
          <a:p>
            <a:pPr indent="0" marL="0">
              <a:lnSpc>
                <a:spcPct val="115000"/>
              </a:lnSpc>
              <a:buNone/>
            </a:pPr>
            <a:r>
              <a:rPr lang="en-US" sz="1300" b="1" dirty="0">
                <a:solidFill>
                  <a:srgbClr val="C8922F"/>
                </a:solidFill>
                <a:latin typeface="Calibri" pitchFamily="34" charset="0"/>
                <a:ea typeface="Calibri" pitchFamily="34" charset="-122"/>
                <a:cs typeface="Calibri" pitchFamily="34" charset="-120"/>
              </a:rPr>
              <a:t>Kenyon's position.  </a:t>
            </a:r>
            <a:pPr indent="0" marL="0">
              <a:lnSpc>
                <a:spcPct val="115000"/>
              </a:lnSpc>
              <a:buNone/>
            </a:pPr>
            <a:r>
              <a:rPr lang="en-US" sz="1300" dirty="0">
                <a:solidFill>
                  <a:srgbClr val="EDE7D8"/>
                </a:solidFill>
                <a:latin typeface="Calibri" pitchFamily="34" charset="0"/>
                <a:ea typeface="Calibri" pitchFamily="34" charset="-122"/>
                <a:cs typeface="Calibri" pitchFamily="34" charset="-120"/>
              </a:rPr>
              <a:t>No material interest expense in 2021–2024 — the borrowing capacity is entirely unused, which is a real asset. But lenders underwrite on earnings, not history: they want debt-service coverage above 1.25×, and 2024 earnings were negative. The practical reading is to close 2025 first, then ask for equipment financing or a small receivables line before attempting a term loan.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548640" y="457200"/>
            <a:ext cx="475488" cy="475488"/>
          </a:xfrm>
          <a:prstGeom prst="ellipse">
            <a:avLst/>
          </a:prstGeom>
          <a:solidFill>
            <a:srgbClr val="34503C"/>
          </a:solidFill>
          <a:ln w="12700">
            <a:solidFill>
              <a:srgbClr val="34503C"/>
            </a:solidFill>
            <a:prstDash val="solid"/>
          </a:ln>
        </p:spPr>
      </p:sp>
      <p:sp>
        <p:nvSpPr>
          <p:cNvPr id="3" name="Text 1"/>
          <p:cNvSpPr txBox="1"/>
          <p:nvPr/>
        </p:nvSpPr>
        <p:spPr>
          <a:xfrm>
            <a:off x="548640" y="457200"/>
            <a:ext cx="475488" cy="475488"/>
          </a:xfrm>
          <a:prstGeom prst="rect">
            <a:avLst/>
          </a:prstGeom>
          <a:noFill/>
          <a:ln/>
        </p:spPr>
        <p:txBody>
          <a:bodyPr wrap="square" lIns="0" tIns="0" rIns="0" bIns="0" rtlCol="0" anchor="ctr"/>
          <a:lstStyle/>
          <a:p>
            <a:pPr algn="ctr" indent="0" marL="0">
              <a:buNone/>
            </a:pPr>
            <a:r>
              <a:rPr lang="en-US" sz="1500" b="1" dirty="0">
                <a:solidFill>
                  <a:srgbClr val="EDE7D8"/>
                </a:solidFill>
                <a:latin typeface="Cambria" pitchFamily="34" charset="0"/>
                <a:ea typeface="Cambria" pitchFamily="34" charset="-122"/>
                <a:cs typeface="Cambria" pitchFamily="34" charset="-120"/>
              </a:rPr>
              <a:t>03</a:t>
            </a:r>
            <a:endParaRPr lang="en-US" sz="1500" dirty="0"/>
          </a:p>
        </p:txBody>
      </p:sp>
      <p:sp>
        <p:nvSpPr>
          <p:cNvPr id="4" name="Text 2"/>
          <p:cNvSpPr txBox="1"/>
          <p:nvPr/>
        </p:nvSpPr>
        <p:spPr>
          <a:xfrm>
            <a:off x="1170432" y="420624"/>
            <a:ext cx="10241280" cy="548640"/>
          </a:xfrm>
          <a:prstGeom prst="rect">
            <a:avLst/>
          </a:prstGeom>
          <a:noFill/>
          <a:ln/>
        </p:spPr>
        <p:txBody>
          <a:bodyPr wrap="square" lIns="0" tIns="0" rIns="0" bIns="0" rtlCol="0" anchor="ctr"/>
          <a:lstStyle/>
          <a:p>
            <a:pPr indent="0" marL="0">
              <a:buNone/>
            </a:pPr>
            <a:r>
              <a:rPr lang="en-US" sz="3400" b="1" dirty="0">
                <a:solidFill>
                  <a:srgbClr val="2B2A28"/>
                </a:solidFill>
                <a:latin typeface="Cambria" pitchFamily="34" charset="0"/>
                <a:ea typeface="Cambria" pitchFamily="34" charset="-122"/>
                <a:cs typeface="Cambria" pitchFamily="34" charset="-120"/>
              </a:rPr>
              <a:t>Apply for it</a:t>
            </a:r>
            <a:endParaRPr lang="en-US" sz="3400" dirty="0"/>
          </a:p>
        </p:txBody>
      </p:sp>
      <p:sp>
        <p:nvSpPr>
          <p:cNvPr id="5" name="Text 3"/>
          <p:cNvSpPr txBox="1"/>
          <p:nvPr/>
        </p:nvSpPr>
        <p:spPr>
          <a:xfrm>
            <a:off x="548640" y="1024128"/>
            <a:ext cx="10881360" cy="292608"/>
          </a:xfrm>
          <a:prstGeom prst="rect">
            <a:avLst/>
          </a:prstGeom>
          <a:noFill/>
          <a:ln/>
        </p:spPr>
        <p:txBody>
          <a:bodyPr wrap="square" lIns="0" tIns="0" rIns="0" bIns="0" rtlCol="0" anchor="ctr"/>
          <a:lstStyle/>
          <a:p>
            <a:pPr indent="0" marL="0">
              <a:buNone/>
            </a:pPr>
            <a:r>
              <a:rPr lang="en-US" sz="1400" dirty="0">
                <a:solidFill>
                  <a:srgbClr val="4A5359"/>
                </a:solidFill>
                <a:latin typeface="Calibri" pitchFamily="34" charset="0"/>
                <a:ea typeface="Calibri" pitchFamily="34" charset="-122"/>
                <a:cs typeface="Calibri" pitchFamily="34" charset="-120"/>
              </a:rPr>
              <a:t>Grants and public programmes — never repaid, never dilutive, and slower than everything else.</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17904"/>
          <a:ext cx="11094415" cy="914400"/>
        </p:xfrm>
        <a:graphic>
          <a:graphicData uri="http://schemas.openxmlformats.org/drawingml/2006/table">
            <a:tbl>
              <a:tblPr/>
              <a:tblGrid>
                <a:gridCol w="2834640"/>
                <a:gridCol w="2148840"/>
                <a:gridCol w="1600200"/>
                <a:gridCol w="4510735"/>
              </a:tblGrid>
              <a:tr h="292608">
                <a:tc>
                  <a:txBody>
                    <a:bodyPr/>
                    <a:lstStyle/>
                    <a:p>
                      <a:pPr indent="0" marL="0">
                        <a:buNone/>
                      </a:pPr>
                      <a:endParaRPr lang="en-US" sz="1050" dirty="0">
                        <a:latin typeface="Calibri" charset="0"/>
                        <a:ea typeface="Calibri" charset="0"/>
                        <a:cs typeface="Calibri" charset="0"/>
                      </a:endParaRPr>
                    </a:p>
                  </a:txBody>
                  <a:tcPr marL="88900" marR="88900" marT="63500" marB="6350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EDE7D8"/>
                    </a:solidFill>
                  </a:tcPr>
                </a:tc>
                <a:tc>
                  <a:txBody>
                    <a:bodyPr/>
                    <a:lstStyle/>
                    <a:p>
                      <a:pPr indent="0" marL="0">
                        <a:buNone/>
                      </a:pPr>
                      <a:endParaRPr lang="en-US" sz="1050" dirty="0">
                        <a:latin typeface="Calibri" charset="0"/>
                        <a:ea typeface="Calibri" charset="0"/>
                        <a:cs typeface="Calibri" charset="0"/>
                      </a:endParaRPr>
                    </a:p>
                  </a:txBody>
                  <a:tcPr marL="88900" marR="88900" marT="63500" marB="6350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EDE7D8"/>
                    </a:solidFill>
                  </a:tcPr>
                </a:tc>
                <a:tc>
                  <a:txBody>
                    <a:bodyPr/>
                    <a:lstStyle/>
                    <a:p>
                      <a:pPr indent="0" marL="0">
                        <a:buNone/>
                      </a:pPr>
                      <a:endParaRPr lang="en-US" sz="1050" dirty="0">
                        <a:latin typeface="Calibri" charset="0"/>
                        <a:ea typeface="Calibri" charset="0"/>
                        <a:cs typeface="Calibri" charset="0"/>
                      </a:endParaRPr>
                    </a:p>
                  </a:txBody>
                  <a:tcPr marL="88900" marR="88900" marT="63500" marB="6350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EDE7D8"/>
                    </a:solidFill>
                  </a:tcPr>
                </a:tc>
                <a:tc>
                  <a:txBody>
                    <a:bodyPr/>
                    <a:lstStyle/>
                    <a:p>
                      <a:pPr indent="0" marL="0">
                        <a:buNone/>
                      </a:pPr>
                      <a:endParaRPr lang="en-US" sz="1050" dirty="0">
                        <a:latin typeface="Calibri" charset="0"/>
                        <a:ea typeface="Calibri" charset="0"/>
                        <a:cs typeface="Calibri" charset="0"/>
                      </a:endParaRPr>
                    </a:p>
                  </a:txBody>
                  <a:tcPr marL="88900" marR="88900" marT="63500" marB="6350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EDE7D8"/>
                    </a:solidFill>
                  </a:tcPr>
                </a:tc>
              </a:tr>
              <a:tr h="658368">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USDA Value-Added Producer Grant</a:t>
                      </a:r>
                      <a:endParaRPr lang="en-US" sz="1050" dirty="0">
                        <a:latin typeface="Calibri" charset="0"/>
                        <a:ea typeface="Calibri" charset="0"/>
                        <a:cs typeface="Calibri" charset="0"/>
                      </a:endParaRPr>
                    </a:p>
                  </a:txBody>
                  <a:tcPr marL="88900" marR="88900" marT="63500" marB="6350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EDE7D8"/>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Up to $50,000 planning</a:t>
                      </a:r>
                      <a:endParaRPr lang="en-US" sz="1050" dirty="0">
                        <a:latin typeface="Calibri" charset="0"/>
                        <a:ea typeface="Calibri" charset="0"/>
                        <a:cs typeface="Calibri" charset="0"/>
                      </a:endParaRPr>
                    </a:p>
                    <a:p>
                      <a:pPr indent="0" marL="0">
                        <a:buNone/>
                      </a:pPr>
                      <a:r>
                        <a:rPr lang="en-US" sz="1050" dirty="0">
                          <a:solidFill>
                            <a:srgbClr val="2B2A28"/>
                          </a:solidFill>
                          <a:latin typeface="Calibri" pitchFamily="34" charset="0"/>
                          <a:ea typeface="Calibri" pitchFamily="34" charset="-122"/>
                          <a:cs typeface="Calibri" pitchFamily="34" charset="-120"/>
                        </a:rPr>
                        <a:t>Up to $200,000 working capital</a:t>
                      </a:r>
                      <a:endParaRPr lang="en-US" sz="1050" dirty="0">
                        <a:latin typeface="Calibri" charset="0"/>
                        <a:ea typeface="Calibri" charset="0"/>
                        <a:cs typeface="Calibri" charset="0"/>
                      </a:endParaRPr>
                    </a:p>
                  </a:txBody>
                  <a:tcPr marL="88900" marR="88900" marT="63500" marB="6350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EDE7D8"/>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1:1 required</a:t>
                      </a:r>
                      <a:endParaRPr lang="en-US" sz="1050" dirty="0">
                        <a:latin typeface="Calibri" charset="0"/>
                        <a:ea typeface="Calibri" charset="0"/>
                        <a:cs typeface="Calibri" charset="0"/>
                      </a:endParaRPr>
                    </a:p>
                  </a:txBody>
                  <a:tcPr marL="88900" marR="88900" marT="63500" marB="6350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EDE7D8"/>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Milling Rhode Island flint corn into a branded, packaged product is the textbook value-added case. FY26 window closed 22 April — build the application for the next round.</a:t>
                      </a:r>
                      <a:endParaRPr lang="en-US" sz="1050" dirty="0">
                        <a:latin typeface="Calibri" charset="0"/>
                        <a:ea typeface="Calibri" charset="0"/>
                        <a:cs typeface="Calibri" charset="0"/>
                      </a:endParaRPr>
                    </a:p>
                  </a:txBody>
                  <a:tcPr marL="88900" marR="88900" marT="63500" marB="6350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EDE7D8"/>
                    </a:solidFill>
                  </a:tcPr>
                </a:tc>
              </a:tr>
              <a:tr h="566928">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RI DEM — Local Agriculture &amp; Seafood Act (LASA)</a:t>
                      </a:r>
                      <a:endParaRPr lang="en-US" sz="1050" dirty="0">
                        <a:latin typeface="Calibri" charset="0"/>
                        <a:ea typeface="Calibri" charset="0"/>
                        <a:cs typeface="Calibri" charset="0"/>
                      </a:endParaRPr>
                    </a:p>
                  </a:txBody>
                  <a:tcPr marL="88900" marR="88900" marT="63500" marB="6350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EDE7D8"/>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Up to $20,000</a:t>
                      </a:r>
                      <a:endParaRPr lang="en-US" sz="1050" dirty="0">
                        <a:latin typeface="Calibri" charset="0"/>
                        <a:ea typeface="Calibri" charset="0"/>
                        <a:cs typeface="Calibri" charset="0"/>
                      </a:endParaRPr>
                    </a:p>
                  </a:txBody>
                  <a:tcPr marL="88900" marR="88900" marT="63500" marB="6350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EDE7D8"/>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88900" marR="88900" marT="63500" marB="6350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EDE7D8"/>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$450,000 across 25 awards in the 2026 round. Funds equipment, cooler and infrastructure work of exactly this size.</a:t>
                      </a:r>
                      <a:endParaRPr lang="en-US" sz="1050" dirty="0">
                        <a:latin typeface="Calibri" charset="0"/>
                        <a:ea typeface="Calibri" charset="0"/>
                        <a:cs typeface="Calibri" charset="0"/>
                      </a:endParaRPr>
                    </a:p>
                  </a:txBody>
                  <a:tcPr marL="88900" marR="88900" marT="63500" marB="6350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EDE7D8"/>
                    </a:solidFill>
                  </a:tcPr>
                </a:tc>
              </a:tr>
              <a:tr h="658368">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RI Commerce — Manufacturing Equipment Grant</a:t>
                      </a:r>
                      <a:endParaRPr lang="en-US" sz="1050" dirty="0">
                        <a:latin typeface="Calibri" charset="0"/>
                        <a:ea typeface="Calibri" charset="0"/>
                        <a:cs typeface="Calibri" charset="0"/>
                      </a:endParaRPr>
                    </a:p>
                  </a:txBody>
                  <a:tcPr marL="88900" marR="88900" marT="63500" marB="6350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EDE7D8"/>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Up to $25,000</a:t>
                      </a:r>
                      <a:endParaRPr lang="en-US" sz="1050" dirty="0">
                        <a:latin typeface="Calibri" charset="0"/>
                        <a:ea typeface="Calibri" charset="0"/>
                        <a:cs typeface="Calibri" charset="0"/>
                      </a:endParaRPr>
                    </a:p>
                  </a:txBody>
                  <a:tcPr marL="88900" marR="88900" marT="63500" marB="6350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EDE7D8"/>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Reimburses 50% of the purchase or downpayment</a:t>
                      </a:r>
                      <a:endParaRPr lang="en-US" sz="1050" dirty="0">
                        <a:latin typeface="Calibri" charset="0"/>
                        <a:ea typeface="Calibri" charset="0"/>
                        <a:cs typeface="Calibri" charset="0"/>
                      </a:endParaRPr>
                    </a:p>
                  </a:txBody>
                  <a:tcPr marL="88900" marR="88900" marT="63500" marB="6350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EDE7D8"/>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Kenyon's clears both bars comfortably: under 50 employees and under $5M in receipts. Last round closed March 2025 — watch for a reopening.</a:t>
                      </a:r>
                      <a:endParaRPr lang="en-US" sz="1050" dirty="0">
                        <a:latin typeface="Calibri" charset="0"/>
                        <a:ea typeface="Calibri" charset="0"/>
                        <a:cs typeface="Calibri" charset="0"/>
                      </a:endParaRPr>
                    </a:p>
                  </a:txBody>
                  <a:tcPr marL="88900" marR="88900" marT="63500" marB="6350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EDE7D8"/>
                    </a:solidFill>
                  </a:tcPr>
                </a:tc>
              </a:tr>
              <a:tr h="502920">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RI Commerce — Innovation Voucher</a:t>
                      </a:r>
                      <a:endParaRPr lang="en-US" sz="1050" dirty="0">
                        <a:latin typeface="Calibri" charset="0"/>
                        <a:ea typeface="Calibri" charset="0"/>
                        <a:cs typeface="Calibri" charset="0"/>
                      </a:endParaRPr>
                    </a:p>
                  </a:txBody>
                  <a:tcPr marL="88900" marR="88900" marT="63500" marB="6350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EDE7D8"/>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Up to $75,000</a:t>
                      </a:r>
                      <a:endParaRPr lang="en-US" sz="1050" dirty="0">
                        <a:latin typeface="Calibri" charset="0"/>
                        <a:ea typeface="Calibri" charset="0"/>
                        <a:cs typeface="Calibri" charset="0"/>
                      </a:endParaRPr>
                    </a:p>
                  </a:txBody>
                  <a:tcPr marL="88900" marR="88900" marT="63500" marB="6350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EDE7D8"/>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None stated</a:t>
                      </a:r>
                      <a:endParaRPr lang="en-US" sz="1050" dirty="0">
                        <a:latin typeface="Calibri" charset="0"/>
                        <a:ea typeface="Calibri" charset="0"/>
                        <a:cs typeface="Calibri" charset="0"/>
                      </a:endParaRPr>
                    </a:p>
                  </a:txBody>
                  <a:tcPr marL="88900" marR="88900" marT="63500" marB="6350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EDE7D8"/>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Buys outside engineering or design expertise — a costed yield model for the mill, or a packaging redesign.</a:t>
                      </a:r>
                      <a:endParaRPr lang="en-US" sz="1050" dirty="0">
                        <a:latin typeface="Calibri" charset="0"/>
                        <a:ea typeface="Calibri" charset="0"/>
                        <a:cs typeface="Calibri" charset="0"/>
                      </a:endParaRPr>
                    </a:p>
                  </a:txBody>
                  <a:tcPr marL="88900" marR="88900" marT="63500" marB="6350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EDE7D8"/>
                    </a:solidFill>
                  </a:tcPr>
                </a:tc>
              </a:tr>
              <a:tr h="658368">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Customer and supplier money</a:t>
                      </a:r>
                      <a:endParaRPr lang="en-US" sz="1050" dirty="0">
                        <a:latin typeface="Calibri" charset="0"/>
                        <a:ea typeface="Calibri" charset="0"/>
                        <a:cs typeface="Calibri" charset="0"/>
                      </a:endParaRPr>
                    </a:p>
                  </a:txBody>
                  <a:tcPr marL="88900" marR="88900" marT="63500" marB="6350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EDE7D8"/>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Deposits, prepay, pre-sales, net 30/60</a:t>
                      </a:r>
                      <a:endParaRPr lang="en-US" sz="1050" dirty="0">
                        <a:latin typeface="Calibri" charset="0"/>
                        <a:ea typeface="Calibri" charset="0"/>
                        <a:cs typeface="Calibri" charset="0"/>
                      </a:endParaRPr>
                    </a:p>
                  </a:txBody>
                  <a:tcPr marL="88900" marR="88900" marT="63500" marB="6350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EDE7D8"/>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88900" marR="88900" marT="63500" marB="6350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EDE7D8"/>
                    </a:solidFill>
                  </a:tcPr>
                </a:tc>
                <a:tc>
                  <a:txBody>
                    <a:bodyPr/>
                    <a:lstStyle/>
                    <a:p>
                      <a:pPr indent="0" marL="0">
                        <a:buNone/>
                      </a:pPr>
                      <a:r>
                        <a:rPr lang="en-US" sz="1050" dirty="0">
                          <a:solidFill>
                            <a:srgbClr val="2B2A28"/>
                          </a:solidFill>
                          <a:latin typeface="Calibri" pitchFamily="34" charset="0"/>
                          <a:ea typeface="Calibri" pitchFamily="34" charset="-122"/>
                          <a:cs typeface="Calibri" pitchFamily="34" charset="-120"/>
                        </a:rPr>
                        <a:t>Interest-free float. The private-label line (about $15,079) is the natural first place to ask for a deposit; a pre-sold holiday gift-basket run is the second.</a:t>
                      </a:r>
                      <a:endParaRPr lang="en-US" sz="1050" dirty="0">
                        <a:latin typeface="Calibri" charset="0"/>
                        <a:ea typeface="Calibri" charset="0"/>
                        <a:cs typeface="Calibri" charset="0"/>
                      </a:endParaRPr>
                    </a:p>
                  </a:txBody>
                  <a:tcPr marL="88900" marR="88900" marT="63500" marB="63500" anchor="ctr">
                    <a:lnL w="9525" cap="flat" cmpd="sng" algn="ctr">
                      <a:solidFill>
                        <a:srgbClr val="D9C7A3"/>
                      </a:solidFill>
                      <a:prstDash val="solid"/>
                      <a:round/>
                      <a:headEnd type="none" w="med" len="med"/>
                      <a:tailEnd type="none" w="med" len="med"/>
                    </a:lnL>
                    <a:lnR w="9525" cap="flat" cmpd="sng" algn="ctr">
                      <a:solidFill>
                        <a:srgbClr val="D9C7A3"/>
                      </a:solidFill>
                      <a:prstDash val="solid"/>
                      <a:round/>
                      <a:headEnd type="none" w="med" len="med"/>
                      <a:tailEnd type="none" w="med" len="med"/>
                    </a:lnR>
                    <a:lnT w="9525" cap="flat" cmpd="sng" algn="ctr">
                      <a:solidFill>
                        <a:srgbClr val="D9C7A3"/>
                      </a:solidFill>
                      <a:prstDash val="solid"/>
                      <a:round/>
                      <a:headEnd type="none" w="med" len="med"/>
                      <a:tailEnd type="none" w="med" len="med"/>
                    </a:lnT>
                    <a:lnB w="9525" cap="flat" cmpd="sng" algn="ctr">
                      <a:solidFill>
                        <a:srgbClr val="D9C7A3"/>
                      </a:solidFill>
                      <a:prstDash val="solid"/>
                      <a:round/>
                      <a:headEnd type="none" w="med" len="med"/>
                      <a:tailEnd type="none" w="med" len="med"/>
                    </a:lnB>
                    <a:solidFill>
                      <a:srgbClr val="EDE7D8"/>
                    </a:solidFill>
                  </a:tcPr>
                </a:tc>
              </a:tr>
            </a:tbl>
          </a:graphicData>
        </a:graphic>
      </p:graphicFrame>
      <p:sp>
        <p:nvSpPr>
          <p:cNvPr id="7" name="Shape 4"/>
          <p:cNvSpPr/>
          <p:nvPr/>
        </p:nvSpPr>
        <p:spPr>
          <a:xfrm>
            <a:off x="548640" y="1517904"/>
            <a:ext cx="11094415" cy="310896"/>
          </a:xfrm>
          <a:prstGeom prst="rect">
            <a:avLst/>
          </a:prstGeom>
          <a:solidFill>
            <a:srgbClr val="2E4057"/>
          </a:solidFill>
          <a:ln w="12700">
            <a:solidFill>
              <a:srgbClr val="2E4057"/>
            </a:solidFill>
            <a:prstDash val="solid"/>
          </a:ln>
        </p:spPr>
      </p:sp>
      <p:sp>
        <p:nvSpPr>
          <p:cNvPr id="8" name="Text 5"/>
          <p:cNvSpPr txBox="1"/>
          <p:nvPr/>
        </p:nvSpPr>
        <p:spPr>
          <a:xfrm>
            <a:off x="640080" y="1517904"/>
            <a:ext cx="2743200" cy="310896"/>
          </a:xfrm>
          <a:prstGeom prst="rect">
            <a:avLst/>
          </a:prstGeom>
          <a:noFill/>
          <a:ln/>
        </p:spPr>
        <p:txBody>
          <a:bodyPr wrap="square" lIns="0" tIns="0" rIns="0" bIns="0" rtlCol="0" anchor="ctr"/>
          <a:lstStyle/>
          <a:p>
            <a:pPr indent="0" marL="0">
              <a:buNone/>
            </a:pPr>
            <a:r>
              <a:rPr lang="en-US" sz="1050" b="1" dirty="0">
                <a:solidFill>
                  <a:srgbClr val="EDE7D8"/>
                </a:solidFill>
                <a:latin typeface="Calibri" pitchFamily="34" charset="0"/>
                <a:ea typeface="Calibri" pitchFamily="34" charset="-122"/>
                <a:cs typeface="Calibri" pitchFamily="34" charset="-120"/>
              </a:rPr>
              <a:t>Programme / source</a:t>
            </a:r>
            <a:endParaRPr lang="en-US" sz="1050" dirty="0"/>
          </a:p>
        </p:txBody>
      </p:sp>
      <p:sp>
        <p:nvSpPr>
          <p:cNvPr id="9" name="Text 6"/>
          <p:cNvSpPr txBox="1"/>
          <p:nvPr/>
        </p:nvSpPr>
        <p:spPr>
          <a:xfrm>
            <a:off x="3474720" y="1517904"/>
            <a:ext cx="2011680" cy="310896"/>
          </a:xfrm>
          <a:prstGeom prst="rect">
            <a:avLst/>
          </a:prstGeom>
          <a:noFill/>
          <a:ln/>
        </p:spPr>
        <p:txBody>
          <a:bodyPr wrap="square" lIns="0" tIns="0" rIns="0" bIns="0" rtlCol="0" anchor="ctr"/>
          <a:lstStyle/>
          <a:p>
            <a:pPr indent="0" marL="0">
              <a:buNone/>
            </a:pPr>
            <a:r>
              <a:rPr lang="en-US" sz="1050" b="1" dirty="0">
                <a:solidFill>
                  <a:srgbClr val="EDE7D8"/>
                </a:solidFill>
                <a:latin typeface="Calibri" pitchFamily="34" charset="0"/>
                <a:ea typeface="Calibri" pitchFamily="34" charset="-122"/>
                <a:cs typeface="Calibri" pitchFamily="34" charset="-120"/>
              </a:rPr>
              <a:t>What you can get</a:t>
            </a:r>
            <a:endParaRPr lang="en-US" sz="1050" dirty="0"/>
          </a:p>
        </p:txBody>
      </p:sp>
      <p:sp>
        <p:nvSpPr>
          <p:cNvPr id="10" name="Text 7"/>
          <p:cNvSpPr txBox="1"/>
          <p:nvPr/>
        </p:nvSpPr>
        <p:spPr>
          <a:xfrm>
            <a:off x="5623560" y="1517904"/>
            <a:ext cx="1463040" cy="310896"/>
          </a:xfrm>
          <a:prstGeom prst="rect">
            <a:avLst/>
          </a:prstGeom>
          <a:noFill/>
          <a:ln/>
        </p:spPr>
        <p:txBody>
          <a:bodyPr wrap="square" lIns="0" tIns="0" rIns="0" bIns="0" rtlCol="0" anchor="ctr"/>
          <a:lstStyle/>
          <a:p>
            <a:pPr indent="0" marL="0">
              <a:buNone/>
            </a:pPr>
            <a:r>
              <a:rPr lang="en-US" sz="1050" b="1" dirty="0">
                <a:solidFill>
                  <a:srgbClr val="EDE7D8"/>
                </a:solidFill>
                <a:latin typeface="Calibri" pitchFamily="34" charset="0"/>
                <a:ea typeface="Calibri" pitchFamily="34" charset="-122"/>
                <a:cs typeface="Calibri" pitchFamily="34" charset="-120"/>
              </a:rPr>
              <a:t>Match</a:t>
            </a:r>
            <a:endParaRPr lang="en-US" sz="1050" dirty="0"/>
          </a:p>
        </p:txBody>
      </p:sp>
      <p:sp>
        <p:nvSpPr>
          <p:cNvPr id="11" name="Text 8"/>
          <p:cNvSpPr txBox="1"/>
          <p:nvPr/>
        </p:nvSpPr>
        <p:spPr>
          <a:xfrm>
            <a:off x="7223760" y="1517904"/>
            <a:ext cx="4297680" cy="310896"/>
          </a:xfrm>
          <a:prstGeom prst="rect">
            <a:avLst/>
          </a:prstGeom>
          <a:noFill/>
          <a:ln/>
        </p:spPr>
        <p:txBody>
          <a:bodyPr wrap="square" lIns="0" tIns="0" rIns="0" bIns="0" rtlCol="0" anchor="ctr"/>
          <a:lstStyle/>
          <a:p>
            <a:pPr indent="0" marL="0">
              <a:buNone/>
            </a:pPr>
            <a:r>
              <a:rPr lang="en-US" sz="1050" b="1" dirty="0">
                <a:solidFill>
                  <a:srgbClr val="EDE7D8"/>
                </a:solidFill>
                <a:latin typeface="Calibri" pitchFamily="34" charset="0"/>
                <a:ea typeface="Calibri" pitchFamily="34" charset="-122"/>
                <a:cs typeface="Calibri" pitchFamily="34" charset="-120"/>
              </a:rPr>
              <a:t>Why it fits Kenyon's</a:t>
            </a:r>
            <a:endParaRPr lang="en-US" sz="1050" dirty="0"/>
          </a:p>
        </p:txBody>
      </p:sp>
      <p:sp>
        <p:nvSpPr>
          <p:cNvPr id="12" name="Shape 9"/>
          <p:cNvSpPr/>
          <p:nvPr/>
        </p:nvSpPr>
        <p:spPr>
          <a:xfrm>
            <a:off x="548640" y="5074920"/>
            <a:ext cx="5394960" cy="1280160"/>
          </a:xfrm>
          <a:prstGeom prst="roundRect">
            <a:avLst>
              <a:gd name="adj" fmla="val 5714"/>
            </a:avLst>
          </a:prstGeom>
          <a:solidFill>
            <a:srgbClr val="EDE7D8"/>
          </a:solidFill>
          <a:ln w="9525">
            <a:solidFill>
              <a:srgbClr val="D9C7A3"/>
            </a:solidFill>
            <a:prstDash val="solid"/>
          </a:ln>
          <a:effectLst>
            <a:outerShdw sx="100000" sy="100000" kx="0" ky="0" algn="bl" rotWithShape="0" blurRad="127000" dist="25400" dir="5400000">
              <a:srgbClr val="9A9488">
                <a:alpha val="28000"/>
              </a:srgbClr>
            </a:outerShdw>
          </a:effectLst>
        </p:spPr>
      </p:sp>
      <p:sp>
        <p:nvSpPr>
          <p:cNvPr id="13" name="Text 10"/>
          <p:cNvSpPr txBox="1"/>
          <p:nvPr/>
        </p:nvSpPr>
        <p:spPr>
          <a:xfrm>
            <a:off x="822960" y="5221224"/>
            <a:ext cx="3657600" cy="256032"/>
          </a:xfrm>
          <a:prstGeom prst="rect">
            <a:avLst/>
          </a:prstGeom>
          <a:noFill/>
          <a:ln/>
        </p:spPr>
        <p:txBody>
          <a:bodyPr wrap="square" lIns="0" tIns="0" rIns="0" bIns="0" rtlCol="0" anchor="ctr"/>
          <a:lstStyle/>
          <a:p>
            <a:pPr indent="0" marL="0">
              <a:buNone/>
            </a:pPr>
            <a:r>
              <a:rPr lang="en-US" sz="1150" b="1" spc="160" kern="0" dirty="0">
                <a:solidFill>
                  <a:srgbClr val="34503C"/>
                </a:solidFill>
                <a:latin typeface="Calibri" pitchFamily="34" charset="0"/>
                <a:ea typeface="Calibri" pitchFamily="34" charset="-122"/>
                <a:cs typeface="Calibri" pitchFamily="34" charset="-120"/>
              </a:rPr>
              <a:t>WHERE IT HELPS</a:t>
            </a:r>
            <a:endParaRPr lang="en-US" sz="1150" dirty="0"/>
          </a:p>
        </p:txBody>
      </p:sp>
      <p:sp>
        <p:nvSpPr>
          <p:cNvPr id="14" name="Text 11"/>
          <p:cNvSpPr txBox="1"/>
          <p:nvPr/>
        </p:nvSpPr>
        <p:spPr>
          <a:xfrm>
            <a:off x="822960" y="5550408"/>
            <a:ext cx="4846320" cy="749808"/>
          </a:xfrm>
          <a:prstGeom prst="rect">
            <a:avLst/>
          </a:prstGeom>
          <a:noFill/>
          <a:ln/>
        </p:spPr>
        <p:txBody>
          <a:bodyPr wrap="square" lIns="0" tIns="0" rIns="0" bIns="0" rtlCol="0" anchor="t"/>
          <a:lstStyle/>
          <a:p>
            <a:pPr marL="177800" indent="-177800">
              <a:lnSpc>
                <a:spcPct val="105000"/>
              </a:lnSpc>
              <a:spcAft>
                <a:spcPts val="300"/>
              </a:spcAft>
              <a:buSzPct val="100000"/>
              <a:buChar char="•"/>
            </a:pPr>
            <a:r>
              <a:rPr lang="en-US" sz="1150" dirty="0">
                <a:solidFill>
                  <a:srgbClr val="2B2A28"/>
                </a:solidFill>
                <a:latin typeface="Calibri" pitchFamily="34" charset="0"/>
                <a:ea typeface="Calibri" pitchFamily="34" charset="-122"/>
                <a:cs typeface="Calibri" pitchFamily="34" charset="-120"/>
              </a:rPr>
              <a:t>Never repaid, and it costs you no ownership</a:t>
            </a:r>
            <a:endParaRPr lang="en-US" sz="1150" dirty="0"/>
          </a:p>
          <a:p>
            <a:pPr marL="177800" indent="-177800">
              <a:lnSpc>
                <a:spcPct val="105000"/>
              </a:lnSpc>
              <a:spcAft>
                <a:spcPts val="300"/>
              </a:spcAft>
              <a:buSzPct val="100000"/>
              <a:buChar char="•"/>
            </a:pPr>
            <a:r>
              <a:rPr lang="en-US" sz="1150" dirty="0">
                <a:solidFill>
                  <a:srgbClr val="2B2A28"/>
                </a:solidFill>
                <a:latin typeface="Calibri" pitchFamily="34" charset="0"/>
                <a:ea typeface="Calibri" pitchFamily="34" charset="-122"/>
                <a:cs typeface="Calibri" pitchFamily="34" charset="-120"/>
              </a:rPr>
              <a:t>Repeatable — winning one makes the next easier</a:t>
            </a:r>
            <a:endParaRPr lang="en-US" sz="1150" dirty="0"/>
          </a:p>
          <a:p>
            <a:pPr marL="177800" indent="-177800">
              <a:lnSpc>
                <a:spcPct val="105000"/>
              </a:lnSpc>
              <a:spcAft>
                <a:spcPts val="300"/>
              </a:spcAft>
              <a:buSzPct val="100000"/>
              <a:buChar char="•"/>
            </a:pPr>
            <a:r>
              <a:rPr lang="en-US" sz="1150" dirty="0">
                <a:solidFill>
                  <a:srgbClr val="2B2A28"/>
                </a:solidFill>
                <a:latin typeface="Calibri" pitchFamily="34" charset="0"/>
                <a:ea typeface="Calibri" pitchFamily="34" charset="-122"/>
                <a:cs typeface="Calibri" pitchFamily="34" charset="-120"/>
              </a:rPr>
              <a:t>The diligence itself forces a real project plan</a:t>
            </a:r>
            <a:endParaRPr lang="en-US" sz="1150" dirty="0"/>
          </a:p>
        </p:txBody>
      </p:sp>
      <p:sp>
        <p:nvSpPr>
          <p:cNvPr id="15" name="Shape 12"/>
          <p:cNvSpPr/>
          <p:nvPr/>
        </p:nvSpPr>
        <p:spPr>
          <a:xfrm>
            <a:off x="6248095" y="5074920"/>
            <a:ext cx="5394960" cy="1280160"/>
          </a:xfrm>
          <a:prstGeom prst="roundRect">
            <a:avLst>
              <a:gd name="adj" fmla="val 5714"/>
            </a:avLst>
          </a:prstGeom>
          <a:solidFill>
            <a:srgbClr val="EDE7D8"/>
          </a:solidFill>
          <a:ln w="9525">
            <a:solidFill>
              <a:srgbClr val="D9C7A3"/>
            </a:solidFill>
            <a:prstDash val="solid"/>
          </a:ln>
          <a:effectLst>
            <a:outerShdw sx="100000" sy="100000" kx="0" ky="0" algn="bl" rotWithShape="0" blurRad="127000" dist="25400" dir="5400000">
              <a:srgbClr val="9A9488">
                <a:alpha val="28000"/>
              </a:srgbClr>
            </a:outerShdw>
          </a:effectLst>
        </p:spPr>
      </p:sp>
      <p:sp>
        <p:nvSpPr>
          <p:cNvPr id="16" name="Text 13"/>
          <p:cNvSpPr txBox="1"/>
          <p:nvPr/>
        </p:nvSpPr>
        <p:spPr>
          <a:xfrm>
            <a:off x="6522415" y="5221224"/>
            <a:ext cx="4114800" cy="256032"/>
          </a:xfrm>
          <a:prstGeom prst="rect">
            <a:avLst/>
          </a:prstGeom>
          <a:noFill/>
          <a:ln/>
        </p:spPr>
        <p:txBody>
          <a:bodyPr wrap="square" lIns="0" tIns="0" rIns="0" bIns="0" rtlCol="0" anchor="ctr"/>
          <a:lstStyle/>
          <a:p>
            <a:pPr indent="0" marL="0">
              <a:buNone/>
            </a:pPr>
            <a:r>
              <a:rPr lang="en-US" sz="1150" b="1" spc="160" kern="0" dirty="0">
                <a:solidFill>
                  <a:srgbClr val="8C3A2B"/>
                </a:solidFill>
                <a:latin typeface="Calibri" pitchFamily="34" charset="0"/>
                <a:ea typeface="Calibri" pitchFamily="34" charset="-122"/>
                <a:cs typeface="Calibri" pitchFamily="34" charset="-120"/>
              </a:rPr>
              <a:t>WHERE IT COSTS YOU</a:t>
            </a:r>
            <a:endParaRPr lang="en-US" sz="1150" dirty="0"/>
          </a:p>
        </p:txBody>
      </p:sp>
      <p:sp>
        <p:nvSpPr>
          <p:cNvPr id="17" name="Text 14"/>
          <p:cNvSpPr txBox="1"/>
          <p:nvPr/>
        </p:nvSpPr>
        <p:spPr>
          <a:xfrm>
            <a:off x="6522415" y="5550408"/>
            <a:ext cx="4846320" cy="749808"/>
          </a:xfrm>
          <a:prstGeom prst="rect">
            <a:avLst/>
          </a:prstGeom>
          <a:noFill/>
          <a:ln/>
        </p:spPr>
        <p:txBody>
          <a:bodyPr wrap="square" lIns="0" tIns="0" rIns="0" bIns="0" rtlCol="0" anchor="t"/>
          <a:lstStyle/>
          <a:p>
            <a:pPr marL="177800" indent="-177800">
              <a:lnSpc>
                <a:spcPct val="105000"/>
              </a:lnSpc>
              <a:spcAft>
                <a:spcPts val="300"/>
              </a:spcAft>
              <a:buSzPct val="100000"/>
              <a:buChar char="•"/>
            </a:pPr>
            <a:r>
              <a:rPr lang="en-US" sz="1150" dirty="0">
                <a:solidFill>
                  <a:srgbClr val="2B2A28"/>
                </a:solidFill>
                <a:latin typeface="Calibri" pitchFamily="34" charset="0"/>
                <a:ea typeface="Calibri" pitchFamily="34" charset="-122"/>
                <a:cs typeface="Calibri" pitchFamily="34" charset="-120"/>
              </a:rPr>
              <a:t>Six to twelve months from application to cash</a:t>
            </a:r>
            <a:endParaRPr lang="en-US" sz="1150" dirty="0"/>
          </a:p>
          <a:p>
            <a:pPr marL="177800" indent="-177800">
              <a:lnSpc>
                <a:spcPct val="105000"/>
              </a:lnSpc>
              <a:spcAft>
                <a:spcPts val="300"/>
              </a:spcAft>
              <a:buSzPct val="100000"/>
              <a:buChar char="•"/>
            </a:pPr>
            <a:r>
              <a:rPr lang="en-US" sz="1150" dirty="0">
                <a:solidFill>
                  <a:srgbClr val="2B2A28"/>
                </a:solidFill>
                <a:latin typeface="Calibri" pitchFamily="34" charset="0"/>
                <a:ea typeface="Calibri" pitchFamily="34" charset="-122"/>
                <a:cs typeface="Calibri" pitchFamily="34" charset="-120"/>
              </a:rPr>
              <a:t>Match requirements mean you still need capital first</a:t>
            </a:r>
            <a:endParaRPr lang="en-US" sz="1150" dirty="0"/>
          </a:p>
          <a:p>
            <a:pPr marL="177800" indent="-177800">
              <a:lnSpc>
                <a:spcPct val="105000"/>
              </a:lnSpc>
              <a:spcAft>
                <a:spcPts val="300"/>
              </a:spcAft>
              <a:buSzPct val="100000"/>
              <a:buChar char="•"/>
            </a:pPr>
            <a:r>
              <a:rPr lang="en-US" sz="1150" dirty="0">
                <a:solidFill>
                  <a:srgbClr val="2B2A28"/>
                </a:solidFill>
                <a:latin typeface="Calibri" pitchFamily="34" charset="0"/>
                <a:ea typeface="Calibri" pitchFamily="34" charset="-122"/>
                <a:cs typeface="Calibri" pitchFamily="34" charset="-120"/>
              </a:rPr>
              <a:t>Restricted to the project — never payroll, never losses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548640" y="457200"/>
            <a:ext cx="475488" cy="475488"/>
          </a:xfrm>
          <a:prstGeom prst="ellipse">
            <a:avLst/>
          </a:prstGeom>
          <a:solidFill>
            <a:srgbClr val="8C3A2B"/>
          </a:solidFill>
          <a:ln w="12700">
            <a:solidFill>
              <a:srgbClr val="8C3A2B"/>
            </a:solidFill>
            <a:prstDash val="solid"/>
          </a:ln>
        </p:spPr>
      </p:sp>
      <p:sp>
        <p:nvSpPr>
          <p:cNvPr id="3" name="Text 1"/>
          <p:cNvSpPr txBox="1"/>
          <p:nvPr/>
        </p:nvSpPr>
        <p:spPr>
          <a:xfrm>
            <a:off x="548640" y="457200"/>
            <a:ext cx="475488" cy="475488"/>
          </a:xfrm>
          <a:prstGeom prst="rect">
            <a:avLst/>
          </a:prstGeom>
          <a:noFill/>
          <a:ln/>
        </p:spPr>
        <p:txBody>
          <a:bodyPr wrap="square" lIns="0" tIns="0" rIns="0" bIns="0" rtlCol="0" anchor="ctr"/>
          <a:lstStyle/>
          <a:p>
            <a:pPr algn="ctr" indent="0" marL="0">
              <a:buNone/>
            </a:pPr>
            <a:r>
              <a:rPr lang="en-US" sz="1500" b="1" dirty="0">
                <a:solidFill>
                  <a:srgbClr val="EDE7D8"/>
                </a:solidFill>
                <a:latin typeface="Cambria" pitchFamily="34" charset="0"/>
                <a:ea typeface="Cambria" pitchFamily="34" charset="-122"/>
                <a:cs typeface="Cambria" pitchFamily="34" charset="-120"/>
              </a:rPr>
              <a:t>04</a:t>
            </a:r>
            <a:endParaRPr lang="en-US" sz="1500" dirty="0"/>
          </a:p>
        </p:txBody>
      </p:sp>
      <p:sp>
        <p:nvSpPr>
          <p:cNvPr id="4" name="Text 2"/>
          <p:cNvSpPr txBox="1"/>
          <p:nvPr/>
        </p:nvSpPr>
        <p:spPr>
          <a:xfrm>
            <a:off x="1170432" y="420624"/>
            <a:ext cx="10241280" cy="548640"/>
          </a:xfrm>
          <a:prstGeom prst="rect">
            <a:avLst/>
          </a:prstGeom>
          <a:noFill/>
          <a:ln/>
        </p:spPr>
        <p:txBody>
          <a:bodyPr wrap="square" lIns="0" tIns="0" rIns="0" bIns="0" rtlCol="0" anchor="ctr"/>
          <a:lstStyle/>
          <a:p>
            <a:pPr indent="0" marL="0">
              <a:buNone/>
            </a:pPr>
            <a:r>
              <a:rPr lang="en-US" sz="3400" b="1" dirty="0">
                <a:solidFill>
                  <a:srgbClr val="2B2A28"/>
                </a:solidFill>
                <a:latin typeface="Cambria" pitchFamily="34" charset="0"/>
                <a:ea typeface="Cambria" pitchFamily="34" charset="-122"/>
                <a:cs typeface="Cambria" pitchFamily="34" charset="-120"/>
              </a:rPr>
              <a:t>Ask for it</a:t>
            </a:r>
            <a:endParaRPr lang="en-US" sz="3400" dirty="0"/>
          </a:p>
        </p:txBody>
      </p:sp>
      <p:sp>
        <p:nvSpPr>
          <p:cNvPr id="5" name="Text 3"/>
          <p:cNvSpPr txBox="1"/>
          <p:nvPr/>
        </p:nvSpPr>
        <p:spPr>
          <a:xfrm>
            <a:off x="548640" y="1024128"/>
            <a:ext cx="10881360" cy="292608"/>
          </a:xfrm>
          <a:prstGeom prst="rect">
            <a:avLst/>
          </a:prstGeom>
          <a:noFill/>
          <a:ln/>
        </p:spPr>
        <p:txBody>
          <a:bodyPr wrap="square" lIns="0" tIns="0" rIns="0" bIns="0" rtlCol="0" anchor="ctr"/>
          <a:lstStyle/>
          <a:p>
            <a:pPr indent="0" marL="0">
              <a:buNone/>
            </a:pPr>
            <a:r>
              <a:rPr lang="en-US" sz="1400" dirty="0">
                <a:solidFill>
                  <a:srgbClr val="4A5359"/>
                </a:solidFill>
                <a:latin typeface="Calibri" pitchFamily="34" charset="0"/>
                <a:ea typeface="Calibri" pitchFamily="34" charset="-122"/>
                <a:cs typeface="Calibri" pitchFamily="34" charset="-120"/>
              </a:rPr>
              <a:t>Donations, memberships, sponsorship and crowdfunding — the only capital that prices 330 years of heritage.</a:t>
            </a:r>
            <a:endParaRPr lang="en-US" sz="1400" dirty="0"/>
          </a:p>
        </p:txBody>
      </p:sp>
      <p:sp>
        <p:nvSpPr>
          <p:cNvPr id="6" name="Shape 4"/>
          <p:cNvSpPr/>
          <p:nvPr/>
        </p:nvSpPr>
        <p:spPr>
          <a:xfrm>
            <a:off x="548640" y="1353312"/>
            <a:ext cx="11094415" cy="1024128"/>
          </a:xfrm>
          <a:prstGeom prst="roundRect">
            <a:avLst>
              <a:gd name="adj" fmla="val 5357"/>
            </a:avLst>
          </a:prstGeom>
          <a:solidFill>
            <a:srgbClr val="2B2A28"/>
          </a:solidFill>
          <a:ln w="12700">
            <a:solidFill>
              <a:srgbClr val="2B2A28"/>
            </a:solidFill>
            <a:prstDash val="solid"/>
          </a:ln>
        </p:spPr>
      </p:sp>
      <p:sp>
        <p:nvSpPr>
          <p:cNvPr id="7" name="Text 5"/>
          <p:cNvSpPr txBox="1"/>
          <p:nvPr/>
        </p:nvSpPr>
        <p:spPr>
          <a:xfrm>
            <a:off x="868680" y="1444752"/>
            <a:ext cx="10454335" cy="841248"/>
          </a:xfrm>
          <a:prstGeom prst="rect">
            <a:avLst/>
          </a:prstGeom>
          <a:noFill/>
          <a:ln/>
        </p:spPr>
        <p:txBody>
          <a:bodyPr wrap="square" lIns="0" tIns="0" rIns="0" bIns="0" rtlCol="0" anchor="ctr"/>
          <a:lstStyle/>
          <a:p>
            <a:pPr indent="0" marL="0">
              <a:lnSpc>
                <a:spcPct val="112000"/>
              </a:lnSpc>
              <a:buNone/>
            </a:pPr>
            <a:r>
              <a:rPr lang="en-US" sz="1250" b="1" dirty="0">
                <a:solidFill>
                  <a:srgbClr val="C8922F"/>
                </a:solidFill>
                <a:latin typeface="Calibri" pitchFamily="34" charset="0"/>
                <a:ea typeface="Calibri" pitchFamily="34" charset="-122"/>
                <a:cs typeface="Calibri" pitchFamily="34" charset="-120"/>
              </a:rPr>
              <a:t>The fork.  </a:t>
            </a:r>
            <a:pPr indent="0" marL="0">
              <a:lnSpc>
                <a:spcPct val="112000"/>
              </a:lnSpc>
              <a:buNone/>
            </a:pPr>
            <a:r>
              <a:rPr lang="en-US" sz="1250" dirty="0">
                <a:solidFill>
                  <a:srgbClr val="EDE7D8"/>
                </a:solidFill>
                <a:latin typeface="Calibri" pitchFamily="34" charset="0"/>
                <a:ea typeface="Calibri" pitchFamily="34" charset="-122"/>
                <a:cs typeface="Calibri" pitchFamily="34" charset="-120"/>
              </a:rPr>
              <a:t>Kenyon's Grist Mill, LLC is a for-profit, so a gift to it is not tax-deductible and the preservation funders — the National Trust, the 1772 Foundation — take nonprofit applicants only. Two unsettled facts decide the rest: whether a Friends of Kenyon's Grist Mill 501(c)(3) exists, and who owns the mill building — rent ran about $33,650 in 2024, and most preservation money requires ownership or a long lease.</a:t>
            </a:r>
            <a:endParaRPr lang="en-US" sz="1250" dirty="0"/>
          </a:p>
        </p:txBody>
      </p:sp>
      <p:sp>
        <p:nvSpPr>
          <p:cNvPr id="8" name="Shape 6"/>
          <p:cNvSpPr/>
          <p:nvPr/>
        </p:nvSpPr>
        <p:spPr>
          <a:xfrm>
            <a:off x="548640" y="2487168"/>
            <a:ext cx="5394960" cy="2286000"/>
          </a:xfrm>
          <a:prstGeom prst="roundRect">
            <a:avLst>
              <a:gd name="adj" fmla="val 3200"/>
            </a:avLst>
          </a:prstGeom>
          <a:solidFill>
            <a:srgbClr val="EDE7D8"/>
          </a:solidFill>
          <a:ln w="9525">
            <a:solidFill>
              <a:srgbClr val="D9C7A3"/>
            </a:solidFill>
            <a:prstDash val="solid"/>
          </a:ln>
          <a:effectLst>
            <a:outerShdw sx="100000" sy="100000" kx="0" ky="0" algn="bl" rotWithShape="0" blurRad="127000" dist="25400" dir="5400000">
              <a:srgbClr val="9A9488">
                <a:alpha val="28000"/>
              </a:srgbClr>
            </a:outerShdw>
          </a:effectLst>
        </p:spPr>
      </p:sp>
      <p:sp>
        <p:nvSpPr>
          <p:cNvPr id="9" name="Text 7"/>
          <p:cNvSpPr txBox="1"/>
          <p:nvPr/>
        </p:nvSpPr>
        <p:spPr>
          <a:xfrm>
            <a:off x="822960" y="2633472"/>
            <a:ext cx="4572000" cy="256032"/>
          </a:xfrm>
          <a:prstGeom prst="rect">
            <a:avLst/>
          </a:prstGeom>
          <a:noFill/>
          <a:ln/>
        </p:spPr>
        <p:txBody>
          <a:bodyPr wrap="square" lIns="0" tIns="0" rIns="0" bIns="0" rtlCol="0" anchor="ctr"/>
          <a:lstStyle/>
          <a:p>
            <a:pPr indent="0" marL="0">
              <a:buNone/>
            </a:pPr>
            <a:r>
              <a:rPr lang="en-US" sz="1100" b="1" spc="160" kern="0" dirty="0">
                <a:solidFill>
                  <a:srgbClr val="34503C"/>
                </a:solidFill>
                <a:latin typeface="Calibri" pitchFamily="34" charset="0"/>
                <a:ea typeface="Calibri" pitchFamily="34" charset="-122"/>
                <a:cs typeface="Calibri" pitchFamily="34" charset="-120"/>
              </a:rPr>
              <a:t>WITH A 501(C)(3) — OR A FISCAL SPONSOR</a:t>
            </a:r>
            <a:endParaRPr lang="en-US" sz="1100" dirty="0"/>
          </a:p>
        </p:txBody>
      </p:sp>
      <p:sp>
        <p:nvSpPr>
          <p:cNvPr id="10" name="Text 8"/>
          <p:cNvSpPr txBox="1"/>
          <p:nvPr/>
        </p:nvSpPr>
        <p:spPr>
          <a:xfrm>
            <a:off x="822960" y="2962656"/>
            <a:ext cx="4846320" cy="1691640"/>
          </a:xfrm>
          <a:prstGeom prst="rect">
            <a:avLst/>
          </a:prstGeom>
          <a:noFill/>
          <a:ln/>
        </p:spPr>
        <p:txBody>
          <a:bodyPr wrap="square" lIns="0" tIns="0" rIns="0" bIns="0" rtlCol="0" anchor="t"/>
          <a:lstStyle/>
          <a:p>
            <a:pPr marL="177800" indent="-177800">
              <a:lnSpc>
                <a:spcPct val="105000"/>
              </a:lnSpc>
              <a:spcAft>
                <a:spcPts val="500"/>
              </a:spcAft>
              <a:buSzPct val="100000"/>
              <a:buChar char="•"/>
            </a:pPr>
            <a:r>
              <a:rPr lang="en-US" sz="1050" dirty="0">
                <a:solidFill>
                  <a:srgbClr val="2B2A28"/>
                </a:solidFill>
                <a:latin typeface="Calibri" pitchFamily="34" charset="0"/>
                <a:ea typeface="Calibri" pitchFamily="34" charset="-122"/>
                <a:cs typeface="Calibri" pitchFamily="34" charset="-120"/>
              </a:rPr>
              <a:t>1772 Foundation / Preserve RI matching grants — up to $10,000, 1:1 match, for roof, sill, window, masonry and paint work. 2027 round expected.</a:t>
            </a:r>
            <a:endParaRPr lang="en-US" sz="1050" dirty="0"/>
          </a:p>
          <a:p>
            <a:pPr marL="177800" indent="-177800">
              <a:lnSpc>
                <a:spcPct val="105000"/>
              </a:lnSpc>
              <a:spcAft>
                <a:spcPts val="500"/>
              </a:spcAft>
              <a:buSzPct val="100000"/>
              <a:buChar char="•"/>
            </a:pPr>
            <a:r>
              <a:rPr lang="en-US" sz="1050" dirty="0">
                <a:solidFill>
                  <a:srgbClr val="2B2A28"/>
                </a:solidFill>
                <a:latin typeface="Calibri" pitchFamily="34" charset="0"/>
                <a:ea typeface="Calibri" pitchFamily="34" charset="-122"/>
                <a:cs typeface="Calibri" pitchFamily="34" charset="-120"/>
              </a:rPr>
              <a:t>National Trust Preservation Funds — $2,500–$5,000, deadlines each February, June and October. Nonprofits only.</a:t>
            </a:r>
            <a:endParaRPr lang="en-US" sz="1050" dirty="0"/>
          </a:p>
          <a:p>
            <a:pPr marL="177800" indent="-177800">
              <a:lnSpc>
                <a:spcPct val="105000"/>
              </a:lnSpc>
              <a:spcAft>
                <a:spcPts val="500"/>
              </a:spcAft>
              <a:buSzPct val="100000"/>
              <a:buChar char="•"/>
            </a:pPr>
            <a:r>
              <a:rPr lang="en-US" sz="1050" dirty="0">
                <a:solidFill>
                  <a:srgbClr val="2B2A28"/>
                </a:solidFill>
                <a:latin typeface="Calibri" pitchFamily="34" charset="0"/>
                <a:ea typeface="Calibri" pitchFamily="34" charset="-122"/>
                <a:cs typeface="Calibri" pitchFamily="34" charset="-120"/>
              </a:rPr>
              <a:t>Tax-deductible gifts, memberships, sponsorships and bequests — a Friends list that renews every year.</a:t>
            </a:r>
            <a:endParaRPr lang="en-US" sz="1050" dirty="0"/>
          </a:p>
          <a:p>
            <a:pPr marL="177800" indent="-177800">
              <a:lnSpc>
                <a:spcPct val="105000"/>
              </a:lnSpc>
              <a:spcAft>
                <a:spcPts val="500"/>
              </a:spcAft>
              <a:buSzPct val="100000"/>
              <a:buChar char="•"/>
            </a:pPr>
            <a:r>
              <a:rPr lang="en-US" sz="1050" dirty="0">
                <a:solidFill>
                  <a:srgbClr val="2B2A28"/>
                </a:solidFill>
                <a:latin typeface="Calibri" pitchFamily="34" charset="0"/>
                <a:ea typeface="Calibri" pitchFamily="34" charset="-122"/>
                <a:cs typeface="Calibri" pitchFamily="34" charset="-120"/>
              </a:rPr>
              <a:t>Fiscal sponsorship is the shortcut: an existing charity receives gifts for you, typically for 5–10%, in weeks not months.</a:t>
            </a:r>
            <a:endParaRPr lang="en-US" sz="1050" dirty="0"/>
          </a:p>
        </p:txBody>
      </p:sp>
      <p:sp>
        <p:nvSpPr>
          <p:cNvPr id="11" name="Shape 9"/>
          <p:cNvSpPr/>
          <p:nvPr/>
        </p:nvSpPr>
        <p:spPr>
          <a:xfrm>
            <a:off x="6248095" y="2487168"/>
            <a:ext cx="5394960" cy="2286000"/>
          </a:xfrm>
          <a:prstGeom prst="roundRect">
            <a:avLst>
              <a:gd name="adj" fmla="val 3200"/>
            </a:avLst>
          </a:prstGeom>
          <a:solidFill>
            <a:srgbClr val="EDE7D8"/>
          </a:solidFill>
          <a:ln w="9525">
            <a:solidFill>
              <a:srgbClr val="D9C7A3"/>
            </a:solidFill>
            <a:prstDash val="solid"/>
          </a:ln>
          <a:effectLst>
            <a:outerShdw sx="100000" sy="100000" kx="0" ky="0" algn="bl" rotWithShape="0" blurRad="127000" dist="25400" dir="5400000">
              <a:srgbClr val="9A9488">
                <a:alpha val="28000"/>
              </a:srgbClr>
            </a:outerShdw>
          </a:effectLst>
        </p:spPr>
      </p:sp>
      <p:sp>
        <p:nvSpPr>
          <p:cNvPr id="12" name="Text 10"/>
          <p:cNvSpPr txBox="1"/>
          <p:nvPr/>
        </p:nvSpPr>
        <p:spPr>
          <a:xfrm>
            <a:off x="6522415" y="2633472"/>
            <a:ext cx="4754880" cy="256032"/>
          </a:xfrm>
          <a:prstGeom prst="rect">
            <a:avLst/>
          </a:prstGeom>
          <a:noFill/>
          <a:ln/>
        </p:spPr>
        <p:txBody>
          <a:bodyPr wrap="square" lIns="0" tIns="0" rIns="0" bIns="0" rtlCol="0" anchor="ctr"/>
          <a:lstStyle/>
          <a:p>
            <a:pPr indent="0" marL="0">
              <a:buNone/>
            </a:pPr>
            <a:r>
              <a:rPr lang="en-US" sz="1100" b="1" spc="160" kern="0" dirty="0">
                <a:solidFill>
                  <a:srgbClr val="8A6115"/>
                </a:solidFill>
                <a:latin typeface="Calibri" pitchFamily="34" charset="0"/>
                <a:ea typeface="Calibri" pitchFamily="34" charset="-122"/>
                <a:cs typeface="Calibri" pitchFamily="34" charset="-120"/>
              </a:rPr>
              <a:t>WHAT THE LLC CAN RAISE WITH NO NONPROFIT</a:t>
            </a:r>
            <a:endParaRPr lang="en-US" sz="1100" dirty="0"/>
          </a:p>
        </p:txBody>
      </p:sp>
      <p:sp>
        <p:nvSpPr>
          <p:cNvPr id="13" name="Text 11"/>
          <p:cNvSpPr txBox="1"/>
          <p:nvPr/>
        </p:nvSpPr>
        <p:spPr>
          <a:xfrm>
            <a:off x="6522415" y="2962656"/>
            <a:ext cx="4846320" cy="1691640"/>
          </a:xfrm>
          <a:prstGeom prst="rect">
            <a:avLst/>
          </a:prstGeom>
          <a:noFill/>
          <a:ln/>
        </p:spPr>
        <p:txBody>
          <a:bodyPr wrap="square" lIns="0" tIns="0" rIns="0" bIns="0" rtlCol="0" anchor="t"/>
          <a:lstStyle/>
          <a:p>
            <a:pPr marL="177800" indent="-177800">
              <a:lnSpc>
                <a:spcPct val="105000"/>
              </a:lnSpc>
              <a:spcAft>
                <a:spcPts val="500"/>
              </a:spcAft>
              <a:buSzPct val="100000"/>
              <a:buChar char="•"/>
            </a:pPr>
            <a:r>
              <a:rPr lang="en-US" sz="1050" dirty="0">
                <a:solidFill>
                  <a:srgbClr val="2B2A28"/>
                </a:solidFill>
                <a:latin typeface="Calibri" pitchFamily="34" charset="0"/>
                <a:ea typeface="Calibri" pitchFamily="34" charset="-122"/>
                <a:cs typeface="Calibri" pitchFamily="34" charset="-120"/>
              </a:rPr>
              <a:t>RI historic tax credit — 20% of qualified rehabilitation spend on an income-producing historic building. Not a gift, but the largest non-dilutive number here.</a:t>
            </a:r>
            <a:endParaRPr lang="en-US" sz="1050" dirty="0"/>
          </a:p>
          <a:p>
            <a:pPr marL="177800" indent="-177800">
              <a:lnSpc>
                <a:spcPct val="105000"/>
              </a:lnSpc>
              <a:spcAft>
                <a:spcPts val="500"/>
              </a:spcAft>
              <a:buSzPct val="100000"/>
              <a:buChar char="•"/>
            </a:pPr>
            <a:r>
              <a:rPr lang="en-US" sz="1050" dirty="0">
                <a:solidFill>
                  <a:srgbClr val="2B2A28"/>
                </a:solidFill>
                <a:latin typeface="Calibri" pitchFamily="34" charset="0"/>
                <a:ea typeface="Calibri" pitchFamily="34" charset="-122"/>
                <a:cs typeface="Calibri" pitchFamily="34" charset="-120"/>
              </a:rPr>
              <a:t>Rewards crowdfunding — Kickstarter and the like are pre-sales, not gifts: taxable revenue, no deduction for the backer, and you owe product.</a:t>
            </a:r>
            <a:endParaRPr lang="en-US" sz="1050" dirty="0"/>
          </a:p>
          <a:p>
            <a:pPr marL="177800" indent="-177800">
              <a:lnSpc>
                <a:spcPct val="105000"/>
              </a:lnSpc>
              <a:spcAft>
                <a:spcPts val="500"/>
              </a:spcAft>
              <a:buSzPct val="100000"/>
              <a:buChar char="•"/>
            </a:pPr>
            <a:r>
              <a:rPr lang="en-US" sz="1050" dirty="0">
                <a:solidFill>
                  <a:srgbClr val="2B2A28"/>
                </a:solidFill>
                <a:latin typeface="Calibri" pitchFamily="34" charset="0"/>
                <a:ea typeface="Calibri" pitchFamily="34" charset="-122"/>
                <a:cs typeface="Calibri" pitchFamily="34" charset="-120"/>
              </a:rPr>
              <a:t>Corporate sponsorship of an event or the Johnny Cake Festival — a marketing spend for them, ordinary income for you.</a:t>
            </a:r>
            <a:endParaRPr lang="en-US" sz="1050" dirty="0"/>
          </a:p>
          <a:p>
            <a:pPr marL="177800" indent="-177800">
              <a:lnSpc>
                <a:spcPct val="105000"/>
              </a:lnSpc>
              <a:spcAft>
                <a:spcPts val="500"/>
              </a:spcAft>
              <a:buSzPct val="100000"/>
              <a:buChar char="•"/>
            </a:pPr>
            <a:r>
              <a:rPr lang="en-US" sz="1050" dirty="0">
                <a:solidFill>
                  <a:srgbClr val="2B2A28"/>
                </a:solidFill>
                <a:latin typeface="Calibri" pitchFamily="34" charset="0"/>
                <a:ea typeface="Calibri" pitchFamily="34" charset="-122"/>
                <a:cs typeface="Calibri" pitchFamily="34" charset="-120"/>
              </a:rPr>
              <a:t>In-kind labour, materials and professional services, which also count as match on the USDA grant.</a:t>
            </a:r>
            <a:endParaRPr lang="en-US" sz="1050" dirty="0"/>
          </a:p>
        </p:txBody>
      </p:sp>
      <p:sp>
        <p:nvSpPr>
          <p:cNvPr id="14" name="Shape 12"/>
          <p:cNvSpPr/>
          <p:nvPr/>
        </p:nvSpPr>
        <p:spPr>
          <a:xfrm>
            <a:off x="548640" y="4974336"/>
            <a:ext cx="5394960" cy="1353312"/>
          </a:xfrm>
          <a:prstGeom prst="roundRect">
            <a:avLst>
              <a:gd name="adj" fmla="val 5405"/>
            </a:avLst>
          </a:prstGeom>
          <a:solidFill>
            <a:srgbClr val="EDE7D8"/>
          </a:solidFill>
          <a:ln w="9525">
            <a:solidFill>
              <a:srgbClr val="D9C7A3"/>
            </a:solidFill>
            <a:prstDash val="solid"/>
          </a:ln>
          <a:effectLst>
            <a:outerShdw sx="100000" sy="100000" kx="0" ky="0" algn="bl" rotWithShape="0" blurRad="127000" dist="25400" dir="5400000">
              <a:srgbClr val="9A9488">
                <a:alpha val="28000"/>
              </a:srgbClr>
            </a:outerShdw>
          </a:effectLst>
        </p:spPr>
      </p:sp>
      <p:sp>
        <p:nvSpPr>
          <p:cNvPr id="15" name="Text 13"/>
          <p:cNvSpPr txBox="1"/>
          <p:nvPr/>
        </p:nvSpPr>
        <p:spPr>
          <a:xfrm>
            <a:off x="822960" y="5093208"/>
            <a:ext cx="3657600" cy="256032"/>
          </a:xfrm>
          <a:prstGeom prst="rect">
            <a:avLst/>
          </a:prstGeom>
          <a:noFill/>
          <a:ln/>
        </p:spPr>
        <p:txBody>
          <a:bodyPr wrap="square" lIns="0" tIns="0" rIns="0" bIns="0" rtlCol="0" anchor="ctr"/>
          <a:lstStyle/>
          <a:p>
            <a:pPr indent="0" marL="0">
              <a:buNone/>
            </a:pPr>
            <a:r>
              <a:rPr lang="en-US" sz="1150" b="1" spc="160" kern="0" dirty="0">
                <a:solidFill>
                  <a:srgbClr val="34503C"/>
                </a:solidFill>
                <a:latin typeface="Calibri" pitchFamily="34" charset="0"/>
                <a:ea typeface="Calibri" pitchFamily="34" charset="-122"/>
                <a:cs typeface="Calibri" pitchFamily="34" charset="-120"/>
              </a:rPr>
              <a:t>WHERE IT HELPS</a:t>
            </a:r>
            <a:endParaRPr lang="en-US" sz="1150" dirty="0"/>
          </a:p>
        </p:txBody>
      </p:sp>
      <p:sp>
        <p:nvSpPr>
          <p:cNvPr id="16" name="Text 14"/>
          <p:cNvSpPr txBox="1"/>
          <p:nvPr/>
        </p:nvSpPr>
        <p:spPr>
          <a:xfrm>
            <a:off x="822960" y="5413248"/>
            <a:ext cx="4846320" cy="841248"/>
          </a:xfrm>
          <a:prstGeom prst="rect">
            <a:avLst/>
          </a:prstGeom>
          <a:noFill/>
          <a:ln/>
        </p:spPr>
        <p:txBody>
          <a:bodyPr wrap="square" lIns="0" tIns="0" rIns="0" bIns="0" rtlCol="0" anchor="t"/>
          <a:lstStyle/>
          <a:p>
            <a:pPr marL="177800" indent="-177800">
              <a:lnSpc>
                <a:spcPct val="105000"/>
              </a:lnSpc>
              <a:spcAft>
                <a:spcPts val="300"/>
              </a:spcAft>
              <a:buSzPct val="100000"/>
              <a:buChar char="•"/>
            </a:pPr>
            <a:r>
              <a:rPr lang="en-US" sz="1150" dirty="0">
                <a:solidFill>
                  <a:srgbClr val="2B2A28"/>
                </a:solidFill>
                <a:latin typeface="Calibri" pitchFamily="34" charset="0"/>
                <a:ea typeface="Calibri" pitchFamily="34" charset="-122"/>
                <a:cs typeface="Calibri" pitchFamily="34" charset="-120"/>
              </a:rPr>
              <a:t>Never repaid, no interest, no ownership given up</a:t>
            </a:r>
            <a:endParaRPr lang="en-US" sz="1150" dirty="0"/>
          </a:p>
          <a:p>
            <a:pPr marL="177800" indent="-177800">
              <a:lnSpc>
                <a:spcPct val="105000"/>
              </a:lnSpc>
              <a:spcAft>
                <a:spcPts val="300"/>
              </a:spcAft>
              <a:buSzPct val="100000"/>
              <a:buChar char="•"/>
            </a:pPr>
            <a:r>
              <a:rPr lang="en-US" sz="1150" dirty="0">
                <a:solidFill>
                  <a:srgbClr val="2B2A28"/>
                </a:solidFill>
                <a:latin typeface="Calibri" pitchFamily="34" charset="0"/>
                <a:ea typeface="Calibri" pitchFamily="34" charset="-122"/>
                <a:cs typeface="Calibri" pitchFamily="34" charset="-120"/>
              </a:rPr>
              <a:t>Heritage is Kenyon's strongest asset — this is the only money that prices it</a:t>
            </a:r>
            <a:endParaRPr lang="en-US" sz="1150" dirty="0"/>
          </a:p>
          <a:p>
            <a:pPr marL="177800" indent="-177800">
              <a:lnSpc>
                <a:spcPct val="105000"/>
              </a:lnSpc>
              <a:spcAft>
                <a:spcPts val="300"/>
              </a:spcAft>
              <a:buSzPct val="100000"/>
              <a:buChar char="•"/>
            </a:pPr>
            <a:r>
              <a:rPr lang="en-US" sz="1150" dirty="0">
                <a:solidFill>
                  <a:srgbClr val="2B2A28"/>
                </a:solidFill>
                <a:latin typeface="Calibri" pitchFamily="34" charset="0"/>
                <a:ea typeface="Calibri" pitchFamily="34" charset="-122"/>
                <a:cs typeface="Calibri" pitchFamily="34" charset="-120"/>
              </a:rPr>
              <a:t>A donor list is also a customer list, and it renews annually</a:t>
            </a:r>
            <a:endParaRPr lang="en-US" sz="1150" dirty="0"/>
          </a:p>
        </p:txBody>
      </p:sp>
      <p:sp>
        <p:nvSpPr>
          <p:cNvPr id="17" name="Shape 15"/>
          <p:cNvSpPr/>
          <p:nvPr/>
        </p:nvSpPr>
        <p:spPr>
          <a:xfrm>
            <a:off x="6248095" y="4974336"/>
            <a:ext cx="5394960" cy="1353312"/>
          </a:xfrm>
          <a:prstGeom prst="roundRect">
            <a:avLst>
              <a:gd name="adj" fmla="val 5405"/>
            </a:avLst>
          </a:prstGeom>
          <a:solidFill>
            <a:srgbClr val="EDE7D8"/>
          </a:solidFill>
          <a:ln w="9525">
            <a:solidFill>
              <a:srgbClr val="D9C7A3"/>
            </a:solidFill>
            <a:prstDash val="solid"/>
          </a:ln>
          <a:effectLst>
            <a:outerShdw sx="100000" sy="100000" kx="0" ky="0" algn="bl" rotWithShape="0" blurRad="127000" dist="25400" dir="5400000">
              <a:srgbClr val="9A9488">
                <a:alpha val="28000"/>
              </a:srgbClr>
            </a:outerShdw>
          </a:effectLst>
        </p:spPr>
      </p:sp>
      <p:sp>
        <p:nvSpPr>
          <p:cNvPr id="18" name="Text 16"/>
          <p:cNvSpPr txBox="1"/>
          <p:nvPr/>
        </p:nvSpPr>
        <p:spPr>
          <a:xfrm>
            <a:off x="6522415" y="5093208"/>
            <a:ext cx="4114800" cy="256032"/>
          </a:xfrm>
          <a:prstGeom prst="rect">
            <a:avLst/>
          </a:prstGeom>
          <a:noFill/>
          <a:ln/>
        </p:spPr>
        <p:txBody>
          <a:bodyPr wrap="square" lIns="0" tIns="0" rIns="0" bIns="0" rtlCol="0" anchor="ctr"/>
          <a:lstStyle/>
          <a:p>
            <a:pPr indent="0" marL="0">
              <a:buNone/>
            </a:pPr>
            <a:r>
              <a:rPr lang="en-US" sz="1150" b="1" spc="160" kern="0" dirty="0">
                <a:solidFill>
                  <a:srgbClr val="8C3A2B"/>
                </a:solidFill>
                <a:latin typeface="Calibri" pitchFamily="34" charset="0"/>
                <a:ea typeface="Calibri" pitchFamily="34" charset="-122"/>
                <a:cs typeface="Calibri" pitchFamily="34" charset="-120"/>
              </a:rPr>
              <a:t>WHERE IT COSTS YOU</a:t>
            </a:r>
            <a:endParaRPr lang="en-US" sz="1150" dirty="0"/>
          </a:p>
        </p:txBody>
      </p:sp>
      <p:sp>
        <p:nvSpPr>
          <p:cNvPr id="19" name="Text 17"/>
          <p:cNvSpPr txBox="1"/>
          <p:nvPr/>
        </p:nvSpPr>
        <p:spPr>
          <a:xfrm>
            <a:off x="6522415" y="5413248"/>
            <a:ext cx="4846320" cy="841248"/>
          </a:xfrm>
          <a:prstGeom prst="rect">
            <a:avLst/>
          </a:prstGeom>
          <a:noFill/>
          <a:ln/>
        </p:spPr>
        <p:txBody>
          <a:bodyPr wrap="square" lIns="0" tIns="0" rIns="0" bIns="0" rtlCol="0" anchor="t"/>
          <a:lstStyle/>
          <a:p>
            <a:pPr marL="177800" indent="-177800">
              <a:lnSpc>
                <a:spcPct val="105000"/>
              </a:lnSpc>
              <a:spcAft>
                <a:spcPts val="300"/>
              </a:spcAft>
              <a:buSzPct val="100000"/>
              <a:buChar char="•"/>
            </a:pPr>
            <a:r>
              <a:rPr lang="en-US" sz="1150" dirty="0">
                <a:solidFill>
                  <a:srgbClr val="2B2A28"/>
                </a:solidFill>
                <a:latin typeface="Calibri" pitchFamily="34" charset="0"/>
                <a:ea typeface="Calibri" pitchFamily="34" charset="-122"/>
                <a:cs typeface="Calibri" pitchFamily="34" charset="-120"/>
              </a:rPr>
              <a:t>A 501(c)(3) means a board, filings and an arm's-length line from the LLC</a:t>
            </a:r>
            <a:endParaRPr lang="en-US" sz="1150" dirty="0"/>
          </a:p>
          <a:p>
            <a:pPr marL="177800" indent="-177800">
              <a:lnSpc>
                <a:spcPct val="105000"/>
              </a:lnSpc>
              <a:spcAft>
                <a:spcPts val="300"/>
              </a:spcAft>
              <a:buSzPct val="100000"/>
              <a:buChar char="•"/>
            </a:pPr>
            <a:r>
              <a:rPr lang="en-US" sz="1150" dirty="0">
                <a:solidFill>
                  <a:srgbClr val="2B2A28"/>
                </a:solidFill>
                <a:latin typeface="Calibri" pitchFamily="34" charset="0"/>
                <a:ea typeface="Calibri" pitchFamily="34" charset="-122"/>
                <a:cs typeface="Calibri" pitchFamily="34" charset="-120"/>
              </a:rPr>
              <a:t>Charitable funds are restricted — they cannot subsidise the LLC's trading</a:t>
            </a:r>
            <a:endParaRPr lang="en-US" sz="1150" dirty="0"/>
          </a:p>
          <a:p>
            <a:pPr marL="177800" indent="-177800">
              <a:lnSpc>
                <a:spcPct val="105000"/>
              </a:lnSpc>
              <a:spcAft>
                <a:spcPts val="300"/>
              </a:spcAft>
              <a:buSzPct val="100000"/>
              <a:buChar char="•"/>
            </a:pPr>
            <a:r>
              <a:rPr lang="en-US" sz="1150" dirty="0">
                <a:solidFill>
                  <a:srgbClr val="2B2A28"/>
                </a:solidFill>
                <a:latin typeface="Calibri" pitchFamily="34" charset="0"/>
                <a:ea typeface="Calibri" pitchFamily="34" charset="-122"/>
                <a:cs typeface="Calibri" pitchFamily="34" charset="-120"/>
              </a:rPr>
              <a:t>Fundraising is a job; small campaigns often net less than they cost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p:bgPr>
    </p:bg>
    <p:spTree>
      <p:nvGrpSpPr>
        <p:cNvPr id="1" name=""/>
        <p:cNvGrpSpPr/>
        <p:nvPr/>
      </p:nvGrpSpPr>
      <p:grpSpPr>
        <a:xfrm>
          <a:off x="0" y="0"/>
          <a:ext cx="0" cy="0"/>
          <a:chOff x="0" y="0"/>
          <a:chExt cx="0" cy="0"/>
        </a:xfrm>
      </p:grpSpPr>
      <p:sp>
        <p:nvSpPr>
          <p:cNvPr id="2" name="Shape 0"/>
          <p:cNvSpPr/>
          <p:nvPr/>
        </p:nvSpPr>
        <p:spPr>
          <a:xfrm>
            <a:off x="548640" y="457200"/>
            <a:ext cx="475488" cy="475488"/>
          </a:xfrm>
          <a:prstGeom prst="ellipse">
            <a:avLst/>
          </a:prstGeom>
          <a:solidFill>
            <a:srgbClr val="6E6A63"/>
          </a:solidFill>
          <a:ln w="12700">
            <a:solidFill>
              <a:srgbClr val="6E6A63"/>
            </a:solidFill>
            <a:prstDash val="solid"/>
          </a:ln>
        </p:spPr>
      </p:sp>
      <p:sp>
        <p:nvSpPr>
          <p:cNvPr id="3" name="Text 1"/>
          <p:cNvSpPr txBox="1"/>
          <p:nvPr/>
        </p:nvSpPr>
        <p:spPr>
          <a:xfrm>
            <a:off x="548640" y="457200"/>
            <a:ext cx="475488" cy="475488"/>
          </a:xfrm>
          <a:prstGeom prst="rect">
            <a:avLst/>
          </a:prstGeom>
          <a:noFill/>
          <a:ln/>
        </p:spPr>
        <p:txBody>
          <a:bodyPr wrap="square" lIns="0" tIns="0" rIns="0" bIns="0" rtlCol="0" anchor="ctr"/>
          <a:lstStyle/>
          <a:p>
            <a:pPr algn="ctr" indent="0" marL="0">
              <a:buNone/>
            </a:pPr>
            <a:r>
              <a:rPr lang="en-US" sz="1500" b="1" dirty="0">
                <a:solidFill>
                  <a:srgbClr val="EDE7D8"/>
                </a:solidFill>
                <a:latin typeface="Cambria" pitchFamily="34" charset="0"/>
                <a:ea typeface="Cambria" pitchFamily="34" charset="-122"/>
                <a:cs typeface="Cambria" pitchFamily="34" charset="-120"/>
              </a:rPr>
              <a:t>05</a:t>
            </a:r>
            <a:endParaRPr lang="en-US" sz="1500" dirty="0"/>
          </a:p>
        </p:txBody>
      </p:sp>
      <p:sp>
        <p:nvSpPr>
          <p:cNvPr id="4" name="Text 2"/>
          <p:cNvSpPr txBox="1"/>
          <p:nvPr/>
        </p:nvSpPr>
        <p:spPr>
          <a:xfrm>
            <a:off x="1170432" y="420624"/>
            <a:ext cx="10241280" cy="548640"/>
          </a:xfrm>
          <a:prstGeom prst="rect">
            <a:avLst/>
          </a:prstGeom>
          <a:noFill/>
          <a:ln/>
        </p:spPr>
        <p:txBody>
          <a:bodyPr wrap="square" lIns="0" tIns="0" rIns="0" bIns="0" rtlCol="0" anchor="ctr"/>
          <a:lstStyle/>
          <a:p>
            <a:pPr indent="0" marL="0">
              <a:buNone/>
            </a:pPr>
            <a:r>
              <a:rPr lang="en-US" sz="3400" b="1" dirty="0">
                <a:solidFill>
                  <a:srgbClr val="2B2A28"/>
                </a:solidFill>
                <a:latin typeface="Cambria" pitchFamily="34" charset="0"/>
                <a:ea typeface="Cambria" pitchFamily="34" charset="-122"/>
                <a:cs typeface="Cambria" pitchFamily="34" charset="-120"/>
              </a:rPr>
              <a:t>Sell a piece of it</a:t>
            </a:r>
            <a:endParaRPr lang="en-US" sz="3400" dirty="0"/>
          </a:p>
        </p:txBody>
      </p:sp>
      <p:sp>
        <p:nvSpPr>
          <p:cNvPr id="5" name="Text 3"/>
          <p:cNvSpPr txBox="1"/>
          <p:nvPr/>
        </p:nvSpPr>
        <p:spPr>
          <a:xfrm>
            <a:off x="548640" y="1024128"/>
            <a:ext cx="10881360" cy="292608"/>
          </a:xfrm>
          <a:prstGeom prst="rect">
            <a:avLst/>
          </a:prstGeom>
          <a:noFill/>
          <a:ln/>
        </p:spPr>
        <p:txBody>
          <a:bodyPr wrap="square" lIns="0" tIns="0" rIns="0" bIns="0" rtlCol="0" anchor="ctr"/>
          <a:lstStyle/>
          <a:p>
            <a:pPr indent="0" marL="0">
              <a:buNone/>
            </a:pPr>
            <a:r>
              <a:rPr lang="en-US" sz="1400" dirty="0">
                <a:solidFill>
                  <a:srgbClr val="4A5359"/>
                </a:solidFill>
                <a:latin typeface="Calibri" pitchFamily="34" charset="0"/>
                <a:ea typeface="Calibri" pitchFamily="34" charset="-122"/>
                <a:cs typeface="Calibri" pitchFamily="34" charset="-120"/>
              </a:rPr>
              <a:t>The only option on this list you cannot undo.</a:t>
            </a:r>
            <a:endParaRPr lang="en-US" sz="1400" dirty="0"/>
          </a:p>
        </p:txBody>
      </p:sp>
      <p:sp>
        <p:nvSpPr>
          <p:cNvPr id="6" name="Shape 4"/>
          <p:cNvSpPr/>
          <p:nvPr/>
        </p:nvSpPr>
        <p:spPr>
          <a:xfrm>
            <a:off x="548640" y="1481328"/>
            <a:ext cx="4206240" cy="2148840"/>
          </a:xfrm>
          <a:prstGeom prst="roundRect">
            <a:avLst>
              <a:gd name="adj" fmla="val 3404"/>
            </a:avLst>
          </a:prstGeom>
          <a:solidFill>
            <a:srgbClr val="F0E3C4"/>
          </a:solidFill>
          <a:ln w="9525">
            <a:solidFill>
              <a:srgbClr val="D9C7A3"/>
            </a:solidFill>
            <a:prstDash val="solid"/>
          </a:ln>
          <a:effectLst>
            <a:outerShdw sx="100000" sy="100000" kx="0" ky="0" algn="bl" rotWithShape="0" blurRad="127000" dist="25400" dir="5400000">
              <a:srgbClr val="9A9488">
                <a:alpha val="28000"/>
              </a:srgbClr>
            </a:outerShdw>
          </a:effectLst>
        </p:spPr>
      </p:sp>
      <p:sp>
        <p:nvSpPr>
          <p:cNvPr id="7" name="Text 5"/>
          <p:cNvSpPr txBox="1"/>
          <p:nvPr/>
        </p:nvSpPr>
        <p:spPr>
          <a:xfrm>
            <a:off x="841248" y="1700784"/>
            <a:ext cx="3621024" cy="713232"/>
          </a:xfrm>
          <a:prstGeom prst="rect">
            <a:avLst/>
          </a:prstGeom>
          <a:noFill/>
          <a:ln/>
        </p:spPr>
        <p:txBody>
          <a:bodyPr wrap="square" lIns="0" tIns="0" rIns="0" bIns="0" rtlCol="0" anchor="ctr"/>
          <a:lstStyle/>
          <a:p>
            <a:pPr indent="0" marL="0">
              <a:buNone/>
            </a:pPr>
            <a:r>
              <a:rPr lang="en-US" sz="4000" b="1" dirty="0">
                <a:solidFill>
                  <a:srgbClr val="2B2A28"/>
                </a:solidFill>
                <a:latin typeface="Cambria" pitchFamily="34" charset="0"/>
                <a:ea typeface="Cambria" pitchFamily="34" charset="-122"/>
                <a:cs typeface="Cambria" pitchFamily="34" charset="-120"/>
              </a:rPr>
              <a:t>2.0 – 3.5×</a:t>
            </a:r>
            <a:endParaRPr lang="en-US" sz="4000" dirty="0"/>
          </a:p>
        </p:txBody>
      </p:sp>
      <p:sp>
        <p:nvSpPr>
          <p:cNvPr id="8" name="Text 6"/>
          <p:cNvSpPr txBox="1"/>
          <p:nvPr/>
        </p:nvSpPr>
        <p:spPr>
          <a:xfrm>
            <a:off x="841248" y="2468880"/>
            <a:ext cx="3621024" cy="960120"/>
          </a:xfrm>
          <a:prstGeom prst="rect">
            <a:avLst/>
          </a:prstGeom>
          <a:noFill/>
          <a:ln/>
        </p:spPr>
        <p:txBody>
          <a:bodyPr wrap="square" lIns="0" tIns="0" rIns="0" bIns="0" rtlCol="0" anchor="ctr"/>
          <a:lstStyle/>
          <a:p>
            <a:pPr indent="0" marL="0">
              <a:lnSpc>
                <a:spcPct val="110000"/>
              </a:lnSpc>
              <a:buNone/>
            </a:pPr>
            <a:r>
              <a:rPr lang="en-US" sz="1200" dirty="0">
                <a:solidFill>
                  <a:srgbClr val="2B2A28"/>
                </a:solidFill>
                <a:latin typeface="Calibri" pitchFamily="34" charset="0"/>
                <a:ea typeface="Calibri" pitchFamily="34" charset="-122"/>
                <a:cs typeface="Calibri" pitchFamily="34" charset="-120"/>
              </a:rPr>
              <a:t>owner-adjusted earnings — what specialty food businesses at this scale change hands for. The multiple lands on your earnings, so a thin year sets the price.</a:t>
            </a:r>
            <a:endParaRPr lang="en-US" sz="1200" dirty="0"/>
          </a:p>
        </p:txBody>
      </p:sp>
      <p:sp>
        <p:nvSpPr>
          <p:cNvPr id="9" name="Shape 7"/>
          <p:cNvSpPr/>
          <p:nvPr/>
        </p:nvSpPr>
        <p:spPr>
          <a:xfrm>
            <a:off x="548640" y="3767328"/>
            <a:ext cx="4206240" cy="1005840"/>
          </a:xfrm>
          <a:prstGeom prst="roundRect">
            <a:avLst>
              <a:gd name="adj" fmla="val 7273"/>
            </a:avLst>
          </a:prstGeom>
          <a:solidFill>
            <a:srgbClr val="EDE7D8"/>
          </a:solidFill>
          <a:ln w="9525">
            <a:solidFill>
              <a:srgbClr val="D9C7A3"/>
            </a:solidFill>
            <a:prstDash val="solid"/>
          </a:ln>
          <a:effectLst>
            <a:outerShdw sx="100000" sy="100000" kx="0" ky="0" algn="bl" rotWithShape="0" blurRad="127000" dist="25400" dir="5400000">
              <a:srgbClr val="9A9488">
                <a:alpha val="28000"/>
              </a:srgbClr>
            </a:outerShdw>
          </a:effectLst>
        </p:spPr>
      </p:sp>
      <p:sp>
        <p:nvSpPr>
          <p:cNvPr id="10" name="Text 8"/>
          <p:cNvSpPr txBox="1"/>
          <p:nvPr/>
        </p:nvSpPr>
        <p:spPr>
          <a:xfrm>
            <a:off x="841248" y="3895344"/>
            <a:ext cx="2743200" cy="256032"/>
          </a:xfrm>
          <a:prstGeom prst="rect">
            <a:avLst/>
          </a:prstGeom>
          <a:noFill/>
          <a:ln/>
        </p:spPr>
        <p:txBody>
          <a:bodyPr wrap="square" lIns="0" tIns="0" rIns="0" bIns="0" rtlCol="0" anchor="ctr"/>
          <a:lstStyle/>
          <a:p>
            <a:pPr indent="0" marL="0">
              <a:buNone/>
            </a:pPr>
            <a:r>
              <a:rPr lang="en-US" sz="1050" b="1" spc="160" kern="0" dirty="0">
                <a:solidFill>
                  <a:srgbClr val="8A6115"/>
                </a:solidFill>
                <a:latin typeface="Calibri" pitchFamily="34" charset="0"/>
                <a:ea typeface="Calibri" pitchFamily="34" charset="-122"/>
                <a:cs typeface="Calibri" pitchFamily="34" charset="-120"/>
              </a:rPr>
              <a:t>THE ARITHMETIC</a:t>
            </a:r>
            <a:endParaRPr lang="en-US" sz="1050" dirty="0"/>
          </a:p>
        </p:txBody>
      </p:sp>
      <p:sp>
        <p:nvSpPr>
          <p:cNvPr id="11" name="Text 9"/>
          <p:cNvSpPr txBox="1"/>
          <p:nvPr/>
        </p:nvSpPr>
        <p:spPr>
          <a:xfrm>
            <a:off x="841248" y="4169664"/>
            <a:ext cx="3621024" cy="530352"/>
          </a:xfrm>
          <a:prstGeom prst="rect">
            <a:avLst/>
          </a:prstGeom>
          <a:noFill/>
          <a:ln/>
        </p:spPr>
        <p:txBody>
          <a:bodyPr wrap="square" lIns="0" tIns="0" rIns="0" bIns="0" rtlCol="0" anchor="ctr"/>
          <a:lstStyle/>
          <a:p>
            <a:pPr indent="0" marL="0">
              <a:lnSpc>
                <a:spcPct val="105000"/>
              </a:lnSpc>
              <a:buNone/>
            </a:pPr>
            <a:r>
              <a:rPr lang="en-US" sz="1150" dirty="0">
                <a:solidFill>
                  <a:srgbClr val="2B2A28"/>
                </a:solidFill>
                <a:latin typeface="Calibri" pitchFamily="34" charset="0"/>
                <a:ea typeface="Calibri" pitchFamily="34" charset="-122"/>
                <a:cs typeface="Calibri" pitchFamily="34" charset="-120"/>
              </a:rPr>
              <a:t>2024 net income was −$33,780. Priced today, the operating business is worth close to nothing and the value sits in the site and the name.</a:t>
            </a:r>
            <a:endParaRPr lang="en-US" sz="1150" dirty="0"/>
          </a:p>
        </p:txBody>
      </p:sp>
      <p:sp>
        <p:nvSpPr>
          <p:cNvPr id="12" name="Shape 10"/>
          <p:cNvSpPr/>
          <p:nvPr/>
        </p:nvSpPr>
        <p:spPr>
          <a:xfrm>
            <a:off x="5074920" y="1481328"/>
            <a:ext cx="6568135" cy="1481328"/>
          </a:xfrm>
          <a:prstGeom prst="roundRect">
            <a:avLst>
              <a:gd name="adj" fmla="val 4938"/>
            </a:avLst>
          </a:prstGeom>
          <a:solidFill>
            <a:srgbClr val="EDE7D8"/>
          </a:solidFill>
          <a:ln w="9525">
            <a:solidFill>
              <a:srgbClr val="D9C7A3"/>
            </a:solidFill>
            <a:prstDash val="solid"/>
          </a:ln>
          <a:effectLst>
            <a:outerShdw sx="100000" sy="100000" kx="0" ky="0" algn="bl" rotWithShape="0" blurRad="127000" dist="25400" dir="5400000">
              <a:srgbClr val="9A9488">
                <a:alpha val="28000"/>
              </a:srgbClr>
            </a:outerShdw>
          </a:effectLst>
        </p:spPr>
      </p:sp>
      <p:sp>
        <p:nvSpPr>
          <p:cNvPr id="13" name="Text 11"/>
          <p:cNvSpPr txBox="1"/>
          <p:nvPr/>
        </p:nvSpPr>
        <p:spPr>
          <a:xfrm>
            <a:off x="5349240" y="1645920"/>
            <a:ext cx="3657600" cy="256032"/>
          </a:xfrm>
          <a:prstGeom prst="rect">
            <a:avLst/>
          </a:prstGeom>
          <a:noFill/>
          <a:ln/>
        </p:spPr>
        <p:txBody>
          <a:bodyPr wrap="square" lIns="0" tIns="0" rIns="0" bIns="0" rtlCol="0" anchor="ctr"/>
          <a:lstStyle/>
          <a:p>
            <a:pPr indent="0" marL="0">
              <a:buNone/>
            </a:pPr>
            <a:r>
              <a:rPr lang="en-US" sz="1150" b="1" spc="160" kern="0" dirty="0">
                <a:solidFill>
                  <a:srgbClr val="8A6115"/>
                </a:solidFill>
                <a:latin typeface="Calibri" pitchFamily="34" charset="0"/>
                <a:ea typeface="Calibri" pitchFamily="34" charset="-122"/>
                <a:cs typeface="Calibri" pitchFamily="34" charset="-120"/>
              </a:rPr>
              <a:t>THE FORMS IT TAKES</a:t>
            </a:r>
            <a:endParaRPr lang="en-US" sz="1150" dirty="0"/>
          </a:p>
        </p:txBody>
      </p:sp>
      <p:sp>
        <p:nvSpPr>
          <p:cNvPr id="14" name="Text 12"/>
          <p:cNvSpPr txBox="1"/>
          <p:nvPr/>
        </p:nvSpPr>
        <p:spPr>
          <a:xfrm>
            <a:off x="5349240" y="1993392"/>
            <a:ext cx="6019495" cy="841248"/>
          </a:xfrm>
          <a:prstGeom prst="rect">
            <a:avLst/>
          </a:prstGeom>
          <a:noFill/>
          <a:ln/>
        </p:spPr>
        <p:txBody>
          <a:bodyPr wrap="square" lIns="0" tIns="0" rIns="0" bIns="0" rtlCol="0" anchor="ctr"/>
          <a:lstStyle/>
          <a:p>
            <a:pPr indent="0" marL="0">
              <a:lnSpc>
                <a:spcPct val="112000"/>
              </a:lnSpc>
              <a:buNone/>
            </a:pPr>
            <a:r>
              <a:rPr lang="en-US" sz="1200" dirty="0">
                <a:solidFill>
                  <a:srgbClr val="2B2A28"/>
                </a:solidFill>
                <a:latin typeface="Calibri" pitchFamily="34" charset="0"/>
                <a:ea typeface="Calibri" pitchFamily="34" charset="-122"/>
                <a:cs typeface="Calibri" pitchFamily="34" charset="-120"/>
              </a:rPr>
              <a:t>Friends and family  ·  an angel or private investor  ·  a partner buying in  ·  employee or co-operative ownership  ·  revenue-based financing, which takes 3–8% of monthly sales instead of equity but often costs 15–30% all in.</a:t>
            </a:r>
            <a:endParaRPr lang="en-US" sz="1200" dirty="0"/>
          </a:p>
        </p:txBody>
      </p:sp>
      <p:sp>
        <p:nvSpPr>
          <p:cNvPr id="15" name="Shape 13"/>
          <p:cNvSpPr/>
          <p:nvPr/>
        </p:nvSpPr>
        <p:spPr>
          <a:xfrm>
            <a:off x="5074920" y="3108960"/>
            <a:ext cx="3146908" cy="1810512"/>
          </a:xfrm>
          <a:prstGeom prst="roundRect">
            <a:avLst>
              <a:gd name="adj" fmla="val 4040"/>
            </a:avLst>
          </a:prstGeom>
          <a:solidFill>
            <a:srgbClr val="EDE7D8"/>
          </a:solidFill>
          <a:ln w="9525">
            <a:solidFill>
              <a:srgbClr val="D9C7A3"/>
            </a:solidFill>
            <a:prstDash val="solid"/>
          </a:ln>
          <a:effectLst>
            <a:outerShdw sx="100000" sy="100000" kx="0" ky="0" algn="bl" rotWithShape="0" blurRad="127000" dist="25400" dir="5400000">
              <a:srgbClr val="9A9488">
                <a:alpha val="28000"/>
              </a:srgbClr>
            </a:outerShdw>
          </a:effectLst>
        </p:spPr>
      </p:sp>
      <p:sp>
        <p:nvSpPr>
          <p:cNvPr id="16" name="Text 14"/>
          <p:cNvSpPr txBox="1"/>
          <p:nvPr/>
        </p:nvSpPr>
        <p:spPr>
          <a:xfrm>
            <a:off x="5330952" y="3255264"/>
            <a:ext cx="3200400" cy="256032"/>
          </a:xfrm>
          <a:prstGeom prst="rect">
            <a:avLst/>
          </a:prstGeom>
          <a:noFill/>
          <a:ln/>
        </p:spPr>
        <p:txBody>
          <a:bodyPr wrap="square" lIns="0" tIns="0" rIns="0" bIns="0" rtlCol="0" anchor="ctr"/>
          <a:lstStyle/>
          <a:p>
            <a:pPr indent="0" marL="0">
              <a:buNone/>
            </a:pPr>
            <a:r>
              <a:rPr lang="en-US" sz="1150" b="1" spc="160" kern="0" dirty="0">
                <a:solidFill>
                  <a:srgbClr val="34503C"/>
                </a:solidFill>
                <a:latin typeface="Calibri" pitchFamily="34" charset="0"/>
                <a:ea typeface="Calibri" pitchFamily="34" charset="-122"/>
                <a:cs typeface="Calibri" pitchFamily="34" charset="-120"/>
              </a:rPr>
              <a:t>WHERE IT HELPS</a:t>
            </a:r>
            <a:endParaRPr lang="en-US" sz="1150" dirty="0"/>
          </a:p>
        </p:txBody>
      </p:sp>
      <p:sp>
        <p:nvSpPr>
          <p:cNvPr id="17" name="Text 15"/>
          <p:cNvSpPr txBox="1"/>
          <p:nvPr/>
        </p:nvSpPr>
        <p:spPr>
          <a:xfrm>
            <a:off x="5330952" y="3584448"/>
            <a:ext cx="2634844" cy="1188720"/>
          </a:xfrm>
          <a:prstGeom prst="rect">
            <a:avLst/>
          </a:prstGeom>
          <a:noFill/>
          <a:ln/>
        </p:spPr>
        <p:txBody>
          <a:bodyPr wrap="square" lIns="0" tIns="0" rIns="0" bIns="0" rtlCol="0" anchor="t"/>
          <a:lstStyle/>
          <a:p>
            <a:pPr marL="177800" indent="-177800">
              <a:lnSpc>
                <a:spcPct val="105000"/>
              </a:lnSpc>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Nothing to repay if the year goes badly</a:t>
            </a:r>
            <a:endParaRPr lang="en-US" sz="1150" dirty="0"/>
          </a:p>
          <a:p>
            <a:pPr marL="177800" indent="-177800">
              <a:lnSpc>
                <a:spcPct val="105000"/>
              </a:lnSpc>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The investor carries part of the downside</a:t>
            </a:r>
            <a:endParaRPr lang="en-US" sz="1150" dirty="0"/>
          </a:p>
          <a:p>
            <a:pPr marL="177800" indent="-177800">
              <a:lnSpc>
                <a:spcPct val="105000"/>
              </a:lnSpc>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Brings expertise, network and governance</a:t>
            </a:r>
            <a:endParaRPr lang="en-US" sz="1150" dirty="0"/>
          </a:p>
        </p:txBody>
      </p:sp>
      <p:sp>
        <p:nvSpPr>
          <p:cNvPr id="18" name="Shape 16"/>
          <p:cNvSpPr/>
          <p:nvPr/>
        </p:nvSpPr>
        <p:spPr>
          <a:xfrm>
            <a:off x="8496148" y="3108960"/>
            <a:ext cx="3146908" cy="1810512"/>
          </a:xfrm>
          <a:prstGeom prst="roundRect">
            <a:avLst>
              <a:gd name="adj" fmla="val 4040"/>
            </a:avLst>
          </a:prstGeom>
          <a:solidFill>
            <a:srgbClr val="EDE7D8"/>
          </a:solidFill>
          <a:ln w="9525">
            <a:solidFill>
              <a:srgbClr val="D9C7A3"/>
            </a:solidFill>
            <a:prstDash val="solid"/>
          </a:ln>
          <a:effectLst>
            <a:outerShdw sx="100000" sy="100000" kx="0" ky="0" algn="bl" rotWithShape="0" blurRad="127000" dist="25400" dir="5400000">
              <a:srgbClr val="9A9488">
                <a:alpha val="28000"/>
              </a:srgbClr>
            </a:outerShdw>
          </a:effectLst>
        </p:spPr>
      </p:sp>
      <p:sp>
        <p:nvSpPr>
          <p:cNvPr id="19" name="Text 17"/>
          <p:cNvSpPr txBox="1"/>
          <p:nvPr/>
        </p:nvSpPr>
        <p:spPr>
          <a:xfrm>
            <a:off x="8752180" y="3255264"/>
            <a:ext cx="3657600" cy="256032"/>
          </a:xfrm>
          <a:prstGeom prst="rect">
            <a:avLst/>
          </a:prstGeom>
          <a:noFill/>
          <a:ln/>
        </p:spPr>
        <p:txBody>
          <a:bodyPr wrap="square" lIns="0" tIns="0" rIns="0" bIns="0" rtlCol="0" anchor="ctr"/>
          <a:lstStyle/>
          <a:p>
            <a:pPr indent="0" marL="0">
              <a:buNone/>
            </a:pPr>
            <a:r>
              <a:rPr lang="en-US" sz="1150" b="1" spc="160" kern="0" dirty="0">
                <a:solidFill>
                  <a:srgbClr val="8C3A2B"/>
                </a:solidFill>
                <a:latin typeface="Calibri" pitchFamily="34" charset="0"/>
                <a:ea typeface="Calibri" pitchFamily="34" charset="-122"/>
                <a:cs typeface="Calibri" pitchFamily="34" charset="-120"/>
              </a:rPr>
              <a:t>WHERE IT COSTS YOU</a:t>
            </a:r>
            <a:endParaRPr lang="en-US" sz="1150" dirty="0"/>
          </a:p>
        </p:txBody>
      </p:sp>
      <p:sp>
        <p:nvSpPr>
          <p:cNvPr id="20" name="Text 18"/>
          <p:cNvSpPr txBox="1"/>
          <p:nvPr/>
        </p:nvSpPr>
        <p:spPr>
          <a:xfrm>
            <a:off x="8752180" y="3584448"/>
            <a:ext cx="2634844" cy="1143000"/>
          </a:xfrm>
          <a:prstGeom prst="rect">
            <a:avLst/>
          </a:prstGeom>
          <a:noFill/>
          <a:ln/>
        </p:spPr>
        <p:txBody>
          <a:bodyPr wrap="square" lIns="0" tIns="0" rIns="0" bIns="0" rtlCol="0" anchor="t"/>
          <a:lstStyle/>
          <a:p>
            <a:pPr marL="177800" indent="-177800">
              <a:lnSpc>
                <a:spcPct val="105000"/>
              </a:lnSpc>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Permanent — buying the share back costs far more</a:t>
            </a:r>
            <a:endParaRPr lang="en-US" sz="1150" dirty="0"/>
          </a:p>
          <a:p>
            <a:pPr marL="177800" indent="-177800">
              <a:lnSpc>
                <a:spcPct val="105000"/>
              </a:lnSpc>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Priced on this year, so a loss year is the worst time</a:t>
            </a:r>
            <a:endParaRPr lang="en-US" sz="1150" dirty="0"/>
          </a:p>
          <a:p>
            <a:pPr marL="177800" indent="-177800">
              <a:lnSpc>
                <a:spcPct val="105000"/>
              </a:lnSpc>
              <a:spcAft>
                <a:spcPts val="400"/>
              </a:spcAft>
              <a:buSzPct val="100000"/>
              <a:buChar char="•"/>
            </a:pPr>
            <a:r>
              <a:rPr lang="en-US" sz="1150" dirty="0">
                <a:solidFill>
                  <a:srgbClr val="2B2A28"/>
                </a:solidFill>
                <a:latin typeface="Calibri" pitchFamily="34" charset="0"/>
                <a:ea typeface="Calibri" pitchFamily="34" charset="-122"/>
                <a:cs typeface="Calibri" pitchFamily="34" charset="-120"/>
              </a:rPr>
              <a:t>Outside expectations on pace, and eventually an exit</a:t>
            </a:r>
            <a:endParaRPr lang="en-US" sz="1150" dirty="0"/>
          </a:p>
        </p:txBody>
      </p:sp>
      <p:sp>
        <p:nvSpPr>
          <p:cNvPr id="21" name="Shape 19"/>
          <p:cNvSpPr/>
          <p:nvPr/>
        </p:nvSpPr>
        <p:spPr>
          <a:xfrm>
            <a:off x="548640" y="5047488"/>
            <a:ext cx="11094415" cy="1133856"/>
          </a:xfrm>
          <a:prstGeom prst="roundRect">
            <a:avLst>
              <a:gd name="adj" fmla="val 4839"/>
            </a:avLst>
          </a:prstGeom>
          <a:solidFill>
            <a:srgbClr val="2B2A28"/>
          </a:solidFill>
          <a:ln w="12700">
            <a:solidFill>
              <a:srgbClr val="2B2A28"/>
            </a:solidFill>
            <a:prstDash val="solid"/>
          </a:ln>
        </p:spPr>
      </p:sp>
      <p:sp>
        <p:nvSpPr>
          <p:cNvPr id="22" name="Text 20"/>
          <p:cNvSpPr txBox="1"/>
          <p:nvPr/>
        </p:nvSpPr>
        <p:spPr>
          <a:xfrm>
            <a:off x="868680" y="5157216"/>
            <a:ext cx="10454335" cy="914400"/>
          </a:xfrm>
          <a:prstGeom prst="rect">
            <a:avLst/>
          </a:prstGeom>
          <a:noFill/>
          <a:ln/>
        </p:spPr>
        <p:txBody>
          <a:bodyPr wrap="square" lIns="0" tIns="0" rIns="0" bIns="0" rtlCol="0" anchor="ctr"/>
          <a:lstStyle/>
          <a:p>
            <a:pPr indent="0" marL="0">
              <a:lnSpc>
                <a:spcPct val="115000"/>
              </a:lnSpc>
              <a:buNone/>
            </a:pPr>
            <a:r>
              <a:rPr lang="en-US" sz="1300" b="1" dirty="0">
                <a:solidFill>
                  <a:srgbClr val="C8922F"/>
                </a:solidFill>
                <a:latin typeface="Calibri" pitchFamily="34" charset="0"/>
                <a:ea typeface="Calibri" pitchFamily="34" charset="-122"/>
                <a:cs typeface="Calibri" pitchFamily="34" charset="-120"/>
              </a:rPr>
              <a:t>The bottom line.  </a:t>
            </a:r>
            <a:pPr indent="0" marL="0">
              <a:lnSpc>
                <a:spcPct val="115000"/>
              </a:lnSpc>
              <a:buNone/>
            </a:pPr>
            <a:r>
              <a:rPr lang="en-US" sz="1300" dirty="0">
                <a:solidFill>
                  <a:srgbClr val="EDE7D8"/>
                </a:solidFill>
                <a:latin typeface="Calibri" pitchFamily="34" charset="0"/>
                <a:ea typeface="Calibri" pitchFamily="34" charset="-122"/>
                <a:cs typeface="Calibri" pitchFamily="34" charset="-120"/>
              </a:rPr>
              <a:t>On the current numbers this is the most expensive money available to Kenyon's — a small cheque would buy a large share. Equity becomes a reasonable conversation after earnings are re-established, not before. For a 330-year family business, it is also the one decision that cannot be walked back.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B2A28"/>
        </a:solidFill>
      </p:bgPr>
    </p:bg>
    <p:spTree>
      <p:nvGrpSpPr>
        <p:cNvPr id="1" name=""/>
        <p:cNvGrpSpPr/>
        <p:nvPr/>
      </p:nvGrpSpPr>
      <p:grpSpPr>
        <a:xfrm>
          <a:off x="0" y="0"/>
          <a:ext cx="0" cy="0"/>
          <a:chOff x="0" y="0"/>
          <a:chExt cx="0" cy="0"/>
        </a:xfrm>
      </p:grpSpPr>
      <p:sp>
        <p:nvSpPr>
          <p:cNvPr id="2" name="Text 0"/>
          <p:cNvSpPr txBox="1"/>
          <p:nvPr/>
        </p:nvSpPr>
        <p:spPr>
          <a:xfrm>
            <a:off x="548640" y="566928"/>
            <a:ext cx="5486400" cy="256032"/>
          </a:xfrm>
          <a:prstGeom prst="rect">
            <a:avLst/>
          </a:prstGeom>
          <a:noFill/>
          <a:ln/>
        </p:spPr>
        <p:txBody>
          <a:bodyPr wrap="square" lIns="0" tIns="0" rIns="0" bIns="0" rtlCol="0" anchor="ctr"/>
          <a:lstStyle/>
          <a:p>
            <a:pPr indent="0" marL="0">
              <a:buNone/>
            </a:pPr>
            <a:r>
              <a:rPr lang="en-US" sz="1200" b="1" spc="160" kern="0" dirty="0">
                <a:solidFill>
                  <a:srgbClr val="C8922F"/>
                </a:solidFill>
                <a:latin typeface="Calibri" pitchFamily="34" charset="0"/>
                <a:ea typeface="Calibri" pitchFamily="34" charset="-122"/>
                <a:cs typeface="Calibri" pitchFamily="34" charset="-120"/>
              </a:rPr>
              <a:t>CHOOSING</a:t>
            </a:r>
            <a:endParaRPr lang="en-US" sz="1200" dirty="0"/>
          </a:p>
        </p:txBody>
      </p:sp>
      <p:sp>
        <p:nvSpPr>
          <p:cNvPr id="3" name="Text 1"/>
          <p:cNvSpPr txBox="1"/>
          <p:nvPr/>
        </p:nvSpPr>
        <p:spPr>
          <a:xfrm>
            <a:off x="548640" y="868680"/>
            <a:ext cx="10058400" cy="640080"/>
          </a:xfrm>
          <a:prstGeom prst="rect">
            <a:avLst/>
          </a:prstGeom>
          <a:noFill/>
          <a:ln/>
        </p:spPr>
        <p:txBody>
          <a:bodyPr wrap="square" lIns="0" tIns="0" rIns="0" bIns="0" rtlCol="0" anchor="ctr"/>
          <a:lstStyle/>
          <a:p>
            <a:pPr indent="0" marL="0">
              <a:buNone/>
            </a:pPr>
            <a:r>
              <a:rPr lang="en-US" sz="3800" b="1" dirty="0">
                <a:solidFill>
                  <a:srgbClr val="EDE7D8"/>
                </a:solidFill>
                <a:latin typeface="Cambria" pitchFamily="34" charset="0"/>
                <a:ea typeface="Cambria" pitchFamily="34" charset="-122"/>
                <a:cs typeface="Cambria" pitchFamily="34" charset="-120"/>
              </a:rPr>
              <a:t>Four questions before you pick</a:t>
            </a:r>
            <a:endParaRPr lang="en-US" sz="3800" dirty="0"/>
          </a:p>
        </p:txBody>
      </p:sp>
      <p:sp>
        <p:nvSpPr>
          <p:cNvPr id="4" name="Shape 2"/>
          <p:cNvSpPr/>
          <p:nvPr/>
        </p:nvSpPr>
        <p:spPr>
          <a:xfrm>
            <a:off x="548640" y="1755648"/>
            <a:ext cx="402336" cy="402336"/>
          </a:xfrm>
          <a:prstGeom prst="ellipse">
            <a:avLst/>
          </a:prstGeom>
          <a:solidFill>
            <a:srgbClr val="C8922F"/>
          </a:solidFill>
          <a:ln w="12700">
            <a:solidFill>
              <a:srgbClr val="C8922F"/>
            </a:solidFill>
            <a:prstDash val="solid"/>
          </a:ln>
        </p:spPr>
      </p:sp>
      <p:sp>
        <p:nvSpPr>
          <p:cNvPr id="5" name="Text 3"/>
          <p:cNvSpPr txBox="1"/>
          <p:nvPr/>
        </p:nvSpPr>
        <p:spPr>
          <a:xfrm>
            <a:off x="548640" y="1755648"/>
            <a:ext cx="402336" cy="402336"/>
          </a:xfrm>
          <a:prstGeom prst="rect">
            <a:avLst/>
          </a:prstGeom>
          <a:noFill/>
          <a:ln/>
        </p:spPr>
        <p:txBody>
          <a:bodyPr wrap="square" lIns="0" tIns="0" rIns="0" bIns="0" rtlCol="0" anchor="ctr"/>
          <a:lstStyle/>
          <a:p>
            <a:pPr algn="ctr" indent="0" marL="0">
              <a:buNone/>
            </a:pPr>
            <a:r>
              <a:rPr lang="en-US" sz="1300" b="1" dirty="0">
                <a:solidFill>
                  <a:srgbClr val="EDE7D8"/>
                </a:solidFill>
                <a:latin typeface="Cambria" pitchFamily="34" charset="0"/>
                <a:ea typeface="Cambria" pitchFamily="34" charset="-122"/>
                <a:cs typeface="Cambria" pitchFamily="34" charset="-120"/>
              </a:rPr>
              <a:t>1</a:t>
            </a:r>
            <a:endParaRPr lang="en-US" sz="1300" dirty="0"/>
          </a:p>
        </p:txBody>
      </p:sp>
      <p:sp>
        <p:nvSpPr>
          <p:cNvPr id="6" name="Text 4"/>
          <p:cNvSpPr txBox="1"/>
          <p:nvPr/>
        </p:nvSpPr>
        <p:spPr>
          <a:xfrm>
            <a:off x="1152144" y="1728216"/>
            <a:ext cx="5568696" cy="310896"/>
          </a:xfrm>
          <a:prstGeom prst="rect">
            <a:avLst/>
          </a:prstGeom>
          <a:noFill/>
          <a:ln/>
        </p:spPr>
        <p:txBody>
          <a:bodyPr wrap="square" lIns="0" tIns="0" rIns="0" bIns="0" rtlCol="0" anchor="ctr"/>
          <a:lstStyle/>
          <a:p>
            <a:pPr indent="0" marL="0">
              <a:buNone/>
            </a:pPr>
            <a:r>
              <a:rPr lang="en-US" sz="1550" b="1" dirty="0">
                <a:solidFill>
                  <a:srgbClr val="EDE7D8"/>
                </a:solidFill>
                <a:latin typeface="Cambria" pitchFamily="34" charset="0"/>
                <a:ea typeface="Cambria" pitchFamily="34" charset="-122"/>
                <a:cs typeface="Cambria" pitchFamily="34" charset="-120"/>
              </a:rPr>
              <a:t>How many months until it pays for itself?</a:t>
            </a:r>
            <a:endParaRPr lang="en-US" sz="1550" dirty="0"/>
          </a:p>
        </p:txBody>
      </p:sp>
      <p:sp>
        <p:nvSpPr>
          <p:cNvPr id="7" name="Text 5"/>
          <p:cNvSpPr txBox="1"/>
          <p:nvPr/>
        </p:nvSpPr>
        <p:spPr>
          <a:xfrm>
            <a:off x="1152144" y="2057400"/>
            <a:ext cx="5568696" cy="566928"/>
          </a:xfrm>
          <a:prstGeom prst="rect">
            <a:avLst/>
          </a:prstGeom>
          <a:noFill/>
          <a:ln/>
        </p:spPr>
        <p:txBody>
          <a:bodyPr wrap="square" lIns="0" tIns="0" rIns="0" bIns="0" rtlCol="0" anchor="ctr"/>
          <a:lstStyle/>
          <a:p>
            <a:pPr indent="0" marL="0">
              <a:lnSpc>
                <a:spcPct val="110000"/>
              </a:lnSpc>
              <a:buNone/>
            </a:pPr>
            <a:r>
              <a:rPr lang="en-US" sz="1250" dirty="0">
                <a:solidFill>
                  <a:srgbClr val="D9C7A3"/>
                </a:solidFill>
                <a:latin typeface="Calibri" pitchFamily="34" charset="0"/>
                <a:ea typeface="Calibri" pitchFamily="34" charset="-122"/>
                <a:cs typeface="Calibri" pitchFamily="34" charset="-120"/>
              </a:rPr>
              <a:t>Under 18 months, use your own cash or debt. Over 36, it wants a grant, a gift or a partner.</a:t>
            </a:r>
            <a:endParaRPr lang="en-US" sz="1250" dirty="0"/>
          </a:p>
        </p:txBody>
      </p:sp>
      <p:sp>
        <p:nvSpPr>
          <p:cNvPr id="8" name="Shape 6"/>
          <p:cNvSpPr/>
          <p:nvPr/>
        </p:nvSpPr>
        <p:spPr>
          <a:xfrm>
            <a:off x="548640" y="2825496"/>
            <a:ext cx="402336" cy="402336"/>
          </a:xfrm>
          <a:prstGeom prst="ellipse">
            <a:avLst/>
          </a:prstGeom>
          <a:solidFill>
            <a:srgbClr val="C8922F"/>
          </a:solidFill>
          <a:ln w="12700">
            <a:solidFill>
              <a:srgbClr val="C8922F"/>
            </a:solidFill>
            <a:prstDash val="solid"/>
          </a:ln>
        </p:spPr>
      </p:sp>
      <p:sp>
        <p:nvSpPr>
          <p:cNvPr id="9" name="Text 7"/>
          <p:cNvSpPr txBox="1"/>
          <p:nvPr/>
        </p:nvSpPr>
        <p:spPr>
          <a:xfrm>
            <a:off x="548640" y="2825496"/>
            <a:ext cx="402336" cy="402336"/>
          </a:xfrm>
          <a:prstGeom prst="rect">
            <a:avLst/>
          </a:prstGeom>
          <a:noFill/>
          <a:ln/>
        </p:spPr>
        <p:txBody>
          <a:bodyPr wrap="square" lIns="0" tIns="0" rIns="0" bIns="0" rtlCol="0" anchor="ctr"/>
          <a:lstStyle/>
          <a:p>
            <a:pPr algn="ctr" indent="0" marL="0">
              <a:buNone/>
            </a:pPr>
            <a:r>
              <a:rPr lang="en-US" sz="1300" b="1" dirty="0">
                <a:solidFill>
                  <a:srgbClr val="EDE7D8"/>
                </a:solidFill>
                <a:latin typeface="Cambria" pitchFamily="34" charset="0"/>
                <a:ea typeface="Cambria" pitchFamily="34" charset="-122"/>
                <a:cs typeface="Cambria" pitchFamily="34" charset="-120"/>
              </a:rPr>
              <a:t>2</a:t>
            </a:r>
            <a:endParaRPr lang="en-US" sz="1300" dirty="0"/>
          </a:p>
        </p:txBody>
      </p:sp>
      <p:sp>
        <p:nvSpPr>
          <p:cNvPr id="10" name="Text 8"/>
          <p:cNvSpPr txBox="1"/>
          <p:nvPr/>
        </p:nvSpPr>
        <p:spPr>
          <a:xfrm>
            <a:off x="1152144" y="2798064"/>
            <a:ext cx="5568696" cy="310896"/>
          </a:xfrm>
          <a:prstGeom prst="rect">
            <a:avLst/>
          </a:prstGeom>
          <a:noFill/>
          <a:ln/>
        </p:spPr>
        <p:txBody>
          <a:bodyPr wrap="square" lIns="0" tIns="0" rIns="0" bIns="0" rtlCol="0" anchor="ctr"/>
          <a:lstStyle/>
          <a:p>
            <a:pPr indent="0" marL="0">
              <a:buNone/>
            </a:pPr>
            <a:r>
              <a:rPr lang="en-US" sz="1550" b="1" dirty="0">
                <a:solidFill>
                  <a:srgbClr val="EDE7D8"/>
                </a:solidFill>
                <a:latin typeface="Cambria" pitchFamily="34" charset="0"/>
                <a:ea typeface="Cambria" pitchFamily="34" charset="-122"/>
                <a:cs typeface="Cambria" pitchFamily="34" charset="-120"/>
              </a:rPr>
              <a:t>Is the decision reversible?</a:t>
            </a:r>
            <a:endParaRPr lang="en-US" sz="1550" dirty="0"/>
          </a:p>
        </p:txBody>
      </p:sp>
      <p:sp>
        <p:nvSpPr>
          <p:cNvPr id="11" name="Text 9"/>
          <p:cNvSpPr txBox="1"/>
          <p:nvPr/>
        </p:nvSpPr>
        <p:spPr>
          <a:xfrm>
            <a:off x="1152144" y="3127248"/>
            <a:ext cx="5568696" cy="566928"/>
          </a:xfrm>
          <a:prstGeom prst="rect">
            <a:avLst/>
          </a:prstGeom>
          <a:noFill/>
          <a:ln/>
        </p:spPr>
        <p:txBody>
          <a:bodyPr wrap="square" lIns="0" tIns="0" rIns="0" bIns="0" rtlCol="0" anchor="ctr"/>
          <a:lstStyle/>
          <a:p>
            <a:pPr indent="0" marL="0">
              <a:lnSpc>
                <a:spcPct val="110000"/>
              </a:lnSpc>
              <a:buNone/>
            </a:pPr>
            <a:r>
              <a:rPr lang="en-US" sz="1250" dirty="0">
                <a:solidFill>
                  <a:srgbClr val="D9C7A3"/>
                </a:solidFill>
                <a:latin typeface="Calibri" pitchFamily="34" charset="0"/>
                <a:ea typeface="Calibri" pitchFamily="34" charset="-122"/>
                <a:cs typeface="Calibri" pitchFamily="34" charset="-120"/>
              </a:rPr>
              <a:t>Reversible mistakes deserve cheap, fast money. Irreversible ones deserve patient money.</a:t>
            </a:r>
            <a:endParaRPr lang="en-US" sz="1250" dirty="0"/>
          </a:p>
        </p:txBody>
      </p:sp>
      <p:sp>
        <p:nvSpPr>
          <p:cNvPr id="12" name="Shape 10"/>
          <p:cNvSpPr/>
          <p:nvPr/>
        </p:nvSpPr>
        <p:spPr>
          <a:xfrm>
            <a:off x="548640" y="3895344"/>
            <a:ext cx="402336" cy="402336"/>
          </a:xfrm>
          <a:prstGeom prst="ellipse">
            <a:avLst/>
          </a:prstGeom>
          <a:solidFill>
            <a:srgbClr val="C8922F"/>
          </a:solidFill>
          <a:ln w="12700">
            <a:solidFill>
              <a:srgbClr val="C8922F"/>
            </a:solidFill>
            <a:prstDash val="solid"/>
          </a:ln>
        </p:spPr>
      </p:sp>
      <p:sp>
        <p:nvSpPr>
          <p:cNvPr id="13" name="Text 11"/>
          <p:cNvSpPr txBox="1"/>
          <p:nvPr/>
        </p:nvSpPr>
        <p:spPr>
          <a:xfrm>
            <a:off x="548640" y="3895344"/>
            <a:ext cx="402336" cy="402336"/>
          </a:xfrm>
          <a:prstGeom prst="rect">
            <a:avLst/>
          </a:prstGeom>
          <a:noFill/>
          <a:ln/>
        </p:spPr>
        <p:txBody>
          <a:bodyPr wrap="square" lIns="0" tIns="0" rIns="0" bIns="0" rtlCol="0" anchor="ctr"/>
          <a:lstStyle/>
          <a:p>
            <a:pPr algn="ctr" indent="0" marL="0">
              <a:buNone/>
            </a:pPr>
            <a:r>
              <a:rPr lang="en-US" sz="1300" b="1" dirty="0">
                <a:solidFill>
                  <a:srgbClr val="EDE7D8"/>
                </a:solidFill>
                <a:latin typeface="Cambria" pitchFamily="34" charset="0"/>
                <a:ea typeface="Cambria" pitchFamily="34" charset="-122"/>
                <a:cs typeface="Cambria" pitchFamily="34" charset="-120"/>
              </a:rPr>
              <a:t>3</a:t>
            </a:r>
            <a:endParaRPr lang="en-US" sz="1300" dirty="0"/>
          </a:p>
        </p:txBody>
      </p:sp>
      <p:sp>
        <p:nvSpPr>
          <p:cNvPr id="14" name="Text 12"/>
          <p:cNvSpPr txBox="1"/>
          <p:nvPr/>
        </p:nvSpPr>
        <p:spPr>
          <a:xfrm>
            <a:off x="1152144" y="3867912"/>
            <a:ext cx="5568696" cy="310896"/>
          </a:xfrm>
          <a:prstGeom prst="rect">
            <a:avLst/>
          </a:prstGeom>
          <a:noFill/>
          <a:ln/>
        </p:spPr>
        <p:txBody>
          <a:bodyPr wrap="square" lIns="0" tIns="0" rIns="0" bIns="0" rtlCol="0" anchor="ctr"/>
          <a:lstStyle/>
          <a:p>
            <a:pPr indent="0" marL="0">
              <a:buNone/>
            </a:pPr>
            <a:r>
              <a:rPr lang="en-US" sz="1550" b="1" dirty="0">
                <a:solidFill>
                  <a:srgbClr val="EDE7D8"/>
                </a:solidFill>
                <a:latin typeface="Cambria" pitchFamily="34" charset="0"/>
                <a:ea typeface="Cambria" pitchFamily="34" charset="-122"/>
                <a:cs typeface="Cambria" pitchFamily="34" charset="-120"/>
              </a:rPr>
              <a:t>Could you make the payment in your worst month?</a:t>
            </a:r>
            <a:endParaRPr lang="en-US" sz="1550" dirty="0"/>
          </a:p>
        </p:txBody>
      </p:sp>
      <p:sp>
        <p:nvSpPr>
          <p:cNvPr id="15" name="Text 13"/>
          <p:cNvSpPr txBox="1"/>
          <p:nvPr/>
        </p:nvSpPr>
        <p:spPr>
          <a:xfrm>
            <a:off x="1152144" y="4197096"/>
            <a:ext cx="5568696" cy="566928"/>
          </a:xfrm>
          <a:prstGeom prst="rect">
            <a:avLst/>
          </a:prstGeom>
          <a:noFill/>
          <a:ln/>
        </p:spPr>
        <p:txBody>
          <a:bodyPr wrap="square" lIns="0" tIns="0" rIns="0" bIns="0" rtlCol="0" anchor="ctr"/>
          <a:lstStyle/>
          <a:p>
            <a:pPr indent="0" marL="0">
              <a:lnSpc>
                <a:spcPct val="110000"/>
              </a:lnSpc>
              <a:buNone/>
            </a:pPr>
            <a:r>
              <a:rPr lang="en-US" sz="1250" dirty="0">
                <a:solidFill>
                  <a:srgbClr val="D9C7A3"/>
                </a:solidFill>
                <a:latin typeface="Calibri" pitchFamily="34" charset="0"/>
                <a:ea typeface="Calibri" pitchFamily="34" charset="-122"/>
                <a:cs typeface="Calibri" pitchFamily="34" charset="-120"/>
              </a:rPr>
              <a:t>If not, it is not debt you can carry. The seasonality is the risk, not the rate.</a:t>
            </a:r>
            <a:endParaRPr lang="en-US" sz="1250" dirty="0"/>
          </a:p>
        </p:txBody>
      </p:sp>
      <p:sp>
        <p:nvSpPr>
          <p:cNvPr id="16" name="Shape 14"/>
          <p:cNvSpPr/>
          <p:nvPr/>
        </p:nvSpPr>
        <p:spPr>
          <a:xfrm>
            <a:off x="548640" y="4965192"/>
            <a:ext cx="402336" cy="402336"/>
          </a:xfrm>
          <a:prstGeom prst="ellipse">
            <a:avLst/>
          </a:prstGeom>
          <a:solidFill>
            <a:srgbClr val="C8922F"/>
          </a:solidFill>
          <a:ln w="12700">
            <a:solidFill>
              <a:srgbClr val="C8922F"/>
            </a:solidFill>
            <a:prstDash val="solid"/>
          </a:ln>
        </p:spPr>
      </p:sp>
      <p:sp>
        <p:nvSpPr>
          <p:cNvPr id="17" name="Text 15"/>
          <p:cNvSpPr txBox="1"/>
          <p:nvPr/>
        </p:nvSpPr>
        <p:spPr>
          <a:xfrm>
            <a:off x="548640" y="4965192"/>
            <a:ext cx="402336" cy="402336"/>
          </a:xfrm>
          <a:prstGeom prst="rect">
            <a:avLst/>
          </a:prstGeom>
          <a:noFill/>
          <a:ln/>
        </p:spPr>
        <p:txBody>
          <a:bodyPr wrap="square" lIns="0" tIns="0" rIns="0" bIns="0" rtlCol="0" anchor="ctr"/>
          <a:lstStyle/>
          <a:p>
            <a:pPr algn="ctr" indent="0" marL="0">
              <a:buNone/>
            </a:pPr>
            <a:r>
              <a:rPr lang="en-US" sz="1300" b="1" dirty="0">
                <a:solidFill>
                  <a:srgbClr val="EDE7D8"/>
                </a:solidFill>
                <a:latin typeface="Cambria" pitchFamily="34" charset="0"/>
                <a:ea typeface="Cambria" pitchFamily="34" charset="-122"/>
                <a:cs typeface="Cambria" pitchFamily="34" charset="-120"/>
              </a:rPr>
              <a:t>4</a:t>
            </a:r>
            <a:endParaRPr lang="en-US" sz="1300" dirty="0"/>
          </a:p>
        </p:txBody>
      </p:sp>
      <p:sp>
        <p:nvSpPr>
          <p:cNvPr id="18" name="Text 16"/>
          <p:cNvSpPr txBox="1"/>
          <p:nvPr/>
        </p:nvSpPr>
        <p:spPr>
          <a:xfrm>
            <a:off x="1152144" y="4937760"/>
            <a:ext cx="5568696" cy="310896"/>
          </a:xfrm>
          <a:prstGeom prst="rect">
            <a:avLst/>
          </a:prstGeom>
          <a:noFill/>
          <a:ln/>
        </p:spPr>
        <p:txBody>
          <a:bodyPr wrap="square" lIns="0" tIns="0" rIns="0" bIns="0" rtlCol="0" anchor="ctr"/>
          <a:lstStyle/>
          <a:p>
            <a:pPr indent="0" marL="0">
              <a:buNone/>
            </a:pPr>
            <a:r>
              <a:rPr lang="en-US" sz="1550" b="1" dirty="0">
                <a:solidFill>
                  <a:srgbClr val="EDE7D8"/>
                </a:solidFill>
                <a:latin typeface="Cambria" pitchFamily="34" charset="0"/>
                <a:ea typeface="Cambria" pitchFamily="34" charset="-122"/>
                <a:cs typeface="Cambria" pitchFamily="34" charset="-120"/>
              </a:rPr>
              <a:t>Is it worth a permanent share of every future dollar?</a:t>
            </a:r>
            <a:endParaRPr lang="en-US" sz="1550" dirty="0"/>
          </a:p>
        </p:txBody>
      </p:sp>
      <p:sp>
        <p:nvSpPr>
          <p:cNvPr id="19" name="Text 17"/>
          <p:cNvSpPr txBox="1"/>
          <p:nvPr/>
        </p:nvSpPr>
        <p:spPr>
          <a:xfrm>
            <a:off x="1152144" y="5266944"/>
            <a:ext cx="5568696" cy="566928"/>
          </a:xfrm>
          <a:prstGeom prst="rect">
            <a:avLst/>
          </a:prstGeom>
          <a:noFill/>
          <a:ln/>
        </p:spPr>
        <p:txBody>
          <a:bodyPr wrap="square" lIns="0" tIns="0" rIns="0" bIns="0" rtlCol="0" anchor="ctr"/>
          <a:lstStyle/>
          <a:p>
            <a:pPr indent="0" marL="0">
              <a:lnSpc>
                <a:spcPct val="110000"/>
              </a:lnSpc>
              <a:buNone/>
            </a:pPr>
            <a:r>
              <a:rPr lang="en-US" sz="1250" dirty="0">
                <a:solidFill>
                  <a:srgbClr val="D9C7A3"/>
                </a:solidFill>
                <a:latin typeface="Calibri" pitchFamily="34" charset="0"/>
                <a:ea typeface="Calibri" pitchFamily="34" charset="-122"/>
                <a:cs typeface="Calibri" pitchFamily="34" charset="-120"/>
              </a:rPr>
              <a:t>That is the only honest test for selling equity, and most projects fail it.</a:t>
            </a:r>
            <a:endParaRPr lang="en-US" sz="1250" dirty="0"/>
          </a:p>
        </p:txBody>
      </p:sp>
      <p:sp>
        <p:nvSpPr>
          <p:cNvPr id="20" name="Shape 18"/>
          <p:cNvSpPr/>
          <p:nvPr/>
        </p:nvSpPr>
        <p:spPr>
          <a:xfrm>
            <a:off x="7132320" y="1691640"/>
            <a:ext cx="4510735" cy="4206240"/>
          </a:xfrm>
          <a:prstGeom prst="roundRect">
            <a:avLst>
              <a:gd name="adj" fmla="val 1739"/>
            </a:avLst>
          </a:prstGeom>
          <a:solidFill>
            <a:srgbClr val="EDE7D8"/>
          </a:solidFill>
          <a:ln w="9525">
            <a:solidFill>
              <a:srgbClr val="D9C7A3"/>
            </a:solidFill>
            <a:prstDash val="solid"/>
          </a:ln>
        </p:spPr>
      </p:sp>
      <p:sp>
        <p:nvSpPr>
          <p:cNvPr id="21" name="Text 19"/>
          <p:cNvSpPr txBox="1"/>
          <p:nvPr/>
        </p:nvSpPr>
        <p:spPr>
          <a:xfrm>
            <a:off x="7452360" y="1847088"/>
            <a:ext cx="3200400" cy="256032"/>
          </a:xfrm>
          <a:prstGeom prst="rect">
            <a:avLst/>
          </a:prstGeom>
          <a:noFill/>
          <a:ln/>
        </p:spPr>
        <p:txBody>
          <a:bodyPr wrap="square" lIns="0" tIns="0" rIns="0" bIns="0" rtlCol="0" anchor="ctr"/>
          <a:lstStyle/>
          <a:p>
            <a:pPr indent="0" marL="0">
              <a:buNone/>
            </a:pPr>
            <a:r>
              <a:rPr lang="en-US" sz="1150" b="1" spc="160" kern="0" dirty="0">
                <a:solidFill>
                  <a:srgbClr val="8A6115"/>
                </a:solidFill>
                <a:latin typeface="Calibri" pitchFamily="34" charset="0"/>
                <a:ea typeface="Calibri" pitchFamily="34" charset="-122"/>
                <a:cs typeface="Calibri" pitchFamily="34" charset="-120"/>
              </a:rPr>
              <a:t>FIRST, THOUGH</a:t>
            </a:r>
            <a:endParaRPr lang="en-US" sz="1150" dirty="0"/>
          </a:p>
        </p:txBody>
      </p:sp>
      <p:sp>
        <p:nvSpPr>
          <p:cNvPr id="22" name="Text 20"/>
          <p:cNvSpPr txBox="1"/>
          <p:nvPr/>
        </p:nvSpPr>
        <p:spPr>
          <a:xfrm>
            <a:off x="7452360" y="2139696"/>
            <a:ext cx="3870655" cy="658368"/>
          </a:xfrm>
          <a:prstGeom prst="rect">
            <a:avLst/>
          </a:prstGeom>
          <a:noFill/>
          <a:ln/>
        </p:spPr>
        <p:txBody>
          <a:bodyPr wrap="square" lIns="0" tIns="0" rIns="0" bIns="0" rtlCol="0" anchor="ctr"/>
          <a:lstStyle/>
          <a:p>
            <a:pPr indent="0" marL="0">
              <a:lnSpc>
                <a:spcPct val="110000"/>
              </a:lnSpc>
              <a:buNone/>
            </a:pPr>
            <a:r>
              <a:rPr lang="en-US" sz="1300" b="1" dirty="0">
                <a:solidFill>
                  <a:srgbClr val="2B2A28"/>
                </a:solidFill>
                <a:latin typeface="Calibri" pitchFamily="34" charset="0"/>
                <a:ea typeface="Calibri" pitchFamily="34" charset="-122"/>
                <a:cs typeface="Calibri" pitchFamily="34" charset="-120"/>
              </a:rPr>
              <a:t>Every lender, grant reviewer, donor and investor asks for the same things. Kenyon's has none of them yet.</a:t>
            </a:r>
            <a:endParaRPr lang="en-US" sz="1300" dirty="0"/>
          </a:p>
        </p:txBody>
      </p:sp>
      <p:sp>
        <p:nvSpPr>
          <p:cNvPr id="23" name="Text 21"/>
          <p:cNvSpPr txBox="1"/>
          <p:nvPr/>
        </p:nvSpPr>
        <p:spPr>
          <a:xfrm>
            <a:off x="7452360" y="2852928"/>
            <a:ext cx="3870655" cy="1691640"/>
          </a:xfrm>
          <a:prstGeom prst="rect">
            <a:avLst/>
          </a:prstGeom>
          <a:noFill/>
          <a:ln/>
        </p:spPr>
        <p:txBody>
          <a:bodyPr wrap="square" lIns="0" tIns="0" rIns="0" bIns="0" rtlCol="0" anchor="t"/>
          <a:lstStyle/>
          <a:p>
            <a:pPr marL="177800" indent="-177800">
              <a:lnSpc>
                <a:spcPct val="105000"/>
              </a:lnSpc>
              <a:spcAft>
                <a:spcPts val="700"/>
              </a:spcAft>
              <a:buSzPct val="100000"/>
              <a:buChar char="•"/>
            </a:pPr>
            <a:r>
              <a:rPr lang="en-US" sz="1200" dirty="0">
                <a:solidFill>
                  <a:srgbClr val="2B2A28"/>
                </a:solidFill>
                <a:latin typeface="Calibri" pitchFamily="34" charset="0"/>
                <a:ea typeface="Calibri" pitchFamily="34" charset="-122"/>
                <a:cs typeface="Calibri" pitchFamily="34" charset="-120"/>
              </a:rPr>
              <a:t>The 2025 books closed</a:t>
            </a:r>
            <a:endParaRPr lang="en-US" sz="1200" dirty="0"/>
          </a:p>
          <a:p>
            <a:pPr marL="177800" indent="-177800">
              <a:lnSpc>
                <a:spcPct val="105000"/>
              </a:lnSpc>
              <a:spcAft>
                <a:spcPts val="700"/>
              </a:spcAft>
              <a:buSzPct val="100000"/>
              <a:buChar char="•"/>
            </a:pPr>
            <a:r>
              <a:rPr lang="en-US" sz="1200" dirty="0">
                <a:solidFill>
                  <a:srgbClr val="2B2A28"/>
                </a:solidFill>
                <a:latin typeface="Calibri" pitchFamily="34" charset="0"/>
                <a:ea typeface="Calibri" pitchFamily="34" charset="-122"/>
                <a:cs typeface="Calibri" pitchFamily="34" charset="-120"/>
              </a:rPr>
              <a:t>A balance sheet — cash, receivables, inventory</a:t>
            </a:r>
            <a:endParaRPr lang="en-US" sz="1200" dirty="0"/>
          </a:p>
          <a:p>
            <a:pPr marL="177800" indent="-177800">
              <a:lnSpc>
                <a:spcPct val="105000"/>
              </a:lnSpc>
              <a:spcAft>
                <a:spcPts val="700"/>
              </a:spcAft>
              <a:buSzPct val="100000"/>
              <a:buChar char="•"/>
            </a:pPr>
            <a:r>
              <a:rPr lang="en-US" sz="1200" dirty="0">
                <a:solidFill>
                  <a:srgbClr val="2B2A28"/>
                </a:solidFill>
                <a:latin typeface="Calibri" pitchFamily="34" charset="0"/>
                <a:ea typeface="Calibri" pitchFamily="34" charset="-122"/>
                <a:cs typeface="Calibri" pitchFamily="34" charset="-120"/>
              </a:rPr>
              <a:t>Soap separated from milled goods in the P&amp;L</a:t>
            </a:r>
            <a:endParaRPr lang="en-US" sz="1200" dirty="0"/>
          </a:p>
          <a:p>
            <a:pPr marL="177800" indent="-177800">
              <a:lnSpc>
                <a:spcPct val="105000"/>
              </a:lnSpc>
              <a:spcAft>
                <a:spcPts val="700"/>
              </a:spcAft>
              <a:buSzPct val="100000"/>
              <a:buChar char="•"/>
            </a:pPr>
            <a:r>
              <a:rPr lang="en-US" sz="1200" dirty="0">
                <a:solidFill>
                  <a:srgbClr val="2B2A28"/>
                </a:solidFill>
                <a:latin typeface="Calibri" pitchFamily="34" charset="0"/>
                <a:ea typeface="Calibri" pitchFamily="34" charset="-122"/>
                <a:cs typeface="Calibri" pitchFamily="34" charset="-120"/>
              </a:rPr>
              <a:t>The 24.4% of 2024 revenue in "Sales – Other" classified</a:t>
            </a:r>
            <a:endParaRPr lang="en-US" sz="1200" dirty="0"/>
          </a:p>
          <a:p>
            <a:pPr marL="177800" indent="-177800">
              <a:lnSpc>
                <a:spcPct val="105000"/>
              </a:lnSpc>
              <a:spcAft>
                <a:spcPts val="700"/>
              </a:spcAft>
              <a:buSzPct val="100000"/>
              <a:buChar char="•"/>
            </a:pPr>
            <a:r>
              <a:rPr lang="en-US" sz="1200" dirty="0">
                <a:solidFill>
                  <a:srgbClr val="2B2A28"/>
                </a:solidFill>
                <a:latin typeface="Calibri" pitchFamily="34" charset="0"/>
                <a:ea typeface="Calibri" pitchFamily="34" charset="-122"/>
                <a:cs typeface="Calibri" pitchFamily="34" charset="-120"/>
              </a:rPr>
              <a:t>Who owns the mill building, and on what terms</a:t>
            </a:r>
            <a:endParaRPr lang="en-US" sz="1200" dirty="0"/>
          </a:p>
        </p:txBody>
      </p:sp>
      <p:sp>
        <p:nvSpPr>
          <p:cNvPr id="24" name="Shape 22"/>
          <p:cNvSpPr/>
          <p:nvPr/>
        </p:nvSpPr>
        <p:spPr>
          <a:xfrm>
            <a:off x="7452360" y="4608576"/>
            <a:ext cx="3870655" cy="1042416"/>
          </a:xfrm>
          <a:prstGeom prst="roundRect">
            <a:avLst>
              <a:gd name="adj" fmla="val 5263"/>
            </a:avLst>
          </a:prstGeom>
          <a:solidFill>
            <a:srgbClr val="F0E3C4"/>
          </a:solidFill>
          <a:ln w="9525">
            <a:solidFill>
              <a:srgbClr val="D9C7A3"/>
            </a:solidFill>
            <a:prstDash val="solid"/>
          </a:ln>
        </p:spPr>
      </p:sp>
      <p:sp>
        <p:nvSpPr>
          <p:cNvPr id="25" name="Text 23"/>
          <p:cNvSpPr txBox="1"/>
          <p:nvPr/>
        </p:nvSpPr>
        <p:spPr>
          <a:xfrm>
            <a:off x="7680960" y="4727448"/>
            <a:ext cx="3413455" cy="822960"/>
          </a:xfrm>
          <a:prstGeom prst="rect">
            <a:avLst/>
          </a:prstGeom>
          <a:noFill/>
          <a:ln/>
        </p:spPr>
        <p:txBody>
          <a:bodyPr wrap="square" lIns="0" tIns="0" rIns="0" bIns="0" rtlCol="0" anchor="ctr"/>
          <a:lstStyle/>
          <a:p>
            <a:pPr indent="0" marL="0">
              <a:lnSpc>
                <a:spcPct val="110000"/>
              </a:lnSpc>
              <a:buNone/>
            </a:pPr>
            <a:r>
              <a:rPr lang="en-US" sz="1250" i="1" dirty="0">
                <a:solidFill>
                  <a:srgbClr val="2B2A28"/>
                </a:solidFill>
                <a:latin typeface="Calibri" pitchFamily="34" charset="0"/>
                <a:ea typeface="Calibri" pitchFamily="34" charset="-122"/>
                <a:cs typeface="Calibri" pitchFamily="34" charset="-120"/>
              </a:rPr>
              <a:t>This is clerical work. It costs nothing, takes about a week, and gates every option in this deck.</a:t>
            </a:r>
            <a:endParaRPr lang="en-US" sz="1250" dirty="0"/>
          </a:p>
        </p:txBody>
      </p:sp>
      <p:sp>
        <p:nvSpPr>
          <p:cNvPr id="26" name="Text 24"/>
          <p:cNvSpPr txBox="1"/>
          <p:nvPr/>
        </p:nvSpPr>
        <p:spPr>
          <a:xfrm>
            <a:off x="548640" y="6199632"/>
            <a:ext cx="11064240" cy="365760"/>
          </a:xfrm>
          <a:prstGeom prst="rect">
            <a:avLst/>
          </a:prstGeom>
          <a:noFill/>
          <a:ln/>
        </p:spPr>
        <p:txBody>
          <a:bodyPr wrap="square" lIns="0" tIns="0" rIns="0" bIns="0" rtlCol="0" anchor="ctr"/>
          <a:lstStyle/>
          <a:p>
            <a:pPr indent="0" marL="0">
              <a:lnSpc>
                <a:spcPct val="105000"/>
              </a:lnSpc>
              <a:buNone/>
            </a:pPr>
            <a:r>
              <a:rPr lang="en-US" sz="900" dirty="0">
                <a:solidFill>
                  <a:srgbClr val="6E6A63"/>
                </a:solidFill>
                <a:latin typeface="Calibri" pitchFamily="34" charset="0"/>
                <a:ea typeface="Calibri" pitchFamily="34" charset="-122"/>
                <a:cs typeface="Calibri" pitchFamily="34" charset="-120"/>
              </a:rPr>
              <a:t>Sources: USDA Rural Development · RI DEM · RI Commerce · RI Historical Preservation &amp; Heritage Commission · Preserve Rhode Island / 1772 Foundation · National Trust for Historic Preservation · SBA rate tables, September 2026 · Kenyon's Grist Mill P&amp;L 2021–2024 (cash basis)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Paying for Growth</dc:title>
  <dc:subject>PptxGenJS Presentation</dc:subject>
  <dc:creator>Kenyon's Grist Mill</dc:creator>
  <cp:lastModifiedBy>Kenyon's Grist Mill</cp:lastModifiedBy>
  <cp:revision>1</cp:revision>
  <dcterms:created xsi:type="dcterms:W3CDTF">2026-09-05T14:37:32Z</dcterms:created>
  <dcterms:modified xsi:type="dcterms:W3CDTF">2026-09-05T14:37:32Z</dcterms:modified>
</cp:coreProperties>
</file>