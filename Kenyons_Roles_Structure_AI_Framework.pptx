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Hours</c:v>
                </c:pt>
              </c:strCache>
            </c:strRef>
          </c:tx>
          <c:spPr>
            <a:solidFill>
              <a:schemeClr val="accent1"/>
            </a:solidFill>
            <a:ln w="9525" cap="flat">
              <a:solidFill>
                <a:srgbClr val="F9F9F9"/>
              </a:solidFill>
              <a:prstDash val="solid"/>
              <a:round/>
            </a:ln>
            <a:effectLst/>
          </c:spPr>
          <c:dPt>
            <c:idx val="0"/>
            <c:bubble3D val="0"/>
            <c:spPr>
              <a:solidFill>
                <a:srgbClr val="C8922F"/>
              </a:solidFill>
              <a:ln w="12700" cap="flat">
                <a:solidFill>
                  <a:srgbClr val="F5F3EE"/>
                </a:solidFill>
                <a:prstDash val="solid"/>
                <a:round/>
              </a:ln>
              <a:effectLst/>
            </c:spPr>
          </c:dPt>
          <c:dPt>
            <c:idx val="1"/>
            <c:bubble3D val="0"/>
            <c:spPr>
              <a:solidFill>
                <a:srgbClr val="2E4057"/>
              </a:solidFill>
              <a:ln w="12700" cap="flat">
                <a:solidFill>
                  <a:srgbClr val="F5F3EE"/>
                </a:solidFill>
                <a:prstDash val="solid"/>
                <a:round/>
              </a:ln>
              <a:effectLst/>
            </c:spPr>
          </c:dPt>
          <c:dPt>
            <c:idx val="2"/>
            <c:bubble3D val="0"/>
            <c:spPr>
              <a:solidFill>
                <a:srgbClr val="6E6A63"/>
              </a:solidFill>
              <a:ln w="12700" cap="flat">
                <a:solidFill>
                  <a:srgbClr val="F5F3EE"/>
                </a:solidFill>
                <a:prstDash val="solid"/>
                <a:round/>
              </a:ln>
              <a:effectLst/>
            </c:spPr>
          </c:dPt>
          <c:dPt>
            <c:idx val="3"/>
            <c:bubble3D val="0"/>
            <c:spPr>
              <a:solidFill>
                <a:srgbClr val="D9C7A3"/>
              </a:solidFill>
              <a:ln w="12700" cap="flat">
                <a:solidFill>
                  <a:srgbClr val="F5F3E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AI drafts</c:v>
                </c:pt>
                <c:pt idx="1">
                  <c:v>Human + AI</c:v>
                </c:pt>
                <c:pt idx="2">
                  <c:v>Human-led</c:v>
                </c:pt>
                <c:pt idx="3">
                  <c:v>Fix first</c:v>
                </c:pt>
              </c:strCache>
            </c:strRef>
          </c:cat>
          <c:val>
            <c:numRef>
              <c:f>Sheet1!$B$2:$B$5</c:f>
              <c:numCache>
                <c:ptCount val="4"/>
                <c:pt idx="0">
                  <c:v>8</c:v>
                </c:pt>
                <c:pt idx="1">
                  <c:v>2</c:v>
                </c:pt>
                <c:pt idx="2">
                  <c:v>3</c:v>
                </c:pt>
                <c:pt idx="3">
                  <c:v>1</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A28"/>
                </a:solidFill>
                <a:latin typeface="Calibri"/>
              </a:defRPr>
            </a:pPr>
            <a:r>
              <a:rPr sz="1200" b="0" i="0" u="none" strike="noStrike">
                <a:solidFill>
                  <a:srgbClr val="2B2A28"/>
                </a:solidFill>
                <a:latin typeface="Calibri"/>
              </a:rPr>
              <a:t>Owner hours per week (midpoints)</a:t>
            </a:r>
          </a:p>
        </c:rich>
      </c:tx>
      <c:layout/>
      <c:overlay val="0"/>
    </c:title>
    <c:autoTitleDeleted val="0"/>
    <c:plotArea>
      <c:layout/>
      <c:barChart>
        <c:barDir val="col"/>
        <c:grouping val="clustered"/>
        <c:varyColors val="0"/>
        <c:ser>
          <c:idx val="0"/>
          <c:order val="0"/>
          <c:tx>
            <c:strRef>
              <c:f>Sheet1!$B$1</c:f>
              <c:strCache>
                <c:ptCount val="1"/>
                <c:pt idx="0">
                  <c:v>Owners put in</c:v>
                </c:pt>
              </c:strCache>
            </c:strRef>
          </c:tx>
          <c:spPr>
            <a:solidFill>
              <a:srgbClr val="6E6A63"/>
            </a:solidFill>
            <a:effectLst/>
          </c:spPr>
          <c:invertIfNegative val="0"/>
          <c:dLbls>
            <c:numFmt formatCode="0.0" sourceLinked="0"/>
            <c:txPr>
              <a:bodyPr/>
              <a:lstStyle/>
              <a:p>
                <a:pPr>
                  <a:defRPr b="0" i="0" strike="noStrike" sz="1000" u="none">
                    <a:solidFill>
                      <a:srgbClr val="2B2A28"/>
                    </a:solidFill>
                    <a:latin typeface="Arial"/>
                  </a:defRPr>
                </a:pPr>
              </a:p>
            </c:txPr>
            <c:showLegendKey val="0"/>
            <c:showVal val="1"/>
            <c:showCatName val="0"/>
            <c:showSerName val="0"/>
            <c:showPercent val="0"/>
            <c:showBubbleSize val="0"/>
            <c:showLeaderLines val="0"/>
          </c:dLbls>
          <c:cat>
            <c:multiLvlStrRef>
              <c:f>Sheet1!$A$2:$A$5</c:f>
              <c:multiLvlStrCache>
                <c:ptCount val="4"/>
                <c:lvl>
                  <c:pt idx="0">
                    <c:v>0–3 mo</c:v>
                  </c:pt>
                  <c:pt idx="1">
                    <c:v>3–6 mo</c:v>
                  </c:pt>
                  <c:pt idx="2">
                    <c:v>6–12 mo</c:v>
                  </c:pt>
                  <c:pt idx="3">
                    <c:v>Yr 2–3</c:v>
                  </c:pt>
                </c:lvl>
              </c:multiLvlStrCache>
            </c:multiLvlStrRef>
          </c:cat>
          <c:val>
            <c:numRef>
              <c:f>Sheet1!$B$2:$B$5</c:f>
              <c:numCache>
                <c:formatCode>General</c:formatCode>
                <c:ptCount val="4"/>
                <c:pt idx="0">
                  <c:v>5</c:v>
                </c:pt>
                <c:pt idx="1">
                  <c:v>4</c:v>
                </c:pt>
                <c:pt idx="2">
                  <c:v>2.5</c:v>
                </c:pt>
                <c:pt idx="3">
                  <c:v>2</c:v>
                </c:pt>
              </c:numCache>
            </c:numRef>
          </c:val>
        </c:ser>
        <c:ser>
          <c:idx val="1"/>
          <c:order val="1"/>
          <c:tx>
            <c:strRef>
              <c:f>Sheet1!$C$1</c:f>
              <c:strCache>
                <c:ptCount val="1"/>
                <c:pt idx="0">
                  <c:v>Owner time back</c:v>
                </c:pt>
              </c:strCache>
            </c:strRef>
          </c:tx>
          <c:spPr>
            <a:solidFill>
              <a:srgbClr val="C8922F"/>
            </a:solidFill>
            <a:effectLst/>
          </c:spPr>
          <c:invertIfNegative val="0"/>
          <c:dLbls>
            <c:numFmt formatCode="0.0" sourceLinked="0"/>
            <c:txPr>
              <a:bodyPr/>
              <a:lstStyle/>
              <a:p>
                <a:pPr>
                  <a:defRPr b="0" i="0" strike="noStrike" sz="1000" u="none">
                    <a:solidFill>
                      <a:srgbClr val="2B2A28"/>
                    </a:solidFill>
                    <a:latin typeface="Arial"/>
                  </a:defRPr>
                </a:pPr>
              </a:p>
            </c:txPr>
            <c:showLegendKey val="0"/>
            <c:showVal val="1"/>
            <c:showCatName val="0"/>
            <c:showSerName val="0"/>
            <c:showPercent val="0"/>
            <c:showBubbleSize val="0"/>
            <c:showLeaderLines val="0"/>
          </c:dLbls>
          <c:cat>
            <c:multiLvlStrRef>
              <c:f>Sheet1!$A$2:$A$5</c:f>
              <c:multiLvlStrCache>
                <c:ptCount val="4"/>
                <c:lvl>
                  <c:pt idx="0">
                    <c:v>0–3 mo</c:v>
                  </c:pt>
                  <c:pt idx="1">
                    <c:v>3–6 mo</c:v>
                  </c:pt>
                  <c:pt idx="2">
                    <c:v>6–12 mo</c:v>
                  </c:pt>
                  <c:pt idx="3">
                    <c:v>Yr 2–3</c:v>
                  </c:pt>
                </c:lvl>
              </c:multiLvlStrCache>
            </c:multiLvlStrRef>
          </c:cat>
          <c:val>
            <c:numRef>
              <c:f>Sheet1!$C$2:$C$5</c:f>
              <c:numCache>
                <c:formatCode>General</c:formatCode>
                <c:ptCount val="4"/>
                <c:pt idx="0">
                  <c:v>3</c:v>
                </c:pt>
                <c:pt idx="1">
                  <c:v>5.5</c:v>
                </c:pt>
                <c:pt idx="2">
                  <c:v>10</c:v>
                </c:pt>
                <c:pt idx="3">
                  <c:v>13.5</c:v>
                </c:pt>
              </c:numCache>
            </c:numRef>
          </c:val>
        </c:ser>
        <c:dLbls>
          <c:numFmt formatCode="0.0" sourceLinked="0"/>
          <c:txPr>
            <a:bodyPr/>
            <a:lstStyle/>
            <a:p>
              <a:pPr>
                <a:defRPr b="0" i="0" strike="noStrike" sz="1000" u="none">
                  <a:solidFill>
                    <a:srgbClr val="2B2A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35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2A2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on a repeatable way to look at every job at the mill, decide which parts AI can take on, which parts must stay with people, and where the real gaps are. Part One is the framework. Part Two applies it to Kenyon's and proposes a structure for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36.3% and $1.10 come from the August 2026 Profitability, Risk &amp; Operating Capacity deck (weaknesses #2 and #7). The 20–25 hours comes from the July 2026 Growth, Profitability and Automation Plan. The point: adding salaried people ahead of margin would make the loss worse, so every role gets assessed before anyone is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come straight from the Growth Plan (the hiring ladder and the automation boundary) and the Agents guide ('the helpers draft, a person always decides'). Every scoring decision in the framework traces back to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is built to be run by the owners or the operations lead with a spreadsheet and a two-week time log. No consultant or software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uses the same time log the Growth Plan already calls for, so it feeds the automation roadmap and grant match documentation at the same time. Score tasks, not people. A role is usually a mix of lanes, and that's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scoring fast: about a minute per task. If two people disagree by more than one point, write down why. That's usually where the real job knowledge is hiding. Score how the task should be done, not how it happens to be done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bottom-left lane matters most early on. Low automation potential plus a low human anchor usually means the process itself is broken, like picking shipping tiers by hand. The Growth Plan's rule applies: never automate a broken process. Fix the configuration, write the procedure, or hand it to a contractor.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is treating a coverage gap as a capacity gap: buying hours when what's missing is an owner. Wholesale is the clearest example. The Scout agent can find and draft outreach to 100 prospects, but if no named person owns the channel, nothing closes. Kenyon's figures come from the August 2026 prep deck and the July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Section Ten of the Growth Plan turned into a decision tool. Rates and ranges come from the plan's 'Roles worth buying first' table. Compliance flag: a for-profit business generally can't use unpaid volunteers, even at a historic site. Check any volunteer or internship setup with an employment attorney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'offset by humans' side of the framework. Any task with a Human Anchor of 5 or 6 lands here. The goal isn't to shrink these jobs. It's to protect them: freed-up hours go back into the work that makes Kenyon's worth the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it: Auto = A + B and Anchor = C + D. 4 or more is High. Pricing lands in the AI lane but carries Risk 3, so an owner signs every change. The price-list-by-Gmail task scores low on both, which says the process is broken: publish a line sheet (the template already exists in the Agents folder) instead of automating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a first pass built from the Growth Plan, the August prep deck and the Agents system. It uses role titles, not names. The current roster and who actually does each task need confirming with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list reflects the work described in the Growth Plan and prep deck, not a confirmed roster. Ask ownership to mark who actually handles each of these today. That becomes the starting point for the Role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in this version. Strategy &amp; Finance is now its own function, and it reports straight to the owners rather than through the Operations Manager, because it holds the plan, the books and the grant pipeline. Grant writing sits inside Finance. Customer service is now its own team (SERVE) with a named lead. The Digital Team underneath runs the website, content, SEO/AEO and analytics for everyone. Box color shows each role's main lane from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one function: the plan, the books and the grants all use the same numbers. Grants ask for budgets, match documentation and financials, and those come straight from the bookkeeper. Growth Plan targets: $25k–60k in grants in year one, $75k–250k by year three. Writer fees (Grantable, 2026): foundation grants $1.5k–5k, federal applications $5k–15k+, hourly $50–95 mid-level. Percentage-of-award pricing breaks the Grant Professionals Association code of ethics. The 13-week cash forecast and the day-10 close are recommended standards. The 'fund capital with grants' rule comes from the Growth Plan's overhead discipline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Programs and amounts come from the Growth Plan's funding section and the Grants Playbook in the Agents folder. Amounts, deadlines and eligibility change every cycle, so re-verify each one against its source before drafting. The scoring rubric (eligibility 35, fit 25, size vs effort 20, match 10, timing 10) is the one the grants helper already uses. Match can often be in-kind staff time valued at actual pay, which is another reason to run the time log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repair, vehicle and 2023 maintenance figures come from the August 2026 prep deck (weakness #8). Septic, floor and face lift are the 2027 Mill Health goals. The 2010 flood and the preventive-maintenance and millstone-dressing recommendation come from the Growth Plan. Maintenance lead wage: the BLS national mean for general maintenance and repair workers was $23.87/hr in May 2023, so $22–28/hr is a reasonable Rhode Island range to confirm locally. The $10k–15k reserve is a proposed starting point, not a quote. The Growth Plan's rule applies: fund capital with grants, never operations. Rhode Island's 25% historic credit may have lapsed on 30 June 2026. Confirm it before counting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lift is the share of the role's hours that land in the AI or Human + AI lanes. High means over half, Med about a quarter to a half, Low under a quarter. These are first-pass estimates to check against the time log. Maintenance figures come from the August prep deck. See the Maintain slide for the asset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and e-commerce moved into the Digital Team (Part Three), and grant writing now sits in Finance. Rates come from the Growth Plan's 'Roles worth buying first' table. The 37% figure is from the Data Discrepancies slide in the August prep deck. The Strategy &amp; Planning gap reflects the prep deck's open next step: vision, mission, objectives and core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helpers are the six in the 'Kenyon's Agents Explained' deck. Agent files for grants, reviews and heritage archiving also exist in the Agents folder. Next-to-add start months come from Section Twelve of the Growth Plan. One workflow at a time: measure the hours saved before starting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 are now tied to the calendar, starting October 2026. That puts Q4 inside the first phase. The pack crew is a lean version this year, and the new website gets built on staging over the holidays but launches in January, after the gift rush (the Migration Strategy says not to launch into Q4). SAM.gov registration starts now because it takes weeks and gates every federal grant.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are annual and at base wage. Employee roles (Q4 crew, maintenance lead, intern, Operations Manager) cost 1.25–1.4× base once loaded. Assumptions: tool stack starts around $380/mo (see the Tool Stack slide). Q4 crew is one person at 30 hrs/wk for 10–12 weeks at $18–24/hr. Maintenance lead is 8–12 hrs/wk at $22–28/hr. URI intern is 10 hrs/wk for 30 weeks at $17–20/hr. Web retainer is 2–4 hrs/mo at $65–130/hr. Grant writer covers roughly one federal application ($5k–15k) or two or three state and foundation applications ($1.5k–5k each). Operations Manager is illustrative: 20 hrs/wk for 50 weeks at $25–32/hr. Grants can't fund these running costs; they fund capital and projects. Full-build share: $72.5k ÷ $325,868 = 22%; $131.5k ÷ $325,868 =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back are the Growth Plan's owner-admin targets (down 25% at 6 months, 45% at 12 months, 60% at 36 months) applied to today's 20–25 hrs a week. The Months 0–3 figure reflects the quick wins: calculated shipping rates (3–4 hrs/wk) and order sync. Owner and staff 'put in' hours are estimates for planning, not measured figures. The meeting rhythm comes from Section Thirteen of the Growth Plan. The crossover happens in months 3–6. After that, every phase returns more time than it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operating manual for the two teams that absorb most of the owners' screen work. Tool prices are 2026 list prices from vendor and review sites; confirm them at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are work the AI does as a draft. Following the framework, order status and product questions can move to automatic sending once replies prove accurate for 60–90 days. Refunds and anything touching food safety never do. Review targets (24 hrs for negatives, 72 hrs otherwise, 100% response rate) and the escalation ladder come from the Response Playbook in the Agents folder. The 1-business-day targets are recommended starting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list prices: Gorgias Starter $10/mo for 50 tickets, Basic $60/mo ($50 annual) for 300 tickets; its AI agent is extra at about $0.90–1.00 per resolved conversation, which we don't need because drafts come from Claude. Quo Starter is $15/user/mo and Business $23 (annual). Judge.me is free, or $15/mo for Awesome. FareHarbor has no monthly fee but adds about 6–8% to the customer's booking; Xola charges 2.39% + 30¢ with no monthly fee. Claude Pro is $20/mo ($17 annual). Confirm all prices at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Bookkeeping moved to Strategy &amp; Finance, so the Digital Team is now web, content/search and analytics. Hours offset come from the Growth Plan automation table: shipping and site fixes 3–4 hrs, social and copy 3–4, email 2–3, reporting 2, customer service 5–7. Build cost $3k–8k is the freelance Shopify Partner path in the Migration Strategy. The Shopify developer rate ($65–130/hr) is a 2026 freelance market range. The analytics setup estimate assumes 8–16 hours at that rate. Annual: web retainer $1.6k–6.2k + content $11.1k–24k + tools $4.2k–6k = $16.9k–36.2k.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cadence plugs into the Growth Plan's operating rhythm: daily 10 min, weekly 30 min, monthly 90 min, quarterly half day. The content volumes (2–3 posts a week, 2–4 long pieces a month) are recommended starting levels a fractional marketer plus intern can sustain with AI drafts.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list prices, to confirm at signup. Shopify Basic is $39/mo, or $29 billed annually. Shopify Shipping calculated USPS/UPS rates work on all plans. Wholesale: sources disagree on whether native Shopify B2B is available below Plus, so budget $0–50/mo for an app such as Sami B2B ($24.90–49.90). Klaviyo is free to 250 profiles, about $20/mo to start and about $50 at 1,000 profiles. QuickBooks Online is $38 (Simple Start) to $85 (Essentials). Google Workspace Business Starter is $7–8.40/user. Bitwarden Teams is $4/user. Claude Pro is $20/mo (Team $25–30/user with a 5-seat minimum). SEO suites: Moz $99, Ahrefs Lite $129, Semrush Pro $139.95. Hold these until month 3 and use Search Console first. AI tracking: Otterly Lite $29 (15 prompts), Searcherries $19. Range: $199/mo with everything at its floor, $730/mo with everything at its top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assumes the mill has none of these systems today. The current site runs on CityMax, a builder that is no longer developed, with no analytics hooks and no structured data. The plan follows the Migration Strategy in the Agents folder: Shopify, a freelance Shopify Partner, keep the domain, redirect every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January: the Migration Strategy warns against launching into the Q4 gift rush, and October to December is already underway. Build and test on a hidden staging site over the holidays, with Search Console, the Google Business Profile and the help desk set up first because they don't depend on the new site. Launch in the January lull. The first 2–4 weeks after launch are the monitoring window for redirects and indexing.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ownership point matters most. Every account (Google, Shopify, domain, email platform) must belong to a business account the mill controls, never a contractor's or an individual's personal login. The Analytics Setup guide also says never to hand a Google login to a third party. CityMax exports may be limited, so assume some manual rebuild and export everything before cancelling. The $59 free-shipping threshold comes from the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nine-stage plan in the Migration Strategy (Agents folder), with dates set for a January launch. 'SEO helper' is the seo-aeo-auditor agent, which can produce the URL inventory and redirect map now, before the platform is even chosen. Recommended build path: freelance Shopify Partner at $3k–8k, with the AI helpers doing the SEO, schema and content drafting that agencies charge most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list pulls together the Growth Plan's replatform actions (calculated shipping, $59 threshold with a progress bar, abandoned cart at 1/24/72 hours, recipe-card email capture, reviews), the wholesale portal and line sheet, and the visitor side (tours, festival, kayak). The prep deck proposes a $200 wholesale minimum order, which ownership should confirm. WCAG 2.1 AA is the common accessibility standard for commercial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follows the Analytics Setup guide in the Agents folder, adjusted for Shopify. On CityMax, full GA4 likely has to wait for the new site, but Search Console can be verified by DNS today. Targets are from the Growth Plan: order value $45 at 6 months and $55 at 12; conversion 1.8–2.5% at 12 months; order to ship 3 days at 6 months and 2 at 12; 200+ reviews. Every tool on this slide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keyword clusters match the seed queries in the Agents audit checklist. The title and meta lengths and the Core Web Vitals target come from the Migration Strategy's 'build to flourish' section. Local SEO matters a lot for a place people visit: the Google Business Profile drives map and local-pack results, and review reply rate is a ranking signal. Digital PR is the cheapest authority builder for a 1696 business, because the story is one editors run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SEO/AEO framework in the Agents folder. The schema list matches what the dev-schema agent already scopes. Wikipedia and similar sites have conflict-of-interest rules, so the mill shouldn't edit its own entries. Report inaccuracies through each site's proper process instead. The 40–60 word answer length is a common AEO practice, not a hard rule. Prices: Otterly Lite $29/mo for 15 prompts; Searcherries Starter $19/mo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One-time costs: build, theme and redirect ranges come from the Migration Strategy's freelance path (Path B). Photography uses the Growth Plan's photographer-and-designer range. Analytics set-up is an estimate: 8–16 hours at $65–130/hr. Monthly: $382 tool stack at starting settings plus a 2–4 hr/mo retainer at $65–130/hr. The time commitments are planning estimates, to be checked against the time log. The one-time total sits outside the four investment waves, because it's a project cost, not a running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log is the step everything else depends on. It confirms the hours, scores and costs in this deck, and it doubles as match documentation for grant applications. SAM.gov and domain control come early because they take the longest and block other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1097280"/>
            <a:ext cx="9144000" cy="274320"/>
          </a:xfrm>
          <a:prstGeom prst="rect">
            <a:avLst/>
          </a:prstGeom>
          <a:noFill/>
          <a:ln/>
        </p:spPr>
        <p:txBody>
          <a:bodyPr wrap="square" lIns="0" tIns="0" rIns="0" bIns="0" rtlCol="0" anchor="ctr"/>
          <a:lstStyle/>
          <a:p>
            <a:pPr indent="0" marL="0">
              <a:buNone/>
            </a:pPr>
            <a:r>
              <a:rPr lang="en-US" sz="1200" b="1" spc="300" kern="0" dirty="0">
                <a:solidFill>
                  <a:srgbClr val="C8922F"/>
                </a:solidFill>
                <a:latin typeface="Calibri" pitchFamily="34" charset="0"/>
                <a:ea typeface="Calibri" pitchFamily="34" charset="-122"/>
                <a:cs typeface="Calibri" pitchFamily="34" charset="-120"/>
              </a:rPr>
              <a:t>ESTABLISHED 1696  ·  USQUEPAUGH, RHODE ISLAND</a:t>
            </a:r>
            <a:endParaRPr lang="en-US" sz="1200" dirty="0"/>
          </a:p>
        </p:txBody>
      </p:sp>
      <p:sp>
        <p:nvSpPr>
          <p:cNvPr id="3" name="Text 1"/>
          <p:cNvSpPr txBox="1"/>
          <p:nvPr/>
        </p:nvSpPr>
        <p:spPr>
          <a:xfrm>
            <a:off x="548640" y="1600200"/>
            <a:ext cx="10515600" cy="914400"/>
          </a:xfrm>
          <a:prstGeom prst="rect">
            <a:avLst/>
          </a:prstGeom>
          <a:noFill/>
          <a:ln/>
        </p:spPr>
        <p:txBody>
          <a:bodyPr wrap="square" lIns="0" tIns="0" rIns="0" bIns="0" rtlCol="0" anchor="ctr"/>
          <a:lstStyle/>
          <a:p>
            <a:pPr indent="0" marL="0">
              <a:buNone/>
            </a:pPr>
            <a:r>
              <a:rPr lang="en-US" sz="4800" b="1" dirty="0">
                <a:solidFill>
                  <a:srgbClr val="EDE7D8"/>
                </a:solidFill>
                <a:latin typeface="Cambria" pitchFamily="34" charset="0"/>
                <a:ea typeface="Cambria" pitchFamily="34" charset="-122"/>
                <a:cs typeface="Cambria" pitchFamily="34" charset="-120"/>
              </a:rPr>
              <a:t>Who does what at the mill</a:t>
            </a:r>
            <a:endParaRPr lang="en-US" sz="4800" dirty="0"/>
          </a:p>
        </p:txBody>
      </p:sp>
      <p:sp>
        <p:nvSpPr>
          <p:cNvPr id="4" name="Text 2"/>
          <p:cNvSpPr txBox="1"/>
          <p:nvPr/>
        </p:nvSpPr>
        <p:spPr>
          <a:xfrm>
            <a:off x="548640" y="2606040"/>
            <a:ext cx="8412480" cy="914400"/>
          </a:xfrm>
          <a:prstGeom prst="rect">
            <a:avLst/>
          </a:prstGeom>
          <a:noFill/>
          <a:ln/>
        </p:spPr>
        <p:txBody>
          <a:bodyPr wrap="square" lIns="0" tIns="0" rIns="0" bIns="0" rtlCol="0" anchor="t"/>
          <a:lstStyle/>
          <a:p>
            <a:pPr indent="0" marL="0">
              <a:buNone/>
            </a:pPr>
            <a:r>
              <a:rPr lang="en-US" sz="2000" dirty="0">
                <a:solidFill>
                  <a:srgbClr val="D9C7A3"/>
                </a:solidFill>
                <a:latin typeface="Calibri" pitchFamily="34" charset="0"/>
                <a:ea typeface="Calibri" pitchFamily="34" charset="-122"/>
                <a:cs typeface="Calibri" pitchFamily="34" charset="-120"/>
              </a:rPr>
              <a:t>A framework for assessing every role, the teams to run the mill, and a from-zero roadmap for the website, analytics and search.</a:t>
            </a:r>
            <a:endParaRPr lang="en-US" sz="2000" dirty="0"/>
          </a:p>
        </p:txBody>
      </p:sp>
      <p:sp>
        <p:nvSpPr>
          <p:cNvPr id="5" name="Shape 3"/>
          <p:cNvSpPr/>
          <p:nvPr/>
        </p:nvSpPr>
        <p:spPr>
          <a:xfrm>
            <a:off x="548640" y="3977640"/>
            <a:ext cx="731520" cy="731520"/>
          </a:xfrm>
          <a:prstGeom prst="roundRect">
            <a:avLst>
              <a:gd name="adj" fmla="val 12500"/>
            </a:avLst>
          </a:prstGeom>
          <a:solidFill>
            <a:srgbClr val="C8922F"/>
          </a:solidFill>
          <a:ln w="12700">
            <a:solidFill>
              <a:srgbClr val="C8922F"/>
            </a:solidFill>
            <a:prstDash val="solid"/>
          </a:ln>
        </p:spPr>
      </p:sp>
      <p:sp>
        <p:nvSpPr>
          <p:cNvPr id="6" name="Shape 4"/>
          <p:cNvSpPr/>
          <p:nvPr/>
        </p:nvSpPr>
        <p:spPr>
          <a:xfrm>
            <a:off x="1463040" y="3977640"/>
            <a:ext cx="731520" cy="731520"/>
          </a:xfrm>
          <a:prstGeom prst="roundRect">
            <a:avLst>
              <a:gd name="adj" fmla="val 12500"/>
            </a:avLst>
          </a:prstGeom>
          <a:solidFill>
            <a:srgbClr val="2E4057"/>
          </a:solidFill>
          <a:ln w="12700">
            <a:solidFill>
              <a:srgbClr val="2E4057"/>
            </a:solidFill>
            <a:prstDash val="solid"/>
          </a:ln>
        </p:spPr>
      </p:sp>
      <p:sp>
        <p:nvSpPr>
          <p:cNvPr id="7" name="Shape 5"/>
          <p:cNvSpPr/>
          <p:nvPr/>
        </p:nvSpPr>
        <p:spPr>
          <a:xfrm>
            <a:off x="2377440" y="3977640"/>
            <a:ext cx="731520" cy="731520"/>
          </a:xfrm>
          <a:prstGeom prst="roundRect">
            <a:avLst>
              <a:gd name="adj" fmla="val 12500"/>
            </a:avLst>
          </a:prstGeom>
          <a:solidFill>
            <a:srgbClr val="6E6A63"/>
          </a:solidFill>
          <a:ln w="12700">
            <a:solidFill>
              <a:srgbClr val="6E6A63"/>
            </a:solidFill>
            <a:prstDash val="solid"/>
          </a:ln>
        </p:spPr>
      </p:sp>
      <p:sp>
        <p:nvSpPr>
          <p:cNvPr id="8" name="Shape 6"/>
          <p:cNvSpPr/>
          <p:nvPr/>
        </p:nvSpPr>
        <p:spPr>
          <a:xfrm>
            <a:off x="3291840" y="3977640"/>
            <a:ext cx="731520" cy="731520"/>
          </a:xfrm>
          <a:prstGeom prst="roundRect">
            <a:avLst>
              <a:gd name="adj" fmla="val 12500"/>
            </a:avLst>
          </a:prstGeom>
          <a:solidFill>
            <a:srgbClr val="D9C7A3"/>
          </a:solidFill>
          <a:ln w="12700">
            <a:solidFill>
              <a:srgbClr val="D9C7A3"/>
            </a:solidFill>
            <a:prstDash val="solid"/>
          </a:ln>
        </p:spPr>
      </p:sp>
      <p:sp>
        <p:nvSpPr>
          <p:cNvPr id="9" name="Text 7"/>
          <p:cNvSpPr txBox="1"/>
          <p:nvPr/>
        </p:nvSpPr>
        <p:spPr>
          <a:xfrm>
            <a:off x="548640" y="5120640"/>
            <a:ext cx="7315200" cy="914400"/>
          </a:xfrm>
          <a:prstGeom prst="rect">
            <a:avLst/>
          </a:prstGeom>
          <a:noFill/>
          <a:ln/>
        </p:spPr>
        <p:txBody>
          <a:bodyPr wrap="square" lIns="0" tIns="0" rIns="0" bIns="0" rtlCol="0" anchor="ctr"/>
          <a:lstStyle/>
          <a:p>
            <a:pPr indent="0" marL="0">
              <a:spcAft>
                <a:spcPts val="400"/>
              </a:spcAft>
              <a:buNone/>
            </a:pPr>
            <a:r>
              <a:rPr lang="en-US" sz="1300" b="1" dirty="0">
                <a:solidFill>
                  <a:srgbClr val="C8922F"/>
                </a:solidFill>
                <a:latin typeface="Calibri" pitchFamily="34" charset="0"/>
                <a:ea typeface="Calibri" pitchFamily="34" charset="-122"/>
                <a:cs typeface="Calibri" pitchFamily="34" charset="-120"/>
              </a:rPr>
              <a:t>PREPARED FOR  </a:t>
            </a:r>
            <a:pPr indent="0" marL="0">
              <a:spcAft>
                <a:spcPts val="400"/>
              </a:spcAft>
              <a:buNone/>
            </a:pPr>
            <a:r>
              <a:rPr lang="en-US" sz="1300" dirty="0">
                <a:solidFill>
                  <a:srgbClr val="EDE7D8"/>
                </a:solidFill>
                <a:latin typeface="Calibri" pitchFamily="34" charset="0"/>
                <a:ea typeface="Calibri" pitchFamily="34" charset="-122"/>
                <a:cs typeface="Calibri" pitchFamily="34" charset="-120"/>
              </a:rPr>
              <a:t>Ownership and family operators</a:t>
            </a:r>
            <a:endParaRPr lang="en-US" sz="1300" dirty="0"/>
          </a:p>
          <a:p>
            <a:pPr indent="0" marL="0">
              <a:spcAft>
                <a:spcPts val="400"/>
              </a:spcAft>
              <a:buNone/>
            </a:pPr>
            <a:r>
              <a:rPr lang="en-US" sz="1300" b="1" dirty="0">
                <a:solidFill>
                  <a:srgbClr val="C8922F"/>
                </a:solidFill>
                <a:latin typeface="Calibri" pitchFamily="34" charset="0"/>
                <a:ea typeface="Calibri" pitchFamily="34" charset="-122"/>
                <a:cs typeface="Calibri" pitchFamily="34" charset="-120"/>
              </a:rPr>
              <a:t>PREPARED BY  </a:t>
            </a:r>
            <a:pPr indent="0" marL="0">
              <a:spcAft>
                <a:spcPts val="400"/>
              </a:spcAft>
              <a:buNone/>
            </a:pPr>
            <a:r>
              <a:rPr lang="en-US" sz="1300" dirty="0">
                <a:solidFill>
                  <a:srgbClr val="EDE7D8"/>
                </a:solidFill>
                <a:latin typeface="Calibri" pitchFamily="34" charset="0"/>
                <a:ea typeface="Calibri" pitchFamily="34" charset="-122"/>
                <a:cs typeface="Calibri" pitchFamily="34" charset="-120"/>
              </a:rPr>
              <a:t>Drew Croll</a:t>
            </a:r>
            <a:endParaRPr lang="en-US" sz="1300" dirty="0"/>
          </a:p>
          <a:p>
            <a:pPr indent="0" marL="0">
              <a:spcAft>
                <a:spcPts val="400"/>
              </a:spcAft>
              <a:buNone/>
            </a:pPr>
            <a:r>
              <a:rPr lang="en-US" sz="1300" b="1" dirty="0">
                <a:solidFill>
                  <a:srgbClr val="C8922F"/>
                </a:solidFill>
                <a:latin typeface="Calibri" pitchFamily="34" charset="0"/>
                <a:ea typeface="Calibri" pitchFamily="34" charset="-122"/>
                <a:cs typeface="Calibri" pitchFamily="34" charset="-120"/>
              </a:rPr>
              <a:t>DATE  </a:t>
            </a:r>
            <a:pPr indent="0" marL="0">
              <a:spcAft>
                <a:spcPts val="400"/>
              </a:spcAft>
              <a:buNone/>
            </a:pPr>
            <a:r>
              <a:rPr lang="en-US" sz="1300" dirty="0">
                <a:solidFill>
                  <a:srgbClr val="EDE7D8"/>
                </a:solidFill>
                <a:latin typeface="Calibri" pitchFamily="34" charset="0"/>
                <a:ea typeface="Calibri" pitchFamily="34" charset="-122"/>
                <a:cs typeface="Calibri" pitchFamily="34" charset="-120"/>
              </a:rPr>
              <a:t>September 2026  ·  Draft for discussion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WHY STRUCTURE NOW</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We can't hire our way out. We have to design our way out.</a:t>
            </a:r>
            <a:endParaRPr lang="en-US" sz="3000" dirty="0"/>
          </a:p>
        </p:txBody>
      </p:sp>
      <p:sp>
        <p:nvSpPr>
          <p:cNvPr id="5" name="Shape 3"/>
          <p:cNvSpPr/>
          <p:nvPr/>
        </p:nvSpPr>
        <p:spPr>
          <a:xfrm>
            <a:off x="548640" y="1691640"/>
            <a:ext cx="3474720" cy="3200400"/>
          </a:xfrm>
          <a:prstGeom prst="roundRect">
            <a:avLst>
              <a:gd name="adj" fmla="val 2286"/>
            </a:avLst>
          </a:prstGeom>
          <a:solidFill>
            <a:srgbClr val="FFFFFF"/>
          </a:solidFill>
          <a:ln w="9525">
            <a:solidFill>
              <a:srgbClr val="D9C7A3"/>
            </a:solidFill>
            <a:prstDash val="solid"/>
          </a:ln>
        </p:spPr>
      </p:sp>
      <p:sp>
        <p:nvSpPr>
          <p:cNvPr id="6" name="Text 4"/>
          <p:cNvSpPr txBox="1"/>
          <p:nvPr/>
        </p:nvSpPr>
        <p:spPr>
          <a:xfrm>
            <a:off x="868680" y="2011680"/>
            <a:ext cx="2834640" cy="1005840"/>
          </a:xfrm>
          <a:prstGeom prst="rect">
            <a:avLst/>
          </a:prstGeom>
          <a:noFill/>
          <a:ln/>
        </p:spPr>
        <p:txBody>
          <a:bodyPr wrap="square" lIns="0" tIns="0" rIns="0" bIns="0" rtlCol="0" anchor="ctr"/>
          <a:lstStyle/>
          <a:p>
            <a:pPr indent="0" marL="0">
              <a:buNone/>
            </a:pPr>
            <a:r>
              <a:rPr lang="en-US" sz="5400" b="1" dirty="0">
                <a:solidFill>
                  <a:srgbClr val="2B2A28"/>
                </a:solidFill>
                <a:latin typeface="Cambria" pitchFamily="34" charset="0"/>
                <a:ea typeface="Cambria" pitchFamily="34" charset="-122"/>
                <a:cs typeface="Cambria" pitchFamily="34" charset="-120"/>
              </a:rPr>
              <a:t>36.3%</a:t>
            </a:r>
            <a:endParaRPr lang="en-US" sz="5400" dirty="0"/>
          </a:p>
        </p:txBody>
      </p:sp>
      <p:sp>
        <p:nvSpPr>
          <p:cNvPr id="7" name="Text 5"/>
          <p:cNvSpPr txBox="1"/>
          <p:nvPr/>
        </p:nvSpPr>
        <p:spPr>
          <a:xfrm>
            <a:off x="868680" y="3063240"/>
            <a:ext cx="2834640" cy="640080"/>
          </a:xfrm>
          <a:prstGeom prst="rect">
            <a:avLst/>
          </a:prstGeom>
          <a:noFill/>
          <a:ln/>
        </p:spPr>
        <p:txBody>
          <a:bodyPr wrap="square" lIns="0" tIns="0" rIns="0" bIns="0" rtlCol="0" anchor="t"/>
          <a:lstStyle/>
          <a:p>
            <a:pPr indent="0" marL="0">
              <a:buNone/>
            </a:pPr>
            <a:r>
              <a:rPr lang="en-US" sz="1600" b="1" dirty="0">
                <a:solidFill>
                  <a:srgbClr val="2B2A28"/>
                </a:solidFill>
                <a:latin typeface="Calibri" pitchFamily="34" charset="0"/>
                <a:ea typeface="Calibri" pitchFamily="34" charset="-122"/>
                <a:cs typeface="Calibri" pitchFamily="34" charset="-120"/>
              </a:rPr>
              <a:t>of revenue has no named owner</a:t>
            </a:r>
            <a:endParaRPr lang="en-US" sz="1600" dirty="0"/>
          </a:p>
        </p:txBody>
      </p:sp>
      <p:sp>
        <p:nvSpPr>
          <p:cNvPr id="8" name="Text 6"/>
          <p:cNvSpPr txBox="1"/>
          <p:nvPr/>
        </p:nvSpPr>
        <p:spPr>
          <a:xfrm>
            <a:off x="868680" y="3749040"/>
            <a:ext cx="2834640" cy="914400"/>
          </a:xfrm>
          <a:prstGeom prst="rect">
            <a:avLst/>
          </a:prstGeom>
          <a:noFill/>
          <a:ln/>
        </p:spPr>
        <p:txBody>
          <a:bodyPr wrap="square" lIns="0" tIns="0" rIns="0" bIns="0" rtlCol="0" anchor="t"/>
          <a:lstStyle/>
          <a:p>
            <a:pPr indent="0" marL="0">
              <a:buNone/>
            </a:pPr>
            <a:r>
              <a:rPr lang="en-US" sz="1300" dirty="0">
                <a:solidFill>
                  <a:srgbClr val="4A5359"/>
                </a:solidFill>
                <a:latin typeface="Calibri" pitchFamily="34" charset="0"/>
                <a:ea typeface="Calibri" pitchFamily="34" charset="-122"/>
                <a:cs typeface="Calibri" pitchFamily="34" charset="-120"/>
              </a:rPr>
              <a:t>Wholesale, the only channel that grew every year, has no one assigned to it.</a:t>
            </a:r>
            <a:endParaRPr lang="en-US" sz="1300" dirty="0"/>
          </a:p>
        </p:txBody>
      </p:sp>
      <p:sp>
        <p:nvSpPr>
          <p:cNvPr id="9" name="Shape 7"/>
          <p:cNvSpPr/>
          <p:nvPr/>
        </p:nvSpPr>
        <p:spPr>
          <a:xfrm>
            <a:off x="4297680" y="1691640"/>
            <a:ext cx="3474720" cy="3200400"/>
          </a:xfrm>
          <a:prstGeom prst="roundRect">
            <a:avLst>
              <a:gd name="adj" fmla="val 2286"/>
            </a:avLst>
          </a:prstGeom>
          <a:solidFill>
            <a:srgbClr val="FFFFFF"/>
          </a:solidFill>
          <a:ln w="9525">
            <a:solidFill>
              <a:srgbClr val="D9C7A3"/>
            </a:solidFill>
            <a:prstDash val="solid"/>
          </a:ln>
        </p:spPr>
      </p:sp>
      <p:sp>
        <p:nvSpPr>
          <p:cNvPr id="10" name="Text 8"/>
          <p:cNvSpPr txBox="1"/>
          <p:nvPr/>
        </p:nvSpPr>
        <p:spPr>
          <a:xfrm>
            <a:off x="4617720" y="2011680"/>
            <a:ext cx="2834640" cy="1005840"/>
          </a:xfrm>
          <a:prstGeom prst="rect">
            <a:avLst/>
          </a:prstGeom>
          <a:noFill/>
          <a:ln/>
        </p:spPr>
        <p:txBody>
          <a:bodyPr wrap="square" lIns="0" tIns="0" rIns="0" bIns="0" rtlCol="0" anchor="ctr"/>
          <a:lstStyle/>
          <a:p>
            <a:pPr indent="0" marL="0">
              <a:buNone/>
            </a:pPr>
            <a:r>
              <a:rPr lang="en-US" sz="5400" b="1" dirty="0">
                <a:solidFill>
                  <a:srgbClr val="2E4057"/>
                </a:solidFill>
                <a:latin typeface="Cambria" pitchFamily="34" charset="0"/>
                <a:ea typeface="Cambria" pitchFamily="34" charset="-122"/>
                <a:cs typeface="Cambria" pitchFamily="34" charset="-120"/>
              </a:rPr>
              <a:t>20–25</a:t>
            </a:r>
            <a:endParaRPr lang="en-US" sz="5400" dirty="0"/>
          </a:p>
        </p:txBody>
      </p:sp>
      <p:sp>
        <p:nvSpPr>
          <p:cNvPr id="11" name="Text 9"/>
          <p:cNvSpPr txBox="1"/>
          <p:nvPr/>
        </p:nvSpPr>
        <p:spPr>
          <a:xfrm>
            <a:off x="4617720" y="3063240"/>
            <a:ext cx="2834640" cy="640080"/>
          </a:xfrm>
          <a:prstGeom prst="rect">
            <a:avLst/>
          </a:prstGeom>
          <a:noFill/>
          <a:ln/>
        </p:spPr>
        <p:txBody>
          <a:bodyPr wrap="square" lIns="0" tIns="0" rIns="0" bIns="0" rtlCol="0" anchor="t"/>
          <a:lstStyle/>
          <a:p>
            <a:pPr indent="0" marL="0">
              <a:buNone/>
            </a:pPr>
            <a:r>
              <a:rPr lang="en-US" sz="1600" b="1" dirty="0">
                <a:solidFill>
                  <a:srgbClr val="2B2A28"/>
                </a:solidFill>
                <a:latin typeface="Calibri" pitchFamily="34" charset="0"/>
                <a:ea typeface="Calibri" pitchFamily="34" charset="-122"/>
                <a:cs typeface="Calibri" pitchFamily="34" charset="-120"/>
              </a:rPr>
              <a:t>hours a week of owner admin time</a:t>
            </a:r>
            <a:endParaRPr lang="en-US" sz="1600" dirty="0"/>
          </a:p>
        </p:txBody>
      </p:sp>
      <p:sp>
        <p:nvSpPr>
          <p:cNvPr id="12" name="Text 10"/>
          <p:cNvSpPr txBox="1"/>
          <p:nvPr/>
        </p:nvSpPr>
        <p:spPr>
          <a:xfrm>
            <a:off x="4617720" y="3749040"/>
            <a:ext cx="2834640" cy="914400"/>
          </a:xfrm>
          <a:prstGeom prst="rect">
            <a:avLst/>
          </a:prstGeom>
          <a:noFill/>
          <a:ln/>
        </p:spPr>
        <p:txBody>
          <a:bodyPr wrap="square" lIns="0" tIns="0" rIns="0" bIns="0" rtlCol="0" anchor="t"/>
          <a:lstStyle/>
          <a:p>
            <a:pPr indent="0" marL="0">
              <a:buNone/>
            </a:pPr>
            <a:r>
              <a:rPr lang="en-US" sz="1300" dirty="0">
                <a:solidFill>
                  <a:srgbClr val="4A5359"/>
                </a:solidFill>
                <a:latin typeface="Calibri" pitchFamily="34" charset="0"/>
                <a:ea typeface="Calibri" pitchFamily="34" charset="-122"/>
                <a:cs typeface="Calibri" pitchFamily="34" charset="-120"/>
              </a:rPr>
              <a:t>Email, shipping fixes, invoicing, books and reports, mostly on a screen.</a:t>
            </a:r>
            <a:endParaRPr lang="en-US" sz="1300" dirty="0"/>
          </a:p>
        </p:txBody>
      </p:sp>
      <p:sp>
        <p:nvSpPr>
          <p:cNvPr id="13" name="Shape 11"/>
          <p:cNvSpPr/>
          <p:nvPr/>
        </p:nvSpPr>
        <p:spPr>
          <a:xfrm>
            <a:off x="8046720" y="1691640"/>
            <a:ext cx="3474720" cy="3200400"/>
          </a:xfrm>
          <a:prstGeom prst="roundRect">
            <a:avLst>
              <a:gd name="adj" fmla="val 2286"/>
            </a:avLst>
          </a:prstGeom>
          <a:solidFill>
            <a:srgbClr val="FFFFFF"/>
          </a:solidFill>
          <a:ln w="9525">
            <a:solidFill>
              <a:srgbClr val="D9C7A3"/>
            </a:solidFill>
            <a:prstDash val="solid"/>
          </a:ln>
        </p:spPr>
      </p:sp>
      <p:sp>
        <p:nvSpPr>
          <p:cNvPr id="14" name="Text 12"/>
          <p:cNvSpPr txBox="1"/>
          <p:nvPr/>
        </p:nvSpPr>
        <p:spPr>
          <a:xfrm>
            <a:off x="8366760" y="2011680"/>
            <a:ext cx="2834640" cy="1005840"/>
          </a:xfrm>
          <a:prstGeom prst="rect">
            <a:avLst/>
          </a:prstGeom>
          <a:noFill/>
          <a:ln/>
        </p:spPr>
        <p:txBody>
          <a:bodyPr wrap="square" lIns="0" tIns="0" rIns="0" bIns="0" rtlCol="0" anchor="ctr"/>
          <a:lstStyle/>
          <a:p>
            <a:pPr indent="0" marL="0">
              <a:buNone/>
            </a:pPr>
            <a:r>
              <a:rPr lang="en-US" sz="5400" b="1" dirty="0">
                <a:solidFill>
                  <a:srgbClr val="2B2A28"/>
                </a:solidFill>
                <a:latin typeface="Cambria" pitchFamily="34" charset="0"/>
                <a:ea typeface="Cambria" pitchFamily="34" charset="-122"/>
                <a:cs typeface="Cambria" pitchFamily="34" charset="-120"/>
              </a:rPr>
              <a:t>$1.10</a:t>
            </a:r>
            <a:endParaRPr lang="en-US" sz="5400" dirty="0"/>
          </a:p>
        </p:txBody>
      </p:sp>
      <p:sp>
        <p:nvSpPr>
          <p:cNvPr id="15" name="Text 13"/>
          <p:cNvSpPr txBox="1"/>
          <p:nvPr/>
        </p:nvSpPr>
        <p:spPr>
          <a:xfrm>
            <a:off x="8366760" y="3063240"/>
            <a:ext cx="2834640" cy="640080"/>
          </a:xfrm>
          <a:prstGeom prst="rect">
            <a:avLst/>
          </a:prstGeom>
          <a:noFill/>
          <a:ln/>
        </p:spPr>
        <p:txBody>
          <a:bodyPr wrap="square" lIns="0" tIns="0" rIns="0" bIns="0" rtlCol="0" anchor="t"/>
          <a:lstStyle/>
          <a:p>
            <a:pPr indent="0" marL="0">
              <a:buNone/>
            </a:pPr>
            <a:r>
              <a:rPr lang="en-US" sz="1600" b="1" dirty="0">
                <a:solidFill>
                  <a:srgbClr val="2B2A28"/>
                </a:solidFill>
                <a:latin typeface="Calibri" pitchFamily="34" charset="0"/>
                <a:ea typeface="Calibri" pitchFamily="34" charset="-122"/>
                <a:cs typeface="Calibri" pitchFamily="34" charset="-120"/>
              </a:rPr>
              <a:t>spent for every $1.00 earned in 2024</a:t>
            </a:r>
            <a:endParaRPr lang="en-US" sz="1600" dirty="0"/>
          </a:p>
        </p:txBody>
      </p:sp>
      <p:sp>
        <p:nvSpPr>
          <p:cNvPr id="16" name="Text 14"/>
          <p:cNvSpPr txBox="1"/>
          <p:nvPr/>
        </p:nvSpPr>
        <p:spPr>
          <a:xfrm>
            <a:off x="8366760" y="3749040"/>
            <a:ext cx="2834640" cy="914400"/>
          </a:xfrm>
          <a:prstGeom prst="rect">
            <a:avLst/>
          </a:prstGeom>
          <a:noFill/>
          <a:ln/>
        </p:spPr>
        <p:txBody>
          <a:bodyPr wrap="square" lIns="0" tIns="0" rIns="0" bIns="0" rtlCol="0" anchor="t"/>
          <a:lstStyle/>
          <a:p>
            <a:pPr indent="0" marL="0">
              <a:buNone/>
            </a:pPr>
            <a:r>
              <a:rPr lang="en-US" sz="1300" dirty="0">
                <a:solidFill>
                  <a:srgbClr val="4A5359"/>
                </a:solidFill>
                <a:latin typeface="Calibri" pitchFamily="34" charset="0"/>
                <a:ea typeface="Calibri" pitchFamily="34" charset="-122"/>
                <a:cs typeface="Calibri" pitchFamily="34" charset="-120"/>
              </a:rPr>
              <a:t>Any new fixed cost has to earn its keep, so AI and variable labor come first.</a:t>
            </a:r>
            <a:endParaRPr lang="en-US" sz="1300" dirty="0"/>
          </a:p>
        </p:txBody>
      </p:sp>
      <p:sp>
        <p:nvSpPr>
          <p:cNvPr id="17" name="Shape 15"/>
          <p:cNvSpPr/>
          <p:nvPr/>
        </p:nvSpPr>
        <p:spPr>
          <a:xfrm>
            <a:off x="548640" y="5166360"/>
            <a:ext cx="11064240" cy="960120"/>
          </a:xfrm>
          <a:prstGeom prst="roundRect">
            <a:avLst>
              <a:gd name="adj" fmla="val 7619"/>
            </a:avLst>
          </a:prstGeom>
          <a:solidFill>
            <a:srgbClr val="F0E3C4"/>
          </a:solidFill>
          <a:ln w="12700">
            <a:solidFill>
              <a:srgbClr val="F0E3C4"/>
            </a:solidFill>
            <a:prstDash val="solid"/>
          </a:ln>
        </p:spPr>
      </p:sp>
      <p:sp>
        <p:nvSpPr>
          <p:cNvPr id="18" name="Text 16"/>
          <p:cNvSpPr txBox="1"/>
          <p:nvPr/>
        </p:nvSpPr>
        <p:spPr>
          <a:xfrm>
            <a:off x="868680" y="5166360"/>
            <a:ext cx="10424160" cy="960120"/>
          </a:xfrm>
          <a:prstGeom prst="rect">
            <a:avLst/>
          </a:prstGeom>
          <a:noFill/>
          <a:ln/>
        </p:spPr>
        <p:txBody>
          <a:bodyPr wrap="square" lIns="0" tIns="0" rIns="0" bIns="0" rtlCol="0" anchor="ctr"/>
          <a:lstStyle/>
          <a:p>
            <a:pPr indent="0" marL="0">
              <a:buNone/>
            </a:pPr>
            <a:r>
              <a:rPr lang="en-US" sz="1800" b="1" i="1" dirty="0">
                <a:solidFill>
                  <a:srgbClr val="2B2A28"/>
                </a:solidFill>
                <a:latin typeface="Cambria" pitchFamily="34" charset="0"/>
                <a:ea typeface="Cambria" pitchFamily="34" charset="-122"/>
                <a:cs typeface="Cambria" pitchFamily="34" charset="-120"/>
              </a:rPr>
              <a:t>The question for every role: what must a person do, what can AI carry, and where is the real gap?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GROUND RULES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Three rules the framework never breaks</a:t>
            </a:r>
            <a:endParaRPr lang="en-US" sz="3000" dirty="0"/>
          </a:p>
        </p:txBody>
      </p:sp>
      <p:sp>
        <p:nvSpPr>
          <p:cNvPr id="5" name="Shape 3"/>
          <p:cNvSpPr/>
          <p:nvPr/>
        </p:nvSpPr>
        <p:spPr>
          <a:xfrm>
            <a:off x="548640" y="1691640"/>
            <a:ext cx="11064240" cy="1280160"/>
          </a:xfrm>
          <a:prstGeom prst="roundRect">
            <a:avLst>
              <a:gd name="adj" fmla="val 5714"/>
            </a:avLst>
          </a:prstGeom>
          <a:solidFill>
            <a:srgbClr val="FFFFFF"/>
          </a:solidFill>
          <a:ln w="9525">
            <a:solidFill>
              <a:srgbClr val="D9C7A3"/>
            </a:solidFill>
            <a:prstDash val="solid"/>
          </a:ln>
        </p:spPr>
      </p:sp>
      <p:sp>
        <p:nvSpPr>
          <p:cNvPr id="6" name="Shape 4"/>
          <p:cNvSpPr/>
          <p:nvPr/>
        </p:nvSpPr>
        <p:spPr>
          <a:xfrm>
            <a:off x="868680" y="2057400"/>
            <a:ext cx="548640" cy="548640"/>
          </a:xfrm>
          <a:prstGeom prst="ellipse">
            <a:avLst/>
          </a:prstGeom>
          <a:solidFill>
            <a:srgbClr val="C8922F"/>
          </a:solidFill>
          <a:ln w="12700">
            <a:solidFill>
              <a:srgbClr val="C8922F"/>
            </a:solidFill>
            <a:prstDash val="solid"/>
          </a:ln>
        </p:spPr>
      </p:sp>
      <p:sp>
        <p:nvSpPr>
          <p:cNvPr id="7" name="Text 5"/>
          <p:cNvSpPr txBox="1"/>
          <p:nvPr/>
        </p:nvSpPr>
        <p:spPr>
          <a:xfrm>
            <a:off x="868680" y="2057400"/>
            <a:ext cx="548640" cy="54864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737360" y="1874520"/>
            <a:ext cx="3657600" cy="914400"/>
          </a:xfrm>
          <a:prstGeom prst="rect">
            <a:avLst/>
          </a:prstGeom>
          <a:noFill/>
          <a:ln/>
        </p:spPr>
        <p:txBody>
          <a:bodyPr wrap="square" lIns="0" tIns="0" rIns="0" bIns="0" rtlCol="0" anchor="ctr"/>
          <a:lstStyle/>
          <a:p>
            <a:pPr indent="0" marL="0">
              <a:buNone/>
            </a:pPr>
            <a:r>
              <a:rPr lang="en-US" sz="2000" b="1" dirty="0">
                <a:solidFill>
                  <a:srgbClr val="2B2A28"/>
                </a:solidFill>
                <a:latin typeface="Cambria" pitchFamily="34" charset="0"/>
                <a:ea typeface="Cambria" pitchFamily="34" charset="-122"/>
                <a:cs typeface="Cambria" pitchFamily="34" charset="-120"/>
              </a:rPr>
              <a:t>Automate before we hire</a:t>
            </a:r>
            <a:endParaRPr lang="en-US" sz="2000" dirty="0"/>
          </a:p>
        </p:txBody>
      </p:sp>
      <p:sp>
        <p:nvSpPr>
          <p:cNvPr id="9" name="Text 7"/>
          <p:cNvSpPr txBox="1"/>
          <p:nvPr/>
        </p:nvSpPr>
        <p:spPr>
          <a:xfrm>
            <a:off x="5577840" y="1874520"/>
            <a:ext cx="5760720" cy="914400"/>
          </a:xfrm>
          <a:prstGeom prst="rect">
            <a:avLst/>
          </a:prstGeom>
          <a:noFill/>
          <a:ln/>
        </p:spPr>
        <p:txBody>
          <a:bodyPr wrap="square" lIns="0" tIns="0" rIns="0" bIns="0" rtlCol="0" anchor="ctr"/>
          <a:lstStyle/>
          <a:p>
            <a:pPr indent="0" marL="0">
              <a:buNone/>
            </a:pPr>
            <a:r>
              <a:rPr lang="en-US" sz="1500" dirty="0">
                <a:solidFill>
                  <a:srgbClr val="4A5359"/>
                </a:solidFill>
                <a:latin typeface="Calibri" pitchFamily="34" charset="0"/>
                <a:ea typeface="Calibri" pitchFamily="34" charset="-122"/>
                <a:cs typeface="Calibri" pitchFamily="34" charset="-120"/>
              </a:rPr>
              <a:t>Every hour AI gives back is an hour we don't have to pay for. Fifteen to twenty hours a week is about half a position, with no fixed cost.</a:t>
            </a:r>
            <a:endParaRPr lang="en-US" sz="1500" dirty="0"/>
          </a:p>
        </p:txBody>
      </p:sp>
      <p:sp>
        <p:nvSpPr>
          <p:cNvPr id="10" name="Shape 8"/>
          <p:cNvSpPr/>
          <p:nvPr/>
        </p:nvSpPr>
        <p:spPr>
          <a:xfrm>
            <a:off x="548640" y="3172968"/>
            <a:ext cx="11064240" cy="1280160"/>
          </a:xfrm>
          <a:prstGeom prst="roundRect">
            <a:avLst>
              <a:gd name="adj" fmla="val 5714"/>
            </a:avLst>
          </a:prstGeom>
          <a:solidFill>
            <a:srgbClr val="FFFFFF"/>
          </a:solidFill>
          <a:ln w="9525">
            <a:solidFill>
              <a:srgbClr val="D9C7A3"/>
            </a:solidFill>
            <a:prstDash val="solid"/>
          </a:ln>
        </p:spPr>
      </p:sp>
      <p:sp>
        <p:nvSpPr>
          <p:cNvPr id="11" name="Shape 9"/>
          <p:cNvSpPr/>
          <p:nvPr/>
        </p:nvSpPr>
        <p:spPr>
          <a:xfrm>
            <a:off x="868680" y="3538728"/>
            <a:ext cx="548640" cy="548640"/>
          </a:xfrm>
          <a:prstGeom prst="ellipse">
            <a:avLst/>
          </a:prstGeom>
          <a:solidFill>
            <a:srgbClr val="2E4057"/>
          </a:solidFill>
          <a:ln w="12700">
            <a:solidFill>
              <a:srgbClr val="2E4057"/>
            </a:solidFill>
            <a:prstDash val="solid"/>
          </a:ln>
        </p:spPr>
      </p:sp>
      <p:sp>
        <p:nvSpPr>
          <p:cNvPr id="12" name="Text 10"/>
          <p:cNvSpPr txBox="1"/>
          <p:nvPr/>
        </p:nvSpPr>
        <p:spPr>
          <a:xfrm>
            <a:off x="868680" y="35387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737360" y="3355848"/>
            <a:ext cx="3657600" cy="914400"/>
          </a:xfrm>
          <a:prstGeom prst="rect">
            <a:avLst/>
          </a:prstGeom>
          <a:noFill/>
          <a:ln/>
        </p:spPr>
        <p:txBody>
          <a:bodyPr wrap="square" lIns="0" tIns="0" rIns="0" bIns="0" rtlCol="0" anchor="ctr"/>
          <a:lstStyle/>
          <a:p>
            <a:pPr indent="0" marL="0">
              <a:buNone/>
            </a:pPr>
            <a:r>
              <a:rPr lang="en-US" sz="2000" b="1" dirty="0">
                <a:solidFill>
                  <a:srgbClr val="2B2A28"/>
                </a:solidFill>
                <a:latin typeface="Cambria" pitchFamily="34" charset="0"/>
                <a:ea typeface="Cambria" pitchFamily="34" charset="-122"/>
                <a:cs typeface="Cambria" pitchFamily="34" charset="-120"/>
              </a:rPr>
              <a:t>AI drafts. A person decides.</a:t>
            </a:r>
            <a:endParaRPr lang="en-US" sz="2000" dirty="0"/>
          </a:p>
        </p:txBody>
      </p:sp>
      <p:sp>
        <p:nvSpPr>
          <p:cNvPr id="14" name="Text 12"/>
          <p:cNvSpPr txBox="1"/>
          <p:nvPr/>
        </p:nvSpPr>
        <p:spPr>
          <a:xfrm>
            <a:off x="5577840" y="3355848"/>
            <a:ext cx="5760720" cy="914400"/>
          </a:xfrm>
          <a:prstGeom prst="rect">
            <a:avLst/>
          </a:prstGeom>
          <a:noFill/>
          <a:ln/>
        </p:spPr>
        <p:txBody>
          <a:bodyPr wrap="square" lIns="0" tIns="0" rIns="0" bIns="0" rtlCol="0" anchor="ctr"/>
          <a:lstStyle/>
          <a:p>
            <a:pPr indent="0" marL="0">
              <a:buNone/>
            </a:pPr>
            <a:r>
              <a:rPr lang="en-US" sz="1500" dirty="0">
                <a:solidFill>
                  <a:srgbClr val="4A5359"/>
                </a:solidFill>
                <a:latin typeface="Calibri" pitchFamily="34" charset="0"/>
                <a:ea typeface="Calibri" pitchFamily="34" charset="-122"/>
                <a:cs typeface="Calibri" pitchFamily="34" charset="-120"/>
              </a:rPr>
              <a:t>Nothing gets published, emailed, priced or paid for without a yes from a named person. It's a safety guardrail and a brand guardrail.</a:t>
            </a:r>
            <a:endParaRPr lang="en-US" sz="1500" dirty="0"/>
          </a:p>
        </p:txBody>
      </p:sp>
      <p:sp>
        <p:nvSpPr>
          <p:cNvPr id="15" name="Shape 13"/>
          <p:cNvSpPr/>
          <p:nvPr/>
        </p:nvSpPr>
        <p:spPr>
          <a:xfrm>
            <a:off x="548640" y="4654296"/>
            <a:ext cx="11064240" cy="1280160"/>
          </a:xfrm>
          <a:prstGeom prst="roundRect">
            <a:avLst>
              <a:gd name="adj" fmla="val 5714"/>
            </a:avLst>
          </a:prstGeom>
          <a:solidFill>
            <a:srgbClr val="FFFFFF"/>
          </a:solidFill>
          <a:ln w="9525">
            <a:solidFill>
              <a:srgbClr val="D9C7A3"/>
            </a:solidFill>
            <a:prstDash val="solid"/>
          </a:ln>
        </p:spPr>
      </p:sp>
      <p:sp>
        <p:nvSpPr>
          <p:cNvPr id="16" name="Shape 14"/>
          <p:cNvSpPr/>
          <p:nvPr/>
        </p:nvSpPr>
        <p:spPr>
          <a:xfrm>
            <a:off x="868680" y="5020056"/>
            <a:ext cx="548640" cy="548640"/>
          </a:xfrm>
          <a:prstGeom prst="ellipse">
            <a:avLst/>
          </a:prstGeom>
          <a:solidFill>
            <a:srgbClr val="6E6A63"/>
          </a:solidFill>
          <a:ln w="12700">
            <a:solidFill>
              <a:srgbClr val="6E6A63"/>
            </a:solidFill>
            <a:prstDash val="solid"/>
          </a:ln>
        </p:spPr>
      </p:sp>
      <p:sp>
        <p:nvSpPr>
          <p:cNvPr id="17" name="Text 15"/>
          <p:cNvSpPr txBox="1"/>
          <p:nvPr/>
        </p:nvSpPr>
        <p:spPr>
          <a:xfrm>
            <a:off x="868680" y="50200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737360" y="4837176"/>
            <a:ext cx="3657600" cy="914400"/>
          </a:xfrm>
          <a:prstGeom prst="rect">
            <a:avLst/>
          </a:prstGeom>
          <a:noFill/>
          <a:ln/>
        </p:spPr>
        <p:txBody>
          <a:bodyPr wrap="square" lIns="0" tIns="0" rIns="0" bIns="0" rtlCol="0" anchor="ctr"/>
          <a:lstStyle/>
          <a:p>
            <a:pPr indent="0" marL="0">
              <a:buNone/>
            </a:pPr>
            <a:r>
              <a:rPr lang="en-US" sz="2000" b="1" dirty="0">
                <a:solidFill>
                  <a:srgbClr val="2B2A28"/>
                </a:solidFill>
                <a:latin typeface="Cambria" pitchFamily="34" charset="0"/>
                <a:ea typeface="Cambria" pitchFamily="34" charset="-122"/>
                <a:cs typeface="Cambria" pitchFamily="34" charset="-120"/>
              </a:rPr>
              <a:t>People stay where people are the product</a:t>
            </a:r>
            <a:endParaRPr lang="en-US" sz="2000" dirty="0"/>
          </a:p>
        </p:txBody>
      </p:sp>
      <p:sp>
        <p:nvSpPr>
          <p:cNvPr id="19" name="Text 17"/>
          <p:cNvSpPr txBox="1"/>
          <p:nvPr/>
        </p:nvSpPr>
        <p:spPr>
          <a:xfrm>
            <a:off x="5577840" y="4837176"/>
            <a:ext cx="5760720" cy="914400"/>
          </a:xfrm>
          <a:prstGeom prst="rect">
            <a:avLst/>
          </a:prstGeom>
          <a:noFill/>
          <a:ln/>
        </p:spPr>
        <p:txBody>
          <a:bodyPr wrap="square" lIns="0" tIns="0" rIns="0" bIns="0" rtlCol="0" anchor="ctr"/>
          <a:lstStyle/>
          <a:p>
            <a:pPr indent="0" marL="0">
              <a:buNone/>
            </a:pPr>
            <a:r>
              <a:rPr lang="en-US" sz="1500" dirty="0">
                <a:solidFill>
                  <a:srgbClr val="4A5359"/>
                </a:solidFill>
                <a:latin typeface="Calibri" pitchFamily="34" charset="0"/>
                <a:ea typeface="Calibri" pitchFamily="34" charset="-122"/>
                <a:cs typeface="Calibri" pitchFamily="34" charset="-120"/>
              </a:rPr>
              <a:t>AI handles invoicing, scheduling, reporting and research. It stays off the mill floor, the shop counter, the tour and the story.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D9C7A3"/>
                </a:solidFill>
                <a:latin typeface="Calibri" pitchFamily="34" charset="0"/>
                <a:ea typeface="Calibri" pitchFamily="34" charset="-122"/>
                <a:cs typeface="Calibri" pitchFamily="34" charset="-120"/>
              </a:rPr>
              <a:t>Kenyon's Grist Mill  ·  Roles, Structure &amp; AI  ·  4</a:t>
            </a:r>
            <a:endParaRPr lang="en-US" sz="900" dirty="0"/>
          </a:p>
        </p:txBody>
      </p:sp>
      <p:sp>
        <p:nvSpPr>
          <p:cNvPr id="3" name="Text 1"/>
          <p:cNvSpPr txBox="1"/>
          <p:nvPr/>
        </p:nvSpPr>
        <p:spPr>
          <a:xfrm>
            <a:off x="548640" y="2194560"/>
            <a:ext cx="7315200" cy="365760"/>
          </a:xfrm>
          <a:prstGeom prst="rect">
            <a:avLst/>
          </a:prstGeom>
          <a:noFill/>
          <a:ln/>
        </p:spPr>
        <p:txBody>
          <a:bodyPr wrap="square" lIns="0" tIns="0" rIns="0" bIns="0" rtlCol="0" anchor="ctr"/>
          <a:lstStyle/>
          <a:p>
            <a:pPr indent="0" marL="0">
              <a:buNone/>
            </a:pPr>
            <a:r>
              <a:rPr lang="en-US" sz="1400" b="1" spc="400" kern="0" dirty="0">
                <a:solidFill>
                  <a:srgbClr val="C8922F"/>
                </a:solidFill>
                <a:latin typeface="Calibri" pitchFamily="34" charset="0"/>
                <a:ea typeface="Calibri" pitchFamily="34" charset="-122"/>
                <a:cs typeface="Calibri" pitchFamily="34" charset="-120"/>
              </a:rPr>
              <a:t>PART ONE</a:t>
            </a:r>
            <a:endParaRPr lang="en-US" sz="1400" dirty="0"/>
          </a:p>
        </p:txBody>
      </p:sp>
      <p:sp>
        <p:nvSpPr>
          <p:cNvPr id="4" name="Text 2"/>
          <p:cNvSpPr txBox="1"/>
          <p:nvPr/>
        </p:nvSpPr>
        <p:spPr>
          <a:xfrm>
            <a:off x="548640" y="2606040"/>
            <a:ext cx="10058400" cy="914400"/>
          </a:xfrm>
          <a:prstGeom prst="rect">
            <a:avLst/>
          </a:prstGeom>
          <a:noFill/>
          <a:ln/>
        </p:spPr>
        <p:txBody>
          <a:bodyPr wrap="square" lIns="0" tIns="0" rIns="0" bIns="0" rtlCol="0" anchor="ctr"/>
          <a:lstStyle/>
          <a:p>
            <a:pPr indent="0" marL="0">
              <a:buNone/>
            </a:pPr>
            <a:r>
              <a:rPr lang="en-US" sz="4400" b="1" dirty="0">
                <a:solidFill>
                  <a:srgbClr val="EDE7D8"/>
                </a:solidFill>
                <a:latin typeface="Cambria" pitchFamily="34" charset="0"/>
                <a:ea typeface="Cambria" pitchFamily="34" charset="-122"/>
                <a:cs typeface="Cambria" pitchFamily="34" charset="-120"/>
              </a:rPr>
              <a:t>The Role Assessment Framework</a:t>
            </a:r>
            <a:endParaRPr lang="en-US" sz="4400" dirty="0"/>
          </a:p>
        </p:txBody>
      </p:sp>
      <p:sp>
        <p:nvSpPr>
          <p:cNvPr id="5" name="Text 3"/>
          <p:cNvSpPr txBox="1"/>
          <p:nvPr/>
        </p:nvSpPr>
        <p:spPr>
          <a:xfrm>
            <a:off x="548640" y="3611880"/>
            <a:ext cx="8229600" cy="822960"/>
          </a:xfrm>
          <a:prstGeom prst="rect">
            <a:avLst/>
          </a:prstGeom>
          <a:noFill/>
          <a:ln/>
        </p:spPr>
        <p:txBody>
          <a:bodyPr wrap="square" lIns="0" tIns="0" rIns="0" bIns="0" rtlCol="0" anchor="t"/>
          <a:lstStyle/>
          <a:p>
            <a:pPr indent="0" marL="0">
              <a:buNone/>
            </a:pPr>
            <a:r>
              <a:rPr lang="en-US" sz="1800" dirty="0">
                <a:solidFill>
                  <a:srgbClr val="D9C7A3"/>
                </a:solidFill>
                <a:latin typeface="Calibri" pitchFamily="34" charset="0"/>
                <a:ea typeface="Calibri" pitchFamily="34" charset="-122"/>
                <a:cs typeface="Calibri" pitchFamily="34" charset="-120"/>
              </a:rPr>
              <a:t>A way to look at any job at the mill and decide what can be augmented, where the gaps are, and which people should cover them.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5</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THE FRAMEWORK AT A GLANCE</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Four steps, run on every role</a:t>
            </a:r>
            <a:endParaRPr lang="en-US" sz="3000" dirty="0"/>
          </a:p>
        </p:txBody>
      </p:sp>
      <p:sp>
        <p:nvSpPr>
          <p:cNvPr id="5" name="Shape 3"/>
          <p:cNvSpPr/>
          <p:nvPr/>
        </p:nvSpPr>
        <p:spPr>
          <a:xfrm>
            <a:off x="548640" y="1691640"/>
            <a:ext cx="2514600" cy="3383280"/>
          </a:xfrm>
          <a:prstGeom prst="roundRect">
            <a:avLst>
              <a:gd name="adj" fmla="val 2909"/>
            </a:avLst>
          </a:prstGeom>
          <a:solidFill>
            <a:srgbClr val="FFFFFF"/>
          </a:solidFill>
          <a:ln w="9525">
            <a:solidFill>
              <a:srgbClr val="D9C7A3"/>
            </a:solidFill>
            <a:prstDash val="solid"/>
          </a:ln>
        </p:spPr>
      </p:sp>
      <p:sp>
        <p:nvSpPr>
          <p:cNvPr id="6" name="Shape 4"/>
          <p:cNvSpPr/>
          <p:nvPr/>
        </p:nvSpPr>
        <p:spPr>
          <a:xfrm>
            <a:off x="822960" y="1965960"/>
            <a:ext cx="502920" cy="502920"/>
          </a:xfrm>
          <a:prstGeom prst="ellipse">
            <a:avLst/>
          </a:prstGeom>
          <a:solidFill>
            <a:srgbClr val="2B2A28"/>
          </a:solidFill>
          <a:ln w="12700">
            <a:solidFill>
              <a:srgbClr val="2B2A28"/>
            </a:solidFill>
            <a:prstDash val="solid"/>
          </a:ln>
        </p:spPr>
      </p:sp>
      <p:sp>
        <p:nvSpPr>
          <p:cNvPr id="7" name="Text 5"/>
          <p:cNvSpPr txBox="1"/>
          <p:nvPr/>
        </p:nvSpPr>
        <p:spPr>
          <a:xfrm>
            <a:off x="822960" y="1965960"/>
            <a:ext cx="502920" cy="502920"/>
          </a:xfrm>
          <a:prstGeom prst="rect">
            <a:avLst/>
          </a:prstGeom>
          <a:noFill/>
          <a:ln/>
        </p:spPr>
        <p:txBody>
          <a:bodyPr wrap="square" lIns="0" tIns="0" rIns="0" bIns="0" rtlCol="0" anchor="ctr"/>
          <a:lstStyle/>
          <a:p>
            <a:pPr algn="ctr" indent="0" marL="0">
              <a:buNone/>
            </a:pPr>
            <a:r>
              <a:rPr lang="en-US" sz="1600" b="1" dirty="0">
                <a:solidFill>
                  <a:srgbClr val="EDE7D8"/>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22960" y="2651760"/>
            <a:ext cx="2057400" cy="320040"/>
          </a:xfrm>
          <a:prstGeom prst="rect">
            <a:avLst/>
          </a:prstGeom>
          <a:noFill/>
          <a:ln/>
        </p:spPr>
        <p:txBody>
          <a:bodyPr wrap="square" lIns="0" tIns="0" rIns="0" bIns="0" rtlCol="0" anchor="ctr"/>
          <a:lstStyle/>
          <a:p>
            <a:pPr indent="0" marL="0">
              <a:buNone/>
            </a:pPr>
            <a:r>
              <a:rPr lang="en-US" sz="1200" b="1" spc="200" kern="0" dirty="0">
                <a:solidFill>
                  <a:srgbClr val="8A6115"/>
                </a:solidFill>
                <a:latin typeface="Calibri" pitchFamily="34" charset="0"/>
                <a:ea typeface="Calibri" pitchFamily="34" charset="-122"/>
                <a:cs typeface="Calibri" pitchFamily="34" charset="-120"/>
              </a:rPr>
              <a:t>INVENTORY</a:t>
            </a:r>
            <a:endParaRPr lang="en-US" sz="1200" dirty="0"/>
          </a:p>
        </p:txBody>
      </p:sp>
      <p:sp>
        <p:nvSpPr>
          <p:cNvPr id="9" name="Text 7"/>
          <p:cNvSpPr txBox="1"/>
          <p:nvPr/>
        </p:nvSpPr>
        <p:spPr>
          <a:xfrm>
            <a:off x="822960" y="2971800"/>
            <a:ext cx="2057400" cy="77724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List every task in the role</a:t>
            </a:r>
            <a:endParaRPr lang="en-US" sz="1700" dirty="0"/>
          </a:p>
        </p:txBody>
      </p:sp>
      <p:sp>
        <p:nvSpPr>
          <p:cNvPr id="10" name="Text 8"/>
          <p:cNvSpPr txBox="1"/>
          <p:nvPr/>
        </p:nvSpPr>
        <p:spPr>
          <a:xfrm>
            <a:off x="822960" y="3794760"/>
            <a:ext cx="2057400" cy="1188720"/>
          </a:xfrm>
          <a:prstGeom prst="rect">
            <a:avLst/>
          </a:prstGeom>
          <a:noFill/>
          <a:ln/>
        </p:spPr>
        <p:txBody>
          <a:bodyPr wrap="square" lIns="0" tIns="0" rIns="0" bIns="0" rtlCol="0" anchor="t"/>
          <a:lstStyle/>
          <a:p>
            <a:pPr indent="0" marL="0">
              <a:buNone/>
            </a:pPr>
            <a:r>
              <a:rPr lang="en-US" sz="1250" dirty="0">
                <a:solidFill>
                  <a:srgbClr val="4A5359"/>
                </a:solidFill>
                <a:latin typeface="Calibri" pitchFamily="34" charset="0"/>
                <a:ea typeface="Calibri" pitchFamily="34" charset="-122"/>
                <a:cs typeface="Calibri" pitchFamily="34" charset="-120"/>
              </a:rPr>
              <a:t>Pulled from a two-week time log in 15-minute blocks. Output: each task and its hours per week.</a:t>
            </a:r>
            <a:endParaRPr lang="en-US" sz="1250" dirty="0"/>
          </a:p>
        </p:txBody>
      </p:sp>
      <p:sp>
        <p:nvSpPr>
          <p:cNvPr id="11" name="Text 9"/>
          <p:cNvSpPr txBox="1"/>
          <p:nvPr/>
        </p:nvSpPr>
        <p:spPr>
          <a:xfrm>
            <a:off x="3063240" y="3108960"/>
            <a:ext cx="338328" cy="457200"/>
          </a:xfrm>
          <a:prstGeom prst="rect">
            <a:avLst/>
          </a:prstGeom>
          <a:noFill/>
          <a:ln/>
        </p:spPr>
        <p:txBody>
          <a:bodyPr wrap="square" lIns="0" tIns="0" rIns="0" bIns="0" rtlCol="0" anchor="ctr"/>
          <a:lstStyle/>
          <a:p>
            <a:pPr algn="ctr" indent="0" marL="0">
              <a:buNone/>
            </a:pPr>
            <a:r>
              <a:rPr lang="en-US" sz="2200" b="1" dirty="0">
                <a:solidFill>
                  <a:srgbClr val="C8922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3401568" y="1691640"/>
            <a:ext cx="2514600" cy="3383280"/>
          </a:xfrm>
          <a:prstGeom prst="roundRect">
            <a:avLst>
              <a:gd name="adj" fmla="val 2909"/>
            </a:avLst>
          </a:prstGeom>
          <a:solidFill>
            <a:srgbClr val="FFFFFF"/>
          </a:solidFill>
          <a:ln w="9525">
            <a:solidFill>
              <a:srgbClr val="D9C7A3"/>
            </a:solidFill>
            <a:prstDash val="solid"/>
          </a:ln>
        </p:spPr>
      </p:sp>
      <p:sp>
        <p:nvSpPr>
          <p:cNvPr id="13" name="Shape 11"/>
          <p:cNvSpPr/>
          <p:nvPr/>
        </p:nvSpPr>
        <p:spPr>
          <a:xfrm>
            <a:off x="3675888" y="1965960"/>
            <a:ext cx="502920" cy="502920"/>
          </a:xfrm>
          <a:prstGeom prst="ellipse">
            <a:avLst/>
          </a:prstGeom>
          <a:solidFill>
            <a:srgbClr val="2B2A28"/>
          </a:solidFill>
          <a:ln w="12700">
            <a:solidFill>
              <a:srgbClr val="2B2A28"/>
            </a:solidFill>
            <a:prstDash val="solid"/>
          </a:ln>
        </p:spPr>
      </p:sp>
      <p:sp>
        <p:nvSpPr>
          <p:cNvPr id="14" name="Text 12"/>
          <p:cNvSpPr txBox="1"/>
          <p:nvPr/>
        </p:nvSpPr>
        <p:spPr>
          <a:xfrm>
            <a:off x="3675888" y="1965960"/>
            <a:ext cx="502920" cy="502920"/>
          </a:xfrm>
          <a:prstGeom prst="rect">
            <a:avLst/>
          </a:prstGeom>
          <a:noFill/>
          <a:ln/>
        </p:spPr>
        <p:txBody>
          <a:bodyPr wrap="square" lIns="0" tIns="0" rIns="0" bIns="0" rtlCol="0" anchor="ctr"/>
          <a:lstStyle/>
          <a:p>
            <a:pPr algn="ctr" indent="0" marL="0">
              <a:buNone/>
            </a:pPr>
            <a:r>
              <a:rPr lang="en-US" sz="1600" b="1" dirty="0">
                <a:solidFill>
                  <a:srgbClr val="EDE7D8"/>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3675888" y="2651760"/>
            <a:ext cx="2057400" cy="320040"/>
          </a:xfrm>
          <a:prstGeom prst="rect">
            <a:avLst/>
          </a:prstGeom>
          <a:noFill/>
          <a:ln/>
        </p:spPr>
        <p:txBody>
          <a:bodyPr wrap="square" lIns="0" tIns="0" rIns="0" bIns="0" rtlCol="0" anchor="ctr"/>
          <a:lstStyle/>
          <a:p>
            <a:pPr indent="0" marL="0">
              <a:buNone/>
            </a:pPr>
            <a:r>
              <a:rPr lang="en-US" sz="1200" b="1" spc="200" kern="0" dirty="0">
                <a:solidFill>
                  <a:srgbClr val="8A6115"/>
                </a:solidFill>
                <a:latin typeface="Calibri" pitchFamily="34" charset="0"/>
                <a:ea typeface="Calibri" pitchFamily="34" charset="-122"/>
                <a:cs typeface="Calibri" pitchFamily="34" charset="-120"/>
              </a:rPr>
              <a:t>SCORE</a:t>
            </a:r>
            <a:endParaRPr lang="en-US" sz="1200" dirty="0"/>
          </a:p>
        </p:txBody>
      </p:sp>
      <p:sp>
        <p:nvSpPr>
          <p:cNvPr id="16" name="Text 14"/>
          <p:cNvSpPr txBox="1"/>
          <p:nvPr/>
        </p:nvSpPr>
        <p:spPr>
          <a:xfrm>
            <a:off x="3675888" y="2971800"/>
            <a:ext cx="2057400" cy="77724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Rate each task on five questions</a:t>
            </a:r>
            <a:endParaRPr lang="en-US" sz="1700" dirty="0"/>
          </a:p>
        </p:txBody>
      </p:sp>
      <p:sp>
        <p:nvSpPr>
          <p:cNvPr id="17" name="Text 15"/>
          <p:cNvSpPr txBox="1"/>
          <p:nvPr/>
        </p:nvSpPr>
        <p:spPr>
          <a:xfrm>
            <a:off x="3675888" y="3794760"/>
            <a:ext cx="2057400" cy="1188720"/>
          </a:xfrm>
          <a:prstGeom prst="rect">
            <a:avLst/>
          </a:prstGeom>
          <a:noFill/>
          <a:ln/>
        </p:spPr>
        <p:txBody>
          <a:bodyPr wrap="square" lIns="0" tIns="0" rIns="0" bIns="0" rtlCol="0" anchor="t"/>
          <a:lstStyle/>
          <a:p>
            <a:pPr indent="0" marL="0">
              <a:buNone/>
            </a:pPr>
            <a:r>
              <a:rPr lang="en-US" sz="1250" dirty="0">
                <a:solidFill>
                  <a:srgbClr val="4A5359"/>
                </a:solidFill>
                <a:latin typeface="Calibri" pitchFamily="34" charset="0"/>
                <a:ea typeface="Calibri" pitchFamily="34" charset="-122"/>
                <a:cs typeface="Calibri" pitchFamily="34" charset="-120"/>
              </a:rPr>
              <a:t>Repeatable, digital, presence, trust, risk. Each scored 1 to 3.</a:t>
            </a:r>
            <a:endParaRPr lang="en-US" sz="1250" dirty="0"/>
          </a:p>
        </p:txBody>
      </p:sp>
      <p:sp>
        <p:nvSpPr>
          <p:cNvPr id="18" name="Text 16"/>
          <p:cNvSpPr txBox="1"/>
          <p:nvPr/>
        </p:nvSpPr>
        <p:spPr>
          <a:xfrm>
            <a:off x="5916168" y="3108960"/>
            <a:ext cx="338328" cy="457200"/>
          </a:xfrm>
          <a:prstGeom prst="rect">
            <a:avLst/>
          </a:prstGeom>
          <a:noFill/>
          <a:ln/>
        </p:spPr>
        <p:txBody>
          <a:bodyPr wrap="square" lIns="0" tIns="0" rIns="0" bIns="0" rtlCol="0" anchor="ctr"/>
          <a:lstStyle/>
          <a:p>
            <a:pPr algn="ctr" indent="0" marL="0">
              <a:buNone/>
            </a:pPr>
            <a:r>
              <a:rPr lang="en-US" sz="2200" b="1" dirty="0">
                <a:solidFill>
                  <a:srgbClr val="C8922F"/>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254496" y="1691640"/>
            <a:ext cx="2514600" cy="3383280"/>
          </a:xfrm>
          <a:prstGeom prst="roundRect">
            <a:avLst>
              <a:gd name="adj" fmla="val 2909"/>
            </a:avLst>
          </a:prstGeom>
          <a:solidFill>
            <a:srgbClr val="FFFFFF"/>
          </a:solidFill>
          <a:ln w="9525">
            <a:solidFill>
              <a:srgbClr val="D9C7A3"/>
            </a:solidFill>
            <a:prstDash val="solid"/>
          </a:ln>
        </p:spPr>
      </p:sp>
      <p:sp>
        <p:nvSpPr>
          <p:cNvPr id="20" name="Shape 18"/>
          <p:cNvSpPr/>
          <p:nvPr/>
        </p:nvSpPr>
        <p:spPr>
          <a:xfrm>
            <a:off x="6528816" y="1965960"/>
            <a:ext cx="502920" cy="502920"/>
          </a:xfrm>
          <a:prstGeom prst="ellipse">
            <a:avLst/>
          </a:prstGeom>
          <a:solidFill>
            <a:srgbClr val="2B2A28"/>
          </a:solidFill>
          <a:ln w="12700">
            <a:solidFill>
              <a:srgbClr val="2B2A28"/>
            </a:solidFill>
            <a:prstDash val="solid"/>
          </a:ln>
        </p:spPr>
      </p:sp>
      <p:sp>
        <p:nvSpPr>
          <p:cNvPr id="21" name="Text 19"/>
          <p:cNvSpPr txBox="1"/>
          <p:nvPr/>
        </p:nvSpPr>
        <p:spPr>
          <a:xfrm>
            <a:off x="6528816" y="1965960"/>
            <a:ext cx="502920" cy="502920"/>
          </a:xfrm>
          <a:prstGeom prst="rect">
            <a:avLst/>
          </a:prstGeom>
          <a:noFill/>
          <a:ln/>
        </p:spPr>
        <p:txBody>
          <a:bodyPr wrap="square" lIns="0" tIns="0" rIns="0" bIns="0" rtlCol="0" anchor="ctr"/>
          <a:lstStyle/>
          <a:p>
            <a:pPr algn="ctr" indent="0" marL="0">
              <a:buNone/>
            </a:pPr>
            <a:r>
              <a:rPr lang="en-US" sz="1600" b="1" dirty="0">
                <a:solidFill>
                  <a:srgbClr val="EDE7D8"/>
                </a:solidFill>
                <a:latin typeface="Cambria" pitchFamily="34" charset="0"/>
                <a:ea typeface="Cambria" pitchFamily="34" charset="-122"/>
                <a:cs typeface="Cambria" pitchFamily="34" charset="-120"/>
              </a:rPr>
              <a:t>3</a:t>
            </a:r>
            <a:endParaRPr lang="en-US" sz="1600" dirty="0"/>
          </a:p>
        </p:txBody>
      </p:sp>
      <p:sp>
        <p:nvSpPr>
          <p:cNvPr id="22" name="Text 20"/>
          <p:cNvSpPr txBox="1"/>
          <p:nvPr/>
        </p:nvSpPr>
        <p:spPr>
          <a:xfrm>
            <a:off x="6528816" y="2651760"/>
            <a:ext cx="2057400" cy="320040"/>
          </a:xfrm>
          <a:prstGeom prst="rect">
            <a:avLst/>
          </a:prstGeom>
          <a:noFill/>
          <a:ln/>
        </p:spPr>
        <p:txBody>
          <a:bodyPr wrap="square" lIns="0" tIns="0" rIns="0" bIns="0" rtlCol="0" anchor="ctr"/>
          <a:lstStyle/>
          <a:p>
            <a:pPr indent="0" marL="0">
              <a:buNone/>
            </a:pPr>
            <a:r>
              <a:rPr lang="en-US" sz="1200" b="1" spc="200" kern="0" dirty="0">
                <a:solidFill>
                  <a:srgbClr val="8A6115"/>
                </a:solidFill>
                <a:latin typeface="Calibri" pitchFamily="34" charset="0"/>
                <a:ea typeface="Calibri" pitchFamily="34" charset="-122"/>
                <a:cs typeface="Calibri" pitchFamily="34" charset="-120"/>
              </a:rPr>
              <a:t>CLASSIFY</a:t>
            </a:r>
            <a:endParaRPr lang="en-US" sz="1200" dirty="0"/>
          </a:p>
        </p:txBody>
      </p:sp>
      <p:sp>
        <p:nvSpPr>
          <p:cNvPr id="23" name="Text 21"/>
          <p:cNvSpPr txBox="1"/>
          <p:nvPr/>
        </p:nvSpPr>
        <p:spPr>
          <a:xfrm>
            <a:off x="6528816" y="2971800"/>
            <a:ext cx="2057400" cy="77724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Put each task in one of four lanes</a:t>
            </a:r>
            <a:endParaRPr lang="en-US" sz="1700" dirty="0"/>
          </a:p>
        </p:txBody>
      </p:sp>
      <p:sp>
        <p:nvSpPr>
          <p:cNvPr id="24" name="Text 22"/>
          <p:cNvSpPr txBox="1"/>
          <p:nvPr/>
        </p:nvSpPr>
        <p:spPr>
          <a:xfrm>
            <a:off x="6528816" y="3794760"/>
            <a:ext cx="2057400" cy="1188720"/>
          </a:xfrm>
          <a:prstGeom prst="rect">
            <a:avLst/>
          </a:prstGeom>
          <a:noFill/>
          <a:ln/>
        </p:spPr>
        <p:txBody>
          <a:bodyPr wrap="square" lIns="0" tIns="0" rIns="0" bIns="0" rtlCol="0" anchor="t"/>
          <a:lstStyle/>
          <a:p>
            <a:pPr indent="0" marL="0">
              <a:buNone/>
            </a:pPr>
            <a:r>
              <a:rPr lang="en-US" sz="1250" dirty="0">
                <a:solidFill>
                  <a:srgbClr val="4A5359"/>
                </a:solidFill>
                <a:latin typeface="Calibri" pitchFamily="34" charset="0"/>
                <a:ea typeface="Calibri" pitchFamily="34" charset="-122"/>
                <a:cs typeface="Calibri" pitchFamily="34" charset="-120"/>
              </a:rPr>
              <a:t>AI drafts · Human + AI · Human-led · Fix first. Risk sets how closely a person checks.</a:t>
            </a:r>
            <a:endParaRPr lang="en-US" sz="1250" dirty="0"/>
          </a:p>
        </p:txBody>
      </p:sp>
      <p:sp>
        <p:nvSpPr>
          <p:cNvPr id="25" name="Text 23"/>
          <p:cNvSpPr txBox="1"/>
          <p:nvPr/>
        </p:nvSpPr>
        <p:spPr>
          <a:xfrm>
            <a:off x="8769096" y="3108960"/>
            <a:ext cx="338328" cy="457200"/>
          </a:xfrm>
          <a:prstGeom prst="rect">
            <a:avLst/>
          </a:prstGeom>
          <a:noFill/>
          <a:ln/>
        </p:spPr>
        <p:txBody>
          <a:bodyPr wrap="square" lIns="0" tIns="0" rIns="0" bIns="0" rtlCol="0" anchor="ctr"/>
          <a:lstStyle/>
          <a:p>
            <a:pPr algn="ctr" indent="0" marL="0">
              <a:buNone/>
            </a:pPr>
            <a:r>
              <a:rPr lang="en-US" sz="2200" b="1" dirty="0">
                <a:solidFill>
                  <a:srgbClr val="C8922F"/>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9107424" y="1691640"/>
            <a:ext cx="2514600" cy="3383280"/>
          </a:xfrm>
          <a:prstGeom prst="roundRect">
            <a:avLst>
              <a:gd name="adj" fmla="val 2909"/>
            </a:avLst>
          </a:prstGeom>
          <a:solidFill>
            <a:srgbClr val="FFFFFF"/>
          </a:solidFill>
          <a:ln w="9525">
            <a:solidFill>
              <a:srgbClr val="D9C7A3"/>
            </a:solidFill>
            <a:prstDash val="solid"/>
          </a:ln>
        </p:spPr>
      </p:sp>
      <p:sp>
        <p:nvSpPr>
          <p:cNvPr id="27" name="Shape 25"/>
          <p:cNvSpPr/>
          <p:nvPr/>
        </p:nvSpPr>
        <p:spPr>
          <a:xfrm>
            <a:off x="9381744" y="1965960"/>
            <a:ext cx="502920" cy="502920"/>
          </a:xfrm>
          <a:prstGeom prst="ellipse">
            <a:avLst/>
          </a:prstGeom>
          <a:solidFill>
            <a:srgbClr val="2B2A28"/>
          </a:solidFill>
          <a:ln w="12700">
            <a:solidFill>
              <a:srgbClr val="2B2A28"/>
            </a:solidFill>
            <a:prstDash val="solid"/>
          </a:ln>
        </p:spPr>
      </p:sp>
      <p:sp>
        <p:nvSpPr>
          <p:cNvPr id="28" name="Text 26"/>
          <p:cNvSpPr txBox="1"/>
          <p:nvPr/>
        </p:nvSpPr>
        <p:spPr>
          <a:xfrm>
            <a:off x="9381744" y="1965960"/>
            <a:ext cx="502920" cy="502920"/>
          </a:xfrm>
          <a:prstGeom prst="rect">
            <a:avLst/>
          </a:prstGeom>
          <a:noFill/>
          <a:ln/>
        </p:spPr>
        <p:txBody>
          <a:bodyPr wrap="square" lIns="0" tIns="0" rIns="0" bIns="0" rtlCol="0" anchor="ctr"/>
          <a:lstStyle/>
          <a:p>
            <a:pPr algn="ctr" indent="0" marL="0">
              <a:buNone/>
            </a:pPr>
            <a:r>
              <a:rPr lang="en-US" sz="1600" b="1" dirty="0">
                <a:solidFill>
                  <a:srgbClr val="EDE7D8"/>
                </a:solidFill>
                <a:latin typeface="Cambria" pitchFamily="34" charset="0"/>
                <a:ea typeface="Cambria" pitchFamily="34" charset="-122"/>
                <a:cs typeface="Cambria" pitchFamily="34" charset="-120"/>
              </a:rPr>
              <a:t>4</a:t>
            </a:r>
            <a:endParaRPr lang="en-US" sz="1600" dirty="0"/>
          </a:p>
        </p:txBody>
      </p:sp>
      <p:sp>
        <p:nvSpPr>
          <p:cNvPr id="29" name="Text 27"/>
          <p:cNvSpPr txBox="1"/>
          <p:nvPr/>
        </p:nvSpPr>
        <p:spPr>
          <a:xfrm>
            <a:off x="9381744" y="2651760"/>
            <a:ext cx="2057400" cy="320040"/>
          </a:xfrm>
          <a:prstGeom prst="rect">
            <a:avLst/>
          </a:prstGeom>
          <a:noFill/>
          <a:ln/>
        </p:spPr>
        <p:txBody>
          <a:bodyPr wrap="square" lIns="0" tIns="0" rIns="0" bIns="0" rtlCol="0" anchor="ctr"/>
          <a:lstStyle/>
          <a:p>
            <a:pPr indent="0" marL="0">
              <a:buNone/>
            </a:pPr>
            <a:r>
              <a:rPr lang="en-US" sz="1200" b="1" spc="200" kern="0" dirty="0">
                <a:solidFill>
                  <a:srgbClr val="8A6115"/>
                </a:solidFill>
                <a:latin typeface="Calibri" pitchFamily="34" charset="0"/>
                <a:ea typeface="Calibri" pitchFamily="34" charset="-122"/>
                <a:cs typeface="Calibri" pitchFamily="34" charset="-120"/>
              </a:rPr>
              <a:t>CLOSE THE GAP</a:t>
            </a:r>
            <a:endParaRPr lang="en-US" sz="1200" dirty="0"/>
          </a:p>
        </p:txBody>
      </p:sp>
      <p:sp>
        <p:nvSpPr>
          <p:cNvPr id="30" name="Text 28"/>
          <p:cNvSpPr txBox="1"/>
          <p:nvPr/>
        </p:nvSpPr>
        <p:spPr>
          <a:xfrm>
            <a:off x="9381744" y="2971800"/>
            <a:ext cx="2057400" cy="77724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Match each gap to the cheapest fix</a:t>
            </a:r>
            <a:endParaRPr lang="en-US" sz="1700" dirty="0"/>
          </a:p>
        </p:txBody>
      </p:sp>
      <p:sp>
        <p:nvSpPr>
          <p:cNvPr id="31" name="Text 29"/>
          <p:cNvSpPr txBox="1"/>
          <p:nvPr/>
        </p:nvSpPr>
        <p:spPr>
          <a:xfrm>
            <a:off x="9381744" y="3794760"/>
            <a:ext cx="2057400" cy="1188720"/>
          </a:xfrm>
          <a:prstGeom prst="rect">
            <a:avLst/>
          </a:prstGeom>
          <a:noFill/>
          <a:ln/>
        </p:spPr>
        <p:txBody>
          <a:bodyPr wrap="square" lIns="0" tIns="0" rIns="0" bIns="0" rtlCol="0" anchor="t"/>
          <a:lstStyle/>
          <a:p>
            <a:pPr indent="0" marL="0">
              <a:buNone/>
            </a:pPr>
            <a:r>
              <a:rPr lang="en-US" sz="1250" dirty="0">
                <a:solidFill>
                  <a:srgbClr val="4A5359"/>
                </a:solidFill>
                <a:latin typeface="Calibri" pitchFamily="34" charset="0"/>
                <a:ea typeface="Calibri" pitchFamily="34" charset="-122"/>
                <a:cs typeface="Calibri" pitchFamily="34" charset="-120"/>
              </a:rPr>
              <a:t>Capacity, capability or coverage gap → AI, contract, seasonal, student, or a hire.</a:t>
            </a:r>
            <a:endParaRPr lang="en-US" sz="1250" dirty="0"/>
          </a:p>
        </p:txBody>
      </p:sp>
      <p:sp>
        <p:nvSpPr>
          <p:cNvPr id="32" name="Shape 30"/>
          <p:cNvSpPr/>
          <p:nvPr/>
        </p:nvSpPr>
        <p:spPr>
          <a:xfrm>
            <a:off x="548640" y="5349240"/>
            <a:ext cx="11064240" cy="777240"/>
          </a:xfrm>
          <a:prstGeom prst="roundRect">
            <a:avLst>
              <a:gd name="adj" fmla="val 9412"/>
            </a:avLst>
          </a:prstGeom>
          <a:solidFill>
            <a:srgbClr val="2E4057"/>
          </a:solidFill>
          <a:ln w="12700">
            <a:solidFill>
              <a:srgbClr val="2E4057"/>
            </a:solidFill>
            <a:prstDash val="solid"/>
          </a:ln>
        </p:spPr>
      </p:sp>
      <p:sp>
        <p:nvSpPr>
          <p:cNvPr id="33" name="Text 31"/>
          <p:cNvSpPr txBox="1"/>
          <p:nvPr/>
        </p:nvSpPr>
        <p:spPr>
          <a:xfrm>
            <a:off x="868680" y="5349240"/>
            <a:ext cx="10424160" cy="777240"/>
          </a:xfrm>
          <a:prstGeom prst="rect">
            <a:avLst/>
          </a:prstGeom>
          <a:noFill/>
          <a:ln/>
        </p:spPr>
        <p:txBody>
          <a:bodyPr wrap="square" lIns="0" tIns="0" rIns="0" bIns="0" rtlCol="0" anchor="ctr"/>
          <a:lstStyle/>
          <a:p>
            <a:pPr indent="0" marL="0">
              <a:buNone/>
            </a:pPr>
            <a:r>
              <a:rPr lang="en-US" sz="1500" b="1" dirty="0">
                <a:solidFill>
                  <a:srgbClr val="C8922F"/>
                </a:solidFill>
                <a:latin typeface="Calibri" pitchFamily="34" charset="0"/>
                <a:ea typeface="Calibri" pitchFamily="34" charset="-122"/>
                <a:cs typeface="Calibri" pitchFamily="34" charset="-120"/>
              </a:rPr>
              <a:t>Output:  </a:t>
            </a:r>
            <a:pPr indent="0" marL="0">
              <a:buNone/>
            </a:pPr>
            <a:r>
              <a:rPr lang="en-US" sz="1500" dirty="0">
                <a:solidFill>
                  <a:srgbClr val="EDE7D8"/>
                </a:solidFill>
                <a:latin typeface="Calibri" pitchFamily="34" charset="0"/>
                <a:ea typeface="Calibri" pitchFamily="34" charset="-122"/>
                <a:cs typeface="Calibri" pitchFamily="34" charset="-120"/>
              </a:rPr>
              <a:t>one Role Card per person. The cards roll up into the org chart, the AI roadmap and the hiring plan.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6</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STEP 2 · SCORE</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Five questions for every task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411480"/>
                <a:gridCol w="1051560"/>
                <a:gridCol w="2148840"/>
                <a:gridCol w="1371600"/>
                <a:gridCol w="1463040"/>
                <a:gridCol w="1143000"/>
              </a:tblGrid>
              <a:tr h="457200">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Ask yourself</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Score 1</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Score 3</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Feeds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804672">
                <a:tc>
                  <a:txBody>
                    <a:bodyPr/>
                    <a:lstStyle/>
                    <a:p>
                      <a:pPr algn="ctr" indent="0" marL="0">
                        <a:buNone/>
                      </a:pPr>
                      <a:r>
                        <a:rPr lang="en-US" sz="1600" b="1" dirty="0">
                          <a:solidFill>
                            <a:srgbClr val="2B2A28"/>
                          </a:solidFill>
                          <a:latin typeface="Cambria" pitchFamily="34" charset="0"/>
                          <a:ea typeface="Cambria" pitchFamily="34" charset="-122"/>
                          <a:cs typeface="Cambria" pitchFamily="34" charset="-120"/>
                        </a:rPr>
                        <a:t>A</a:t>
                      </a:r>
                      <a:endParaRPr lang="en-US" sz="16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Repeatable</a:t>
                      </a:r>
                      <a:endParaRPr lang="en-US" sz="13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dirty="0">
                          <a:solidFill>
                            <a:srgbClr val="2B2A28"/>
                          </a:solidFill>
                          <a:latin typeface="Calibri" pitchFamily="34" charset="0"/>
                          <a:ea typeface="Calibri" pitchFamily="34" charset="-122"/>
                          <a:cs typeface="Calibri" pitchFamily="34" charset="-120"/>
                        </a:rPr>
                        <a:t>Does it happen the same way, often?</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A one-off, different every time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Daily or weekly, same steps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b="1" dirty="0">
                          <a:solidFill>
                            <a:srgbClr val="8A6115"/>
                          </a:solidFill>
                          <a:latin typeface="Calibri" pitchFamily="34" charset="0"/>
                          <a:ea typeface="Calibri" pitchFamily="34" charset="-122"/>
                          <a:cs typeface="Calibri" pitchFamily="34" charset="-120"/>
                        </a:rPr>
                        <a:t>Automation potential</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04672">
                <a:tc>
                  <a:txBody>
                    <a:bodyPr/>
                    <a:lstStyle/>
                    <a:p>
                      <a:pPr algn="ctr" indent="0" marL="0">
                        <a:buNone/>
                      </a:pPr>
                      <a:r>
                        <a:rPr lang="en-US" sz="1600" b="1" dirty="0">
                          <a:solidFill>
                            <a:srgbClr val="2B2A28"/>
                          </a:solidFill>
                          <a:latin typeface="Cambria" pitchFamily="34" charset="0"/>
                          <a:ea typeface="Cambria" pitchFamily="34" charset="-122"/>
                          <a:cs typeface="Cambria" pitchFamily="34" charset="-120"/>
                        </a:rPr>
                        <a:t>B</a:t>
                      </a:r>
                      <a:endParaRPr lang="en-US" sz="16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Digital</a:t>
                      </a:r>
                      <a:endParaRPr lang="en-US" sz="13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dirty="0">
                          <a:solidFill>
                            <a:srgbClr val="2B2A28"/>
                          </a:solidFill>
                          <a:latin typeface="Calibri" pitchFamily="34" charset="0"/>
                          <a:ea typeface="Calibri" pitchFamily="34" charset="-122"/>
                          <a:cs typeface="Calibri" pitchFamily="34" charset="-120"/>
                        </a:rPr>
                        <a:t>Does it live on a screen?</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Hands, paper, face to face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Email, web, spreadsheet, software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b="1" dirty="0">
                          <a:solidFill>
                            <a:srgbClr val="8A6115"/>
                          </a:solidFill>
                          <a:latin typeface="Calibri" pitchFamily="34" charset="0"/>
                          <a:ea typeface="Calibri" pitchFamily="34" charset="-122"/>
                          <a:cs typeface="Calibri" pitchFamily="34" charset="-120"/>
                        </a:rPr>
                        <a:t>Automation potential</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04672">
                <a:tc>
                  <a:txBody>
                    <a:bodyPr/>
                    <a:lstStyle/>
                    <a:p>
                      <a:pPr algn="ctr" indent="0" marL="0">
                        <a:buNone/>
                      </a:pPr>
                      <a:r>
                        <a:rPr lang="en-US" sz="1600" b="1" dirty="0">
                          <a:solidFill>
                            <a:srgbClr val="2B2A28"/>
                          </a:solidFill>
                          <a:latin typeface="Cambria" pitchFamily="34" charset="0"/>
                          <a:ea typeface="Cambria" pitchFamily="34" charset="-122"/>
                          <a:cs typeface="Cambria" pitchFamily="34" charset="-120"/>
                        </a:rPr>
                        <a:t>C</a:t>
                      </a:r>
                      <a:endParaRPr lang="en-US" sz="16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Presence</a:t>
                      </a:r>
                      <a:endParaRPr lang="en-US" sz="13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dirty="0">
                          <a:solidFill>
                            <a:srgbClr val="2B2A28"/>
                          </a:solidFill>
                          <a:latin typeface="Calibri" pitchFamily="34" charset="0"/>
                          <a:ea typeface="Calibri" pitchFamily="34" charset="-122"/>
                          <a:cs typeface="Calibri" pitchFamily="34" charset="-120"/>
                        </a:rPr>
                        <a:t>Does it need hands, the building or the grain?</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Can be done from anywhere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Must happen at the mill</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b="1" dirty="0">
                          <a:solidFill>
                            <a:srgbClr val="6E6A63"/>
                          </a:solidFill>
                          <a:latin typeface="Calibri" pitchFamily="34" charset="0"/>
                          <a:ea typeface="Calibri" pitchFamily="34" charset="-122"/>
                          <a:cs typeface="Calibri" pitchFamily="34" charset="-120"/>
                        </a:rPr>
                        <a:t>Human anchor</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04672">
                <a:tc>
                  <a:txBody>
                    <a:bodyPr/>
                    <a:lstStyle/>
                    <a:p>
                      <a:pPr algn="ctr" indent="0" marL="0">
                        <a:buNone/>
                      </a:pPr>
                      <a:r>
                        <a:rPr lang="en-US" sz="1600" b="1" dirty="0">
                          <a:solidFill>
                            <a:srgbClr val="2B2A28"/>
                          </a:solidFill>
                          <a:latin typeface="Cambria" pitchFamily="34" charset="0"/>
                          <a:ea typeface="Cambria" pitchFamily="34" charset="-122"/>
                          <a:cs typeface="Cambria" pitchFamily="34" charset="-120"/>
                        </a:rPr>
                        <a:t>D</a:t>
                      </a:r>
                      <a:endParaRPr lang="en-US" sz="16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Trust</a:t>
                      </a:r>
                      <a:endParaRPr lang="en-US" sz="13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dirty="0">
                          <a:solidFill>
                            <a:srgbClr val="2B2A28"/>
                          </a:solidFill>
                          <a:latin typeface="Calibri" pitchFamily="34" charset="0"/>
                          <a:ea typeface="Calibri" pitchFamily="34" charset="-122"/>
                          <a:cs typeface="Calibri" pitchFamily="34" charset="-120"/>
                        </a:rPr>
                        <a:t>Is a relationship or the Kenyon's story the product?</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Nobody sees who did it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The customer is buying the person</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b="1" dirty="0">
                          <a:solidFill>
                            <a:srgbClr val="6E6A63"/>
                          </a:solidFill>
                          <a:latin typeface="Calibri" pitchFamily="34" charset="0"/>
                          <a:ea typeface="Calibri" pitchFamily="34" charset="-122"/>
                          <a:cs typeface="Calibri" pitchFamily="34" charset="-120"/>
                        </a:rPr>
                        <a:t>Human anchor</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04672">
                <a:tc>
                  <a:txBody>
                    <a:bodyPr/>
                    <a:lstStyle/>
                    <a:p>
                      <a:pPr algn="ctr" indent="0" marL="0">
                        <a:buNone/>
                      </a:pPr>
                      <a:r>
                        <a:rPr lang="en-US" sz="1600" b="1" dirty="0">
                          <a:solidFill>
                            <a:srgbClr val="2B2A28"/>
                          </a:solidFill>
                          <a:latin typeface="Cambria" pitchFamily="34" charset="0"/>
                          <a:ea typeface="Cambria" pitchFamily="34" charset="-122"/>
                          <a:cs typeface="Cambria" pitchFamily="34" charset="-120"/>
                        </a:rPr>
                        <a:t>E</a:t>
                      </a:r>
                      <a:endParaRPr lang="en-US" sz="16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dirty="0">
                          <a:solidFill>
                            <a:srgbClr val="2B2A28"/>
                          </a:solidFill>
                          <a:latin typeface="Calibri" pitchFamily="34" charset="0"/>
                          <a:ea typeface="Calibri" pitchFamily="34" charset="-122"/>
                          <a:cs typeface="Calibri" pitchFamily="34" charset="-120"/>
                        </a:rPr>
                        <a:t>What does a mistake cost?</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Easy to catch and fix</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dirty="0">
                          <a:solidFill>
                            <a:srgbClr val="4A5359"/>
                          </a:solidFill>
                          <a:latin typeface="Calibri" pitchFamily="34" charset="0"/>
                          <a:ea typeface="Calibri" pitchFamily="34" charset="-122"/>
                          <a:cs typeface="Calibri" pitchFamily="34" charset="-120"/>
                        </a:rPr>
                        <a:t>Food safety, money or the law</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50" b="1" dirty="0">
                          <a:solidFill>
                            <a:srgbClr val="2E4057"/>
                          </a:solidFill>
                          <a:latin typeface="Calibri" pitchFamily="34" charset="0"/>
                          <a:ea typeface="Calibri" pitchFamily="34" charset="-122"/>
                          <a:cs typeface="Calibri" pitchFamily="34" charset="-120"/>
                        </a:rPr>
                        <a:t>Approval level</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6" name="Shape 3"/>
          <p:cNvSpPr/>
          <p:nvPr/>
        </p:nvSpPr>
        <p:spPr>
          <a:xfrm>
            <a:off x="8458200" y="1645920"/>
            <a:ext cx="3154680" cy="4480560"/>
          </a:xfrm>
          <a:prstGeom prst="roundRect">
            <a:avLst>
              <a:gd name="adj" fmla="val 2319"/>
            </a:avLst>
          </a:prstGeom>
          <a:solidFill>
            <a:srgbClr val="FFFFFF"/>
          </a:solidFill>
          <a:ln w="9525">
            <a:solidFill>
              <a:srgbClr val="D9C7A3"/>
            </a:solidFill>
            <a:prstDash val="solid"/>
          </a:ln>
        </p:spPr>
      </p:sp>
      <p:sp>
        <p:nvSpPr>
          <p:cNvPr id="7" name="Text 4"/>
          <p:cNvSpPr txBox="1"/>
          <p:nvPr/>
        </p:nvSpPr>
        <p:spPr>
          <a:xfrm>
            <a:off x="8732520" y="1828800"/>
            <a:ext cx="2606040" cy="274320"/>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HOW IT ADDS UP</a:t>
            </a:r>
            <a:endParaRPr lang="en-US" sz="1100" dirty="0"/>
          </a:p>
        </p:txBody>
      </p:sp>
      <p:sp>
        <p:nvSpPr>
          <p:cNvPr id="8" name="Text 5"/>
          <p:cNvSpPr txBox="1"/>
          <p:nvPr/>
        </p:nvSpPr>
        <p:spPr>
          <a:xfrm>
            <a:off x="8732520" y="2194560"/>
            <a:ext cx="2606040" cy="3749040"/>
          </a:xfrm>
          <a:prstGeom prst="rect">
            <a:avLst/>
          </a:prstGeom>
          <a:noFill/>
          <a:ln/>
        </p:spPr>
        <p:txBody>
          <a:bodyPr wrap="square" lIns="0" tIns="0" rIns="0" bIns="0" rtlCol="0" anchor="t"/>
          <a:lstStyle/>
          <a:p>
            <a:pPr indent="0" marL="0">
              <a:buNone/>
            </a:pPr>
            <a:r>
              <a:rPr lang="en-US" sz="1300" b="1" dirty="0">
                <a:solidFill>
                  <a:srgbClr val="2B2A28"/>
                </a:solidFill>
                <a:latin typeface="Calibri" pitchFamily="34" charset="0"/>
                <a:ea typeface="Calibri" pitchFamily="34" charset="-122"/>
                <a:cs typeface="Calibri" pitchFamily="34" charset="-120"/>
              </a:rPr>
              <a:t>Automation potential</a:t>
            </a:r>
            <a:endParaRPr lang="en-US" sz="1300" dirty="0"/>
          </a:p>
          <a:p>
            <a:pPr indent="0" marL="0">
              <a:buNone/>
            </a:pPr>
            <a:r>
              <a:rPr lang="en-US" sz="2000" b="1" dirty="0">
                <a:solidFill>
                  <a:srgbClr val="8A6115"/>
                </a:solidFill>
                <a:latin typeface="Cambria" pitchFamily="34" charset="0"/>
                <a:ea typeface="Cambria" pitchFamily="34" charset="-122"/>
                <a:cs typeface="Cambria" pitchFamily="34" charset="-120"/>
              </a:rPr>
              <a:t>A + B   (2 to 6)</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B2A28"/>
                </a:solidFill>
                <a:latin typeface="Calibri" pitchFamily="34" charset="0"/>
                <a:ea typeface="Calibri" pitchFamily="34" charset="-122"/>
                <a:cs typeface="Calibri" pitchFamily="34" charset="-120"/>
              </a:rPr>
              <a:t>Human anchor</a:t>
            </a:r>
            <a:endParaRPr lang="en-US" sz="1300" dirty="0"/>
          </a:p>
          <a:p>
            <a:pPr indent="0" marL="0">
              <a:buNone/>
            </a:pPr>
            <a:r>
              <a:rPr lang="en-US" sz="2000" b="1" dirty="0">
                <a:solidFill>
                  <a:srgbClr val="6E6A63"/>
                </a:solidFill>
                <a:latin typeface="Cambria" pitchFamily="34" charset="0"/>
                <a:ea typeface="Cambria" pitchFamily="34" charset="-122"/>
                <a:cs typeface="Cambria" pitchFamily="34" charset="-120"/>
              </a:rPr>
              <a:t>C + D   (2 to 6)</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4A5359"/>
                </a:solidFill>
                <a:latin typeface="Calibri" pitchFamily="34" charset="0"/>
                <a:ea typeface="Calibri" pitchFamily="34" charset="-122"/>
                <a:cs typeface="Calibri" pitchFamily="34" charset="-120"/>
              </a:rPr>
              <a:t>A score of 4 or more counts as High.</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4A5359"/>
                </a:solidFill>
                <a:latin typeface="Calibri" pitchFamily="34" charset="0"/>
                <a:ea typeface="Calibri" pitchFamily="34" charset="-122"/>
                <a:cs typeface="Calibri" pitchFamily="34" charset="-120"/>
              </a:rPr>
              <a:t>Risk (E) doesn't pick the lane. It sets how closely a person checks the work.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7</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STEP 3 · CLASSIFY</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Four lanes, set by two scores</a:t>
            </a:r>
            <a:endParaRPr lang="en-US" sz="3000" dirty="0"/>
          </a:p>
        </p:txBody>
      </p:sp>
      <p:sp>
        <p:nvSpPr>
          <p:cNvPr id="5" name="Shape 3"/>
          <p:cNvSpPr/>
          <p:nvPr/>
        </p:nvSpPr>
        <p:spPr>
          <a:xfrm>
            <a:off x="1234440" y="1600200"/>
            <a:ext cx="3246120" cy="2103120"/>
          </a:xfrm>
          <a:prstGeom prst="roundRect">
            <a:avLst>
              <a:gd name="adj" fmla="val 3478"/>
            </a:avLst>
          </a:prstGeom>
          <a:solidFill>
            <a:srgbClr val="6E6A63"/>
          </a:solidFill>
          <a:ln w="12700">
            <a:solidFill>
              <a:srgbClr val="6E6A63"/>
            </a:solidFill>
            <a:prstDash val="solid"/>
          </a:ln>
        </p:spPr>
      </p:sp>
      <p:sp>
        <p:nvSpPr>
          <p:cNvPr id="6" name="Text 4"/>
          <p:cNvSpPr txBox="1"/>
          <p:nvPr/>
        </p:nvSpPr>
        <p:spPr>
          <a:xfrm>
            <a:off x="1463040" y="1783080"/>
            <a:ext cx="278892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Human-led</a:t>
            </a:r>
            <a:endParaRPr lang="en-US" sz="1800" dirty="0"/>
          </a:p>
        </p:txBody>
      </p:sp>
      <p:sp>
        <p:nvSpPr>
          <p:cNvPr id="7" name="Text 5"/>
          <p:cNvSpPr txBox="1"/>
          <p:nvPr/>
        </p:nvSpPr>
        <p:spPr>
          <a:xfrm>
            <a:off x="1463040" y="2286000"/>
            <a:ext cx="283464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Milling and grain quality</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Tours and the shop counter</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Buyer tastings and closing</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Telling the story on camera</a:t>
            </a:r>
            <a:endParaRPr lang="en-US" sz="1250" dirty="0"/>
          </a:p>
        </p:txBody>
      </p:sp>
      <p:sp>
        <p:nvSpPr>
          <p:cNvPr id="8" name="Shape 6"/>
          <p:cNvSpPr/>
          <p:nvPr/>
        </p:nvSpPr>
        <p:spPr>
          <a:xfrm>
            <a:off x="4590288" y="1600200"/>
            <a:ext cx="3246120" cy="2103120"/>
          </a:xfrm>
          <a:prstGeom prst="roundRect">
            <a:avLst>
              <a:gd name="adj" fmla="val 3478"/>
            </a:avLst>
          </a:prstGeom>
          <a:solidFill>
            <a:srgbClr val="2E4057"/>
          </a:solidFill>
          <a:ln w="12700">
            <a:solidFill>
              <a:srgbClr val="2E4057"/>
            </a:solidFill>
            <a:prstDash val="solid"/>
          </a:ln>
        </p:spPr>
      </p:sp>
      <p:sp>
        <p:nvSpPr>
          <p:cNvPr id="9" name="Text 7"/>
          <p:cNvSpPr txBox="1"/>
          <p:nvPr/>
        </p:nvSpPr>
        <p:spPr>
          <a:xfrm>
            <a:off x="4818888" y="1783080"/>
            <a:ext cx="278892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Human + AI assist</a:t>
            </a:r>
            <a:endParaRPr lang="en-US" sz="1800" dirty="0"/>
          </a:p>
        </p:txBody>
      </p:sp>
      <p:sp>
        <p:nvSpPr>
          <p:cNvPr id="10" name="Text 8"/>
          <p:cNvSpPr txBox="1"/>
          <p:nvPr/>
        </p:nvSpPr>
        <p:spPr>
          <a:xfrm>
            <a:off x="4818888" y="2286000"/>
            <a:ext cx="283464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Wholesale follow-up</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Wedding and event planning</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Grant applications</a:t>
            </a:r>
            <a:endParaRPr lang="en-US" sz="1250" dirty="0"/>
          </a:p>
          <a:p>
            <a:pPr marL="342900" indent="-342900">
              <a:spcAft>
                <a:spcPts val="300"/>
              </a:spcAft>
              <a:buSzPct val="100000"/>
              <a:buChar char="•"/>
            </a:pPr>
            <a:r>
              <a:rPr lang="en-US" sz="1250" dirty="0">
                <a:solidFill>
                  <a:srgbClr val="FFFFFF"/>
                </a:solidFill>
                <a:latin typeface="Calibri" pitchFamily="34" charset="0"/>
                <a:ea typeface="Calibri" pitchFamily="34" charset="-122"/>
                <a:cs typeface="Calibri" pitchFamily="34" charset="-120"/>
              </a:rPr>
              <a:t>Delivery route planning</a:t>
            </a:r>
            <a:endParaRPr lang="en-US" sz="1250" dirty="0"/>
          </a:p>
        </p:txBody>
      </p:sp>
      <p:sp>
        <p:nvSpPr>
          <p:cNvPr id="11" name="Shape 9"/>
          <p:cNvSpPr/>
          <p:nvPr/>
        </p:nvSpPr>
        <p:spPr>
          <a:xfrm>
            <a:off x="1234440" y="3813048"/>
            <a:ext cx="3246120" cy="2103120"/>
          </a:xfrm>
          <a:prstGeom prst="roundRect">
            <a:avLst>
              <a:gd name="adj" fmla="val 3478"/>
            </a:avLst>
          </a:prstGeom>
          <a:solidFill>
            <a:srgbClr val="D9C7A3"/>
          </a:solidFill>
          <a:ln w="12700">
            <a:solidFill>
              <a:srgbClr val="D9C7A3"/>
            </a:solidFill>
            <a:prstDash val="solid"/>
          </a:ln>
        </p:spPr>
      </p:sp>
      <p:sp>
        <p:nvSpPr>
          <p:cNvPr id="12" name="Text 10"/>
          <p:cNvSpPr txBox="1"/>
          <p:nvPr/>
        </p:nvSpPr>
        <p:spPr>
          <a:xfrm>
            <a:off x="1463040" y="3995928"/>
            <a:ext cx="2788920" cy="411480"/>
          </a:xfrm>
          <a:prstGeom prst="rect">
            <a:avLst/>
          </a:prstGeom>
          <a:noFill/>
          <a:ln/>
        </p:spPr>
        <p:txBody>
          <a:bodyPr wrap="square" lIns="0" tIns="0" rIns="0" bIns="0" rtlCol="0" anchor="ctr"/>
          <a:lstStyle/>
          <a:p>
            <a:pPr indent="0" marL="0">
              <a:buNone/>
            </a:pPr>
            <a:r>
              <a:rPr lang="en-US" sz="1800" b="1" dirty="0">
                <a:solidFill>
                  <a:srgbClr val="2B2A28"/>
                </a:solidFill>
                <a:latin typeface="Cambria" pitchFamily="34" charset="0"/>
                <a:ea typeface="Cambria" pitchFamily="34" charset="-122"/>
                <a:cs typeface="Cambria" pitchFamily="34" charset="-120"/>
              </a:rPr>
              <a:t>Fix first, or contract</a:t>
            </a:r>
            <a:endParaRPr lang="en-US" sz="1800" dirty="0"/>
          </a:p>
        </p:txBody>
      </p:sp>
      <p:sp>
        <p:nvSpPr>
          <p:cNvPr id="13" name="Text 11"/>
          <p:cNvSpPr txBox="1"/>
          <p:nvPr/>
        </p:nvSpPr>
        <p:spPr>
          <a:xfrm>
            <a:off x="1463040" y="4498848"/>
            <a:ext cx="283464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Picking shipping tiers by hand</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Emailing the price list on request</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Building repairs</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One-off admin</a:t>
            </a:r>
            <a:endParaRPr lang="en-US" sz="1250" dirty="0"/>
          </a:p>
        </p:txBody>
      </p:sp>
      <p:sp>
        <p:nvSpPr>
          <p:cNvPr id="14" name="Shape 12"/>
          <p:cNvSpPr/>
          <p:nvPr/>
        </p:nvSpPr>
        <p:spPr>
          <a:xfrm>
            <a:off x="4590288" y="3813048"/>
            <a:ext cx="3246120" cy="2103120"/>
          </a:xfrm>
          <a:prstGeom prst="roundRect">
            <a:avLst>
              <a:gd name="adj" fmla="val 3478"/>
            </a:avLst>
          </a:prstGeom>
          <a:solidFill>
            <a:srgbClr val="C8922F"/>
          </a:solidFill>
          <a:ln w="12700">
            <a:solidFill>
              <a:srgbClr val="C8922F"/>
            </a:solidFill>
            <a:prstDash val="solid"/>
          </a:ln>
        </p:spPr>
      </p:sp>
      <p:sp>
        <p:nvSpPr>
          <p:cNvPr id="15" name="Text 13"/>
          <p:cNvSpPr txBox="1"/>
          <p:nvPr/>
        </p:nvSpPr>
        <p:spPr>
          <a:xfrm>
            <a:off x="4818888" y="3995928"/>
            <a:ext cx="2788920" cy="411480"/>
          </a:xfrm>
          <a:prstGeom prst="rect">
            <a:avLst/>
          </a:prstGeom>
          <a:noFill/>
          <a:ln/>
        </p:spPr>
        <p:txBody>
          <a:bodyPr wrap="square" lIns="0" tIns="0" rIns="0" bIns="0" rtlCol="0" anchor="ctr"/>
          <a:lstStyle/>
          <a:p>
            <a:pPr indent="0" marL="0">
              <a:buNone/>
            </a:pPr>
            <a:r>
              <a:rPr lang="en-US" sz="1800" b="1" dirty="0">
                <a:solidFill>
                  <a:srgbClr val="2B2A28"/>
                </a:solidFill>
                <a:latin typeface="Cambria" pitchFamily="34" charset="0"/>
                <a:ea typeface="Cambria" pitchFamily="34" charset="-122"/>
                <a:cs typeface="Cambria" pitchFamily="34" charset="-120"/>
              </a:rPr>
              <a:t>AI drafts, human approves</a:t>
            </a:r>
            <a:endParaRPr lang="en-US" sz="1800" dirty="0"/>
          </a:p>
        </p:txBody>
      </p:sp>
      <p:sp>
        <p:nvSpPr>
          <p:cNvPr id="16" name="Text 14"/>
          <p:cNvSpPr txBox="1"/>
          <p:nvPr/>
        </p:nvSpPr>
        <p:spPr>
          <a:xfrm>
            <a:off x="4818888" y="4498848"/>
            <a:ext cx="283464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Social posts and product copy</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Customer service replies</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Bookkeeping categories</a:t>
            </a:r>
            <a:endParaRPr lang="en-US" sz="1250" dirty="0"/>
          </a:p>
          <a:p>
            <a:pPr marL="342900" indent="-342900">
              <a:spcAft>
                <a:spcPts val="300"/>
              </a:spcAft>
              <a:buSzPct val="100000"/>
              <a:buChar char="•"/>
            </a:pPr>
            <a:r>
              <a:rPr lang="en-US" sz="1250" dirty="0">
                <a:solidFill>
                  <a:srgbClr val="2B2A28"/>
                </a:solidFill>
                <a:latin typeface="Calibri" pitchFamily="34" charset="0"/>
                <a:ea typeface="Calibri" pitchFamily="34" charset="-122"/>
                <a:cs typeface="Calibri" pitchFamily="34" charset="-120"/>
              </a:rPr>
              <a:t>Wholesale prospect research</a:t>
            </a:r>
            <a:endParaRPr lang="en-US" sz="1250" dirty="0"/>
          </a:p>
        </p:txBody>
      </p:sp>
      <p:sp>
        <p:nvSpPr>
          <p:cNvPr id="17" name="Text 15"/>
          <p:cNvSpPr txBox="1"/>
          <p:nvPr/>
        </p:nvSpPr>
        <p:spPr>
          <a:xfrm rot="16200000">
            <a:off x="-1837944" y="3598164"/>
            <a:ext cx="4315968" cy="320040"/>
          </a:xfrm>
          <a:prstGeom prst="rect">
            <a:avLst/>
          </a:prstGeom>
          <a:noFill/>
          <a:ln/>
        </p:spPr>
        <p:txBody>
          <a:bodyPr wrap="square" lIns="0" tIns="0" rIns="0" bIns="0" rtlCol="0" anchor="ctr"/>
          <a:lstStyle/>
          <a:p>
            <a:pPr algn="ctr" indent="0" marL="0">
              <a:buNone/>
            </a:pPr>
            <a:r>
              <a:rPr lang="en-US" sz="1100" b="1" spc="200" kern="0" dirty="0">
                <a:solidFill>
                  <a:srgbClr val="4A5359"/>
                </a:solidFill>
                <a:latin typeface="Calibri" pitchFamily="34" charset="0"/>
                <a:ea typeface="Calibri" pitchFamily="34" charset="-122"/>
                <a:cs typeface="Calibri" pitchFamily="34" charset="-120"/>
              </a:rPr>
              <a:t>HUMAN ANCHOR  (C + D)</a:t>
            </a:r>
            <a:endParaRPr lang="en-US" sz="1100" dirty="0"/>
          </a:p>
        </p:txBody>
      </p:sp>
      <p:sp>
        <p:nvSpPr>
          <p:cNvPr id="18" name="Text 16"/>
          <p:cNvSpPr txBox="1"/>
          <p:nvPr/>
        </p:nvSpPr>
        <p:spPr>
          <a:xfrm>
            <a:off x="548640" y="1691640"/>
            <a:ext cx="640080" cy="274320"/>
          </a:xfrm>
          <a:prstGeom prst="rect">
            <a:avLst/>
          </a:prstGeom>
          <a:noFill/>
          <a:ln/>
        </p:spPr>
        <p:txBody>
          <a:bodyPr wrap="square" lIns="0" tIns="0" rIns="0" bIns="0" rtlCol="0" anchor="ctr"/>
          <a:lstStyle/>
          <a:p>
            <a:pPr indent="0" marL="0">
              <a:buNone/>
            </a:pPr>
            <a:r>
              <a:rPr lang="en-US" sz="1050" dirty="0">
                <a:solidFill>
                  <a:srgbClr val="4A5359"/>
                </a:solidFill>
                <a:latin typeface="Calibri" pitchFamily="34" charset="0"/>
                <a:ea typeface="Calibri" pitchFamily="34" charset="-122"/>
                <a:cs typeface="Calibri" pitchFamily="34" charset="-120"/>
              </a:rPr>
              <a:t>High</a:t>
            </a:r>
            <a:endParaRPr lang="en-US" sz="1050" dirty="0"/>
          </a:p>
        </p:txBody>
      </p:sp>
      <p:sp>
        <p:nvSpPr>
          <p:cNvPr id="19" name="Text 17"/>
          <p:cNvSpPr txBox="1"/>
          <p:nvPr/>
        </p:nvSpPr>
        <p:spPr>
          <a:xfrm>
            <a:off x="548640" y="5550408"/>
            <a:ext cx="640080" cy="274320"/>
          </a:xfrm>
          <a:prstGeom prst="rect">
            <a:avLst/>
          </a:prstGeom>
          <a:noFill/>
          <a:ln/>
        </p:spPr>
        <p:txBody>
          <a:bodyPr wrap="square" lIns="0" tIns="0" rIns="0" bIns="0" rtlCol="0" anchor="ctr"/>
          <a:lstStyle/>
          <a:p>
            <a:pPr indent="0" marL="0">
              <a:buNone/>
            </a:pPr>
            <a:r>
              <a:rPr lang="en-US" sz="1050" dirty="0">
                <a:solidFill>
                  <a:srgbClr val="4A5359"/>
                </a:solidFill>
                <a:latin typeface="Calibri" pitchFamily="34" charset="0"/>
                <a:ea typeface="Calibri" pitchFamily="34" charset="-122"/>
                <a:cs typeface="Calibri" pitchFamily="34" charset="-120"/>
              </a:rPr>
              <a:t>Low</a:t>
            </a:r>
            <a:endParaRPr lang="en-US" sz="1050" dirty="0"/>
          </a:p>
        </p:txBody>
      </p:sp>
      <p:sp>
        <p:nvSpPr>
          <p:cNvPr id="20" name="Text 18"/>
          <p:cNvSpPr txBox="1"/>
          <p:nvPr/>
        </p:nvSpPr>
        <p:spPr>
          <a:xfrm>
            <a:off x="1234440" y="6007608"/>
            <a:ext cx="6601968" cy="274320"/>
          </a:xfrm>
          <a:prstGeom prst="rect">
            <a:avLst/>
          </a:prstGeom>
          <a:noFill/>
          <a:ln/>
        </p:spPr>
        <p:txBody>
          <a:bodyPr wrap="square" lIns="0" tIns="0" rIns="0" bIns="0" rtlCol="0" anchor="ctr"/>
          <a:lstStyle/>
          <a:p>
            <a:pPr algn="ctr" indent="0" marL="0">
              <a:buNone/>
            </a:pPr>
            <a:r>
              <a:rPr lang="en-US" sz="1100" b="1" spc="200" kern="0" dirty="0">
                <a:solidFill>
                  <a:srgbClr val="4A5359"/>
                </a:solidFill>
                <a:latin typeface="Calibri" pitchFamily="34" charset="0"/>
                <a:ea typeface="Calibri" pitchFamily="34" charset="-122"/>
                <a:cs typeface="Calibri" pitchFamily="34" charset="-120"/>
              </a:rPr>
              <a:t>AUTOMATION POTENTIAL  (A + B)</a:t>
            </a:r>
            <a:endParaRPr lang="en-US" sz="1100" dirty="0"/>
          </a:p>
        </p:txBody>
      </p:sp>
      <p:sp>
        <p:nvSpPr>
          <p:cNvPr id="21" name="Text 19"/>
          <p:cNvSpPr txBox="1"/>
          <p:nvPr/>
        </p:nvSpPr>
        <p:spPr>
          <a:xfrm>
            <a:off x="1234440" y="6007608"/>
            <a:ext cx="548640" cy="274320"/>
          </a:xfrm>
          <a:prstGeom prst="rect">
            <a:avLst/>
          </a:prstGeom>
          <a:noFill/>
          <a:ln/>
        </p:spPr>
        <p:txBody>
          <a:bodyPr wrap="square" lIns="0" tIns="0" rIns="0" bIns="0" rtlCol="0" anchor="ctr"/>
          <a:lstStyle/>
          <a:p>
            <a:pPr indent="0" marL="0">
              <a:buNone/>
            </a:pPr>
            <a:r>
              <a:rPr lang="en-US" sz="1050" dirty="0">
                <a:solidFill>
                  <a:srgbClr val="4A5359"/>
                </a:solidFill>
                <a:latin typeface="Calibri" pitchFamily="34" charset="0"/>
                <a:ea typeface="Calibri" pitchFamily="34" charset="-122"/>
                <a:cs typeface="Calibri" pitchFamily="34" charset="-120"/>
              </a:rPr>
              <a:t>Low</a:t>
            </a:r>
            <a:endParaRPr lang="en-US" sz="1050" dirty="0"/>
          </a:p>
        </p:txBody>
      </p:sp>
      <p:sp>
        <p:nvSpPr>
          <p:cNvPr id="22" name="Text 20"/>
          <p:cNvSpPr txBox="1"/>
          <p:nvPr/>
        </p:nvSpPr>
        <p:spPr>
          <a:xfrm>
            <a:off x="7287768" y="6007608"/>
            <a:ext cx="548640" cy="274320"/>
          </a:xfrm>
          <a:prstGeom prst="rect">
            <a:avLst/>
          </a:prstGeom>
          <a:noFill/>
          <a:ln/>
        </p:spPr>
        <p:txBody>
          <a:bodyPr wrap="square" lIns="0" tIns="0" rIns="0" bIns="0" rtlCol="0" anchor="ctr"/>
          <a:lstStyle/>
          <a:p>
            <a:pPr algn="r" indent="0" marL="0">
              <a:buNone/>
            </a:pPr>
            <a:r>
              <a:rPr lang="en-US" sz="1050" dirty="0">
                <a:solidFill>
                  <a:srgbClr val="4A5359"/>
                </a:solidFill>
                <a:latin typeface="Calibri" pitchFamily="34" charset="0"/>
                <a:ea typeface="Calibri" pitchFamily="34" charset="-122"/>
                <a:cs typeface="Calibri" pitchFamily="34" charset="-120"/>
              </a:rPr>
              <a:t>High</a:t>
            </a:r>
            <a:endParaRPr lang="en-US" sz="1050" dirty="0"/>
          </a:p>
        </p:txBody>
      </p:sp>
      <p:sp>
        <p:nvSpPr>
          <p:cNvPr id="23" name="Shape 21"/>
          <p:cNvSpPr/>
          <p:nvPr/>
        </p:nvSpPr>
        <p:spPr>
          <a:xfrm>
            <a:off x="8229600" y="1600200"/>
            <a:ext cx="3383280" cy="4315968"/>
          </a:xfrm>
          <a:prstGeom prst="roundRect">
            <a:avLst>
              <a:gd name="adj" fmla="val 2162"/>
            </a:avLst>
          </a:prstGeom>
          <a:solidFill>
            <a:srgbClr val="FFFFFF"/>
          </a:solidFill>
          <a:ln w="9525">
            <a:solidFill>
              <a:srgbClr val="D9C7A3"/>
            </a:solidFill>
            <a:prstDash val="solid"/>
          </a:ln>
        </p:spPr>
      </p:sp>
      <p:sp>
        <p:nvSpPr>
          <p:cNvPr id="24" name="Text 22"/>
          <p:cNvSpPr txBox="1"/>
          <p:nvPr/>
        </p:nvSpPr>
        <p:spPr>
          <a:xfrm>
            <a:off x="8503920" y="1783080"/>
            <a:ext cx="2834640" cy="274320"/>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RISK SETS THE CHECK</a:t>
            </a:r>
            <a:endParaRPr lang="en-US" sz="1100" dirty="0"/>
          </a:p>
        </p:txBody>
      </p:sp>
      <p:sp>
        <p:nvSpPr>
          <p:cNvPr id="25" name="Shape 23"/>
          <p:cNvSpPr/>
          <p:nvPr/>
        </p:nvSpPr>
        <p:spPr>
          <a:xfrm>
            <a:off x="8503920" y="2240280"/>
            <a:ext cx="411480" cy="411480"/>
          </a:xfrm>
          <a:prstGeom prst="ellipse">
            <a:avLst/>
          </a:prstGeom>
          <a:solidFill>
            <a:srgbClr val="2B2A28"/>
          </a:solidFill>
          <a:ln w="12700">
            <a:solidFill>
              <a:srgbClr val="2B2A28"/>
            </a:solidFill>
            <a:prstDash val="solid"/>
          </a:ln>
        </p:spPr>
      </p:sp>
      <p:sp>
        <p:nvSpPr>
          <p:cNvPr id="26" name="Text 24"/>
          <p:cNvSpPr txBox="1"/>
          <p:nvPr/>
        </p:nvSpPr>
        <p:spPr>
          <a:xfrm>
            <a:off x="8503920" y="22402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7" name="Text 25"/>
          <p:cNvSpPr txBox="1"/>
          <p:nvPr/>
        </p:nvSpPr>
        <p:spPr>
          <a:xfrm>
            <a:off x="9098280" y="2194560"/>
            <a:ext cx="2286000" cy="502920"/>
          </a:xfrm>
          <a:prstGeom prst="rect">
            <a:avLst/>
          </a:prstGeom>
          <a:noFill/>
          <a:ln/>
        </p:spPr>
        <p:txBody>
          <a:bodyPr wrap="square" lIns="0" tIns="0" rIns="0" bIns="0" rtlCol="0" anchor="t"/>
          <a:lstStyle/>
          <a:p>
            <a:pPr indent="0" marL="0">
              <a:buNone/>
            </a:pPr>
            <a:r>
              <a:rPr lang="en-US" sz="1300" b="1" dirty="0">
                <a:solidFill>
                  <a:srgbClr val="2B2A28"/>
                </a:solidFill>
                <a:latin typeface="Calibri" pitchFamily="34" charset="0"/>
                <a:ea typeface="Calibri" pitchFamily="34" charset="-122"/>
                <a:cs typeface="Calibri" pitchFamily="34" charset="-120"/>
              </a:rPr>
              <a:t>A person signs off on every output</a:t>
            </a:r>
            <a:endParaRPr lang="en-US" sz="1300" dirty="0"/>
          </a:p>
        </p:txBody>
      </p:sp>
      <p:sp>
        <p:nvSpPr>
          <p:cNvPr id="28" name="Text 26"/>
          <p:cNvSpPr txBox="1"/>
          <p:nvPr/>
        </p:nvSpPr>
        <p:spPr>
          <a:xfrm>
            <a:off x="9098280" y="2697480"/>
            <a:ext cx="2286000" cy="548640"/>
          </a:xfrm>
          <a:prstGeom prst="rect">
            <a:avLst/>
          </a:prstGeom>
          <a:noFill/>
          <a:ln/>
        </p:spPr>
        <p:txBody>
          <a:bodyPr wrap="square" lIns="0" tIns="0" rIns="0" bIns="0" rtlCol="0" anchor="t"/>
          <a:lstStyle/>
          <a:p>
            <a:pPr indent="0" marL="0">
              <a:buNone/>
            </a:pPr>
            <a:r>
              <a:rPr lang="en-US" sz="1150" dirty="0">
                <a:solidFill>
                  <a:srgbClr val="4A5359"/>
                </a:solidFill>
                <a:latin typeface="Calibri" pitchFamily="34" charset="0"/>
                <a:ea typeface="Calibri" pitchFamily="34" charset="-122"/>
                <a:cs typeface="Calibri" pitchFamily="34" charset="-120"/>
              </a:rPr>
              <a:t>Labels, allergens, pricing, payments, food safety.</a:t>
            </a:r>
            <a:endParaRPr lang="en-US" sz="1150" dirty="0"/>
          </a:p>
        </p:txBody>
      </p:sp>
      <p:sp>
        <p:nvSpPr>
          <p:cNvPr id="29" name="Shape 27"/>
          <p:cNvSpPr/>
          <p:nvPr/>
        </p:nvSpPr>
        <p:spPr>
          <a:xfrm>
            <a:off x="8503920" y="3429000"/>
            <a:ext cx="411480" cy="411480"/>
          </a:xfrm>
          <a:prstGeom prst="ellipse">
            <a:avLst/>
          </a:prstGeom>
          <a:solidFill>
            <a:srgbClr val="2E4057"/>
          </a:solidFill>
          <a:ln w="12700">
            <a:solidFill>
              <a:srgbClr val="2E4057"/>
            </a:solidFill>
            <a:prstDash val="solid"/>
          </a:ln>
        </p:spPr>
      </p:sp>
      <p:sp>
        <p:nvSpPr>
          <p:cNvPr id="30" name="Text 28"/>
          <p:cNvSpPr txBox="1"/>
          <p:nvPr/>
        </p:nvSpPr>
        <p:spPr>
          <a:xfrm>
            <a:off x="8503920" y="3429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31" name="Text 29"/>
          <p:cNvSpPr txBox="1"/>
          <p:nvPr/>
        </p:nvSpPr>
        <p:spPr>
          <a:xfrm>
            <a:off x="9098280" y="3383280"/>
            <a:ext cx="2286000" cy="502920"/>
          </a:xfrm>
          <a:prstGeom prst="rect">
            <a:avLst/>
          </a:prstGeom>
          <a:noFill/>
          <a:ln/>
        </p:spPr>
        <p:txBody>
          <a:bodyPr wrap="square" lIns="0" tIns="0" rIns="0" bIns="0" rtlCol="0" anchor="t"/>
          <a:lstStyle/>
          <a:p>
            <a:pPr indent="0" marL="0">
              <a:buNone/>
            </a:pPr>
            <a:r>
              <a:rPr lang="en-US" sz="1300" b="1" dirty="0">
                <a:solidFill>
                  <a:srgbClr val="2B2A28"/>
                </a:solidFill>
                <a:latin typeface="Calibri" pitchFamily="34" charset="0"/>
                <a:ea typeface="Calibri" pitchFamily="34" charset="-122"/>
                <a:cs typeface="Calibri" pitchFamily="34" charset="-120"/>
              </a:rPr>
              <a:t>Draft and approve for 60–90 days</a:t>
            </a:r>
            <a:endParaRPr lang="en-US" sz="1300" dirty="0"/>
          </a:p>
        </p:txBody>
      </p:sp>
      <p:sp>
        <p:nvSpPr>
          <p:cNvPr id="32" name="Text 30"/>
          <p:cNvSpPr txBox="1"/>
          <p:nvPr/>
        </p:nvSpPr>
        <p:spPr>
          <a:xfrm>
            <a:off x="9098280" y="3886200"/>
            <a:ext cx="2286000" cy="548640"/>
          </a:xfrm>
          <a:prstGeom prst="rect">
            <a:avLst/>
          </a:prstGeom>
          <a:noFill/>
          <a:ln/>
        </p:spPr>
        <p:txBody>
          <a:bodyPr wrap="square" lIns="0" tIns="0" rIns="0" bIns="0" rtlCol="0" anchor="t"/>
          <a:lstStyle/>
          <a:p>
            <a:pPr indent="0" marL="0">
              <a:buNone/>
            </a:pPr>
            <a:r>
              <a:rPr lang="en-US" sz="1150" dirty="0">
                <a:solidFill>
                  <a:srgbClr val="4A5359"/>
                </a:solidFill>
                <a:latin typeface="Calibri" pitchFamily="34" charset="0"/>
                <a:ea typeface="Calibri" pitchFamily="34" charset="-122"/>
                <a:cs typeface="Calibri" pitchFamily="34" charset="-120"/>
              </a:rPr>
              <a:t>Then spot checks once accuracy holds.</a:t>
            </a:r>
            <a:endParaRPr lang="en-US" sz="1150" dirty="0"/>
          </a:p>
        </p:txBody>
      </p:sp>
      <p:sp>
        <p:nvSpPr>
          <p:cNvPr id="33" name="Shape 31"/>
          <p:cNvSpPr/>
          <p:nvPr/>
        </p:nvSpPr>
        <p:spPr>
          <a:xfrm>
            <a:off x="8503920" y="4617720"/>
            <a:ext cx="411480" cy="411480"/>
          </a:xfrm>
          <a:prstGeom prst="ellipse">
            <a:avLst/>
          </a:prstGeom>
          <a:solidFill>
            <a:srgbClr val="6E6A63"/>
          </a:solidFill>
          <a:ln w="12700">
            <a:solidFill>
              <a:srgbClr val="6E6A63"/>
            </a:solidFill>
            <a:prstDash val="solid"/>
          </a:ln>
        </p:spPr>
      </p:sp>
      <p:sp>
        <p:nvSpPr>
          <p:cNvPr id="34" name="Text 32"/>
          <p:cNvSpPr txBox="1"/>
          <p:nvPr/>
        </p:nvSpPr>
        <p:spPr>
          <a:xfrm>
            <a:off x="8503920" y="46177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35" name="Text 33"/>
          <p:cNvSpPr txBox="1"/>
          <p:nvPr/>
        </p:nvSpPr>
        <p:spPr>
          <a:xfrm>
            <a:off x="9098280" y="4572000"/>
            <a:ext cx="2286000" cy="502920"/>
          </a:xfrm>
          <a:prstGeom prst="rect">
            <a:avLst/>
          </a:prstGeom>
          <a:noFill/>
          <a:ln/>
        </p:spPr>
        <p:txBody>
          <a:bodyPr wrap="square" lIns="0" tIns="0" rIns="0" bIns="0" rtlCol="0" anchor="t"/>
          <a:lstStyle/>
          <a:p>
            <a:pPr indent="0" marL="0">
              <a:buNone/>
            </a:pPr>
            <a:r>
              <a:rPr lang="en-US" sz="1300" b="1" dirty="0">
                <a:solidFill>
                  <a:srgbClr val="2B2A28"/>
                </a:solidFill>
                <a:latin typeface="Calibri" pitchFamily="34" charset="0"/>
                <a:ea typeface="Calibri" pitchFamily="34" charset="-122"/>
                <a:cs typeface="Calibri" pitchFamily="34" charset="-120"/>
              </a:rPr>
              <a:t>Runs automatically once proven</a:t>
            </a:r>
            <a:endParaRPr lang="en-US" sz="1300" dirty="0"/>
          </a:p>
        </p:txBody>
      </p:sp>
      <p:sp>
        <p:nvSpPr>
          <p:cNvPr id="36" name="Text 34"/>
          <p:cNvSpPr txBox="1"/>
          <p:nvPr/>
        </p:nvSpPr>
        <p:spPr>
          <a:xfrm>
            <a:off x="9098280" y="5074920"/>
            <a:ext cx="2286000" cy="548640"/>
          </a:xfrm>
          <a:prstGeom prst="rect">
            <a:avLst/>
          </a:prstGeom>
          <a:noFill/>
          <a:ln/>
        </p:spPr>
        <p:txBody>
          <a:bodyPr wrap="square" lIns="0" tIns="0" rIns="0" bIns="0" rtlCol="0" anchor="t"/>
          <a:lstStyle/>
          <a:p>
            <a:pPr indent="0" marL="0">
              <a:buNone/>
            </a:pPr>
            <a:r>
              <a:rPr lang="en-US" sz="1150" dirty="0">
                <a:solidFill>
                  <a:srgbClr val="4A5359"/>
                </a:solidFill>
                <a:latin typeface="Calibri" pitchFamily="34" charset="0"/>
                <a:ea typeface="Calibri" pitchFamily="34" charset="-122"/>
                <a:cs typeface="Calibri" pitchFamily="34" charset="-120"/>
              </a:rPr>
              <a:t>Reminders, confirmations, alerts.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8</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STEP 4 · CLOSE THE GAP</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Three kinds of gap, each with a different fix</a:t>
            </a:r>
            <a:endParaRPr lang="en-US" sz="3000" dirty="0"/>
          </a:p>
        </p:txBody>
      </p:sp>
      <p:sp>
        <p:nvSpPr>
          <p:cNvPr id="5" name="Shape 3"/>
          <p:cNvSpPr/>
          <p:nvPr/>
        </p:nvSpPr>
        <p:spPr>
          <a:xfrm>
            <a:off x="548640" y="1645920"/>
            <a:ext cx="3474720" cy="4526280"/>
          </a:xfrm>
          <a:prstGeom prst="roundRect">
            <a:avLst>
              <a:gd name="adj" fmla="val 2105"/>
            </a:avLst>
          </a:prstGeom>
          <a:solidFill>
            <a:srgbClr val="FFFFFF"/>
          </a:solidFill>
          <a:ln w="9525">
            <a:solidFill>
              <a:srgbClr val="D9C7A3"/>
            </a:solidFill>
            <a:prstDash val="solid"/>
          </a:ln>
        </p:spPr>
      </p:sp>
      <p:sp>
        <p:nvSpPr>
          <p:cNvPr id="6" name="Shape 4"/>
          <p:cNvSpPr/>
          <p:nvPr/>
        </p:nvSpPr>
        <p:spPr>
          <a:xfrm>
            <a:off x="777240" y="1874520"/>
            <a:ext cx="3017520" cy="1051560"/>
          </a:xfrm>
          <a:prstGeom prst="roundRect">
            <a:avLst>
              <a:gd name="adj" fmla="val 5217"/>
            </a:avLst>
          </a:prstGeom>
          <a:solidFill>
            <a:srgbClr val="C8922F"/>
          </a:solidFill>
          <a:ln w="12700">
            <a:solidFill>
              <a:srgbClr val="C8922F"/>
            </a:solidFill>
            <a:prstDash val="solid"/>
          </a:ln>
        </p:spPr>
      </p:sp>
      <p:sp>
        <p:nvSpPr>
          <p:cNvPr id="7" name="Text 5"/>
          <p:cNvSpPr txBox="1"/>
          <p:nvPr/>
        </p:nvSpPr>
        <p:spPr>
          <a:xfrm>
            <a:off x="960120" y="1874520"/>
            <a:ext cx="2651760" cy="1051560"/>
          </a:xfrm>
          <a:prstGeom prst="rect">
            <a:avLst/>
          </a:prstGeom>
          <a:noFill/>
          <a:ln/>
        </p:spPr>
        <p:txBody>
          <a:bodyPr wrap="square" lIns="0" tIns="0" rIns="0" bIns="0" rtlCol="0" anchor="ctr"/>
          <a:lstStyle/>
          <a:p>
            <a:pPr indent="0" marL="0">
              <a:buNone/>
            </a:pPr>
            <a:r>
              <a:rPr lang="en-US" sz="2000" b="1" dirty="0">
                <a:solidFill>
                  <a:srgbClr val="2B2A28"/>
                </a:solidFill>
                <a:latin typeface="Cambria" pitchFamily="34" charset="0"/>
                <a:ea typeface="Cambria" pitchFamily="34" charset="-122"/>
                <a:cs typeface="Cambria" pitchFamily="34" charset="-120"/>
              </a:rPr>
              <a:t>Capacity gap</a:t>
            </a:r>
            <a:endParaRPr lang="en-US" sz="2000" dirty="0"/>
          </a:p>
          <a:p>
            <a:pPr indent="0" marL="0">
              <a:buNone/>
            </a:pPr>
            <a:r>
              <a:rPr lang="en-US" sz="1250" dirty="0">
                <a:solidFill>
                  <a:srgbClr val="2B2A28"/>
                </a:solidFill>
                <a:latin typeface="Calibri" pitchFamily="34" charset="0"/>
                <a:ea typeface="Calibri" pitchFamily="34" charset="-122"/>
                <a:cs typeface="Calibri" pitchFamily="34" charset="-120"/>
              </a:rPr>
              <a:t>The work is known. There aren't enough hours.</a:t>
            </a:r>
            <a:endParaRPr lang="en-US" sz="2000" dirty="0"/>
          </a:p>
        </p:txBody>
      </p:sp>
      <p:sp>
        <p:nvSpPr>
          <p:cNvPr id="8" name="Text 6"/>
          <p:cNvSpPr txBox="1"/>
          <p:nvPr/>
        </p:nvSpPr>
        <p:spPr>
          <a:xfrm>
            <a:off x="822960" y="310896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THE SIGNAL</a:t>
            </a:r>
            <a:endParaRPr lang="en-US" sz="1050" dirty="0"/>
          </a:p>
        </p:txBody>
      </p:sp>
      <p:sp>
        <p:nvSpPr>
          <p:cNvPr id="9" name="Text 7"/>
          <p:cNvSpPr txBox="1"/>
          <p:nvPr/>
        </p:nvSpPr>
        <p:spPr>
          <a:xfrm>
            <a:off x="822960" y="338328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Backlogs, slow shipping, Q4 overtime</a:t>
            </a:r>
            <a:endParaRPr lang="en-US" sz="1250" dirty="0"/>
          </a:p>
        </p:txBody>
      </p:sp>
      <p:sp>
        <p:nvSpPr>
          <p:cNvPr id="10" name="Text 8"/>
          <p:cNvSpPr txBox="1"/>
          <p:nvPr/>
        </p:nvSpPr>
        <p:spPr>
          <a:xfrm>
            <a:off x="822960" y="411480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AT KENYON'S</a:t>
            </a:r>
            <a:endParaRPr lang="en-US" sz="1050" dirty="0"/>
          </a:p>
        </p:txBody>
      </p:sp>
      <p:sp>
        <p:nvSpPr>
          <p:cNvPr id="11" name="Text 9"/>
          <p:cNvSpPr txBox="1"/>
          <p:nvPr/>
        </p:nvSpPr>
        <p:spPr>
          <a:xfrm>
            <a:off x="822960" y="438912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7–10 day ship times; 5–7 hrs a week on email and phone</a:t>
            </a:r>
            <a:endParaRPr lang="en-US" sz="1250" dirty="0"/>
          </a:p>
        </p:txBody>
      </p:sp>
      <p:sp>
        <p:nvSpPr>
          <p:cNvPr id="12" name="Text 10"/>
          <p:cNvSpPr txBox="1"/>
          <p:nvPr/>
        </p:nvSpPr>
        <p:spPr>
          <a:xfrm>
            <a:off x="822960" y="512064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BEST FIX</a:t>
            </a:r>
            <a:endParaRPr lang="en-US" sz="1050" dirty="0"/>
          </a:p>
        </p:txBody>
      </p:sp>
      <p:sp>
        <p:nvSpPr>
          <p:cNvPr id="13" name="Text 11"/>
          <p:cNvSpPr txBox="1"/>
          <p:nvPr/>
        </p:nvSpPr>
        <p:spPr>
          <a:xfrm>
            <a:off x="822960" y="5394960"/>
            <a:ext cx="2926080" cy="713232"/>
          </a:xfrm>
          <a:prstGeom prst="rect">
            <a:avLst/>
          </a:prstGeom>
          <a:noFill/>
          <a:ln/>
        </p:spPr>
        <p:txBody>
          <a:bodyPr wrap="square" lIns="0" tIns="0" rIns="0" bIns="0" rtlCol="0" anchor="t"/>
          <a:lstStyle/>
          <a:p>
            <a:pPr indent="0" marL="0">
              <a:buNone/>
            </a:pPr>
            <a:r>
              <a:rPr lang="en-US" sz="1250" b="1" dirty="0">
                <a:solidFill>
                  <a:srgbClr val="2B2A28"/>
                </a:solidFill>
                <a:latin typeface="Calibri" pitchFamily="34" charset="0"/>
                <a:ea typeface="Calibri" pitchFamily="34" charset="-122"/>
                <a:cs typeface="Calibri" pitchFamily="34" charset="-120"/>
              </a:rPr>
              <a:t>AI first, then seasonal or part-time hands</a:t>
            </a:r>
            <a:endParaRPr lang="en-US" sz="1250" dirty="0"/>
          </a:p>
        </p:txBody>
      </p:sp>
      <p:sp>
        <p:nvSpPr>
          <p:cNvPr id="14" name="Shape 12"/>
          <p:cNvSpPr/>
          <p:nvPr/>
        </p:nvSpPr>
        <p:spPr>
          <a:xfrm>
            <a:off x="4297680" y="1645920"/>
            <a:ext cx="3474720" cy="4526280"/>
          </a:xfrm>
          <a:prstGeom prst="roundRect">
            <a:avLst>
              <a:gd name="adj" fmla="val 2105"/>
            </a:avLst>
          </a:prstGeom>
          <a:solidFill>
            <a:srgbClr val="FFFFFF"/>
          </a:solidFill>
          <a:ln w="9525">
            <a:solidFill>
              <a:srgbClr val="D9C7A3"/>
            </a:solidFill>
            <a:prstDash val="solid"/>
          </a:ln>
        </p:spPr>
      </p:sp>
      <p:sp>
        <p:nvSpPr>
          <p:cNvPr id="15" name="Shape 13"/>
          <p:cNvSpPr/>
          <p:nvPr/>
        </p:nvSpPr>
        <p:spPr>
          <a:xfrm>
            <a:off x="4526280" y="1874520"/>
            <a:ext cx="3017520" cy="1051560"/>
          </a:xfrm>
          <a:prstGeom prst="roundRect">
            <a:avLst>
              <a:gd name="adj" fmla="val 5217"/>
            </a:avLst>
          </a:prstGeom>
          <a:solidFill>
            <a:srgbClr val="2E4057"/>
          </a:solidFill>
          <a:ln w="12700">
            <a:solidFill>
              <a:srgbClr val="2E4057"/>
            </a:solidFill>
            <a:prstDash val="solid"/>
          </a:ln>
        </p:spPr>
      </p:sp>
      <p:sp>
        <p:nvSpPr>
          <p:cNvPr id="16" name="Text 14"/>
          <p:cNvSpPr txBox="1"/>
          <p:nvPr/>
        </p:nvSpPr>
        <p:spPr>
          <a:xfrm>
            <a:off x="4709160" y="1874520"/>
            <a:ext cx="2651760" cy="10515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Capability gap</a:t>
            </a:r>
            <a:endParaRPr lang="en-US" sz="2000" dirty="0"/>
          </a:p>
          <a:p>
            <a:pPr indent="0" marL="0">
              <a:buNone/>
            </a:pPr>
            <a:r>
              <a:rPr lang="en-US" sz="1250" dirty="0">
                <a:solidFill>
                  <a:srgbClr val="FFFFFF"/>
                </a:solidFill>
                <a:latin typeface="Calibri" pitchFamily="34" charset="0"/>
                <a:ea typeface="Calibri" pitchFamily="34" charset="-122"/>
                <a:cs typeface="Calibri" pitchFamily="34" charset="-120"/>
              </a:rPr>
              <a:t>Nobody on the team has the skill.</a:t>
            </a:r>
            <a:endParaRPr lang="en-US" sz="2000" dirty="0"/>
          </a:p>
        </p:txBody>
      </p:sp>
      <p:sp>
        <p:nvSpPr>
          <p:cNvPr id="17" name="Text 15"/>
          <p:cNvSpPr txBox="1"/>
          <p:nvPr/>
        </p:nvSpPr>
        <p:spPr>
          <a:xfrm>
            <a:off x="4572000" y="310896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THE SIGNAL</a:t>
            </a:r>
            <a:endParaRPr lang="en-US" sz="1050" dirty="0"/>
          </a:p>
        </p:txBody>
      </p:sp>
      <p:sp>
        <p:nvSpPr>
          <p:cNvPr id="18" name="Text 16"/>
          <p:cNvSpPr txBox="1"/>
          <p:nvPr/>
        </p:nvSpPr>
        <p:spPr>
          <a:xfrm>
            <a:off x="4572000" y="338328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Work that doesn't get done, or gets done badly</a:t>
            </a:r>
            <a:endParaRPr lang="en-US" sz="1250" dirty="0"/>
          </a:p>
        </p:txBody>
      </p:sp>
      <p:sp>
        <p:nvSpPr>
          <p:cNvPr id="19" name="Text 17"/>
          <p:cNvSpPr txBox="1"/>
          <p:nvPr/>
        </p:nvSpPr>
        <p:spPr>
          <a:xfrm>
            <a:off x="4572000" y="411480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AT KENYON'S</a:t>
            </a:r>
            <a:endParaRPr lang="en-US" sz="1050" dirty="0"/>
          </a:p>
        </p:txBody>
      </p:sp>
      <p:sp>
        <p:nvSpPr>
          <p:cNvPr id="20" name="Text 18"/>
          <p:cNvSpPr txBox="1"/>
          <p:nvPr/>
        </p:nvSpPr>
        <p:spPr>
          <a:xfrm>
            <a:off x="4572000" y="438912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$1,172 total advertising 2021–24; no cost per product</a:t>
            </a:r>
            <a:endParaRPr lang="en-US" sz="1250" dirty="0"/>
          </a:p>
        </p:txBody>
      </p:sp>
      <p:sp>
        <p:nvSpPr>
          <p:cNvPr id="21" name="Text 19"/>
          <p:cNvSpPr txBox="1"/>
          <p:nvPr/>
        </p:nvSpPr>
        <p:spPr>
          <a:xfrm>
            <a:off x="4572000" y="512064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BEST FIX</a:t>
            </a:r>
            <a:endParaRPr lang="en-US" sz="1050" dirty="0"/>
          </a:p>
        </p:txBody>
      </p:sp>
      <p:sp>
        <p:nvSpPr>
          <p:cNvPr id="22" name="Text 20"/>
          <p:cNvSpPr txBox="1"/>
          <p:nvPr/>
        </p:nvSpPr>
        <p:spPr>
          <a:xfrm>
            <a:off x="4572000" y="5394960"/>
            <a:ext cx="2926080" cy="713232"/>
          </a:xfrm>
          <a:prstGeom prst="rect">
            <a:avLst/>
          </a:prstGeom>
          <a:noFill/>
          <a:ln/>
        </p:spPr>
        <p:txBody>
          <a:bodyPr wrap="square" lIns="0" tIns="0" rIns="0" bIns="0" rtlCol="0" anchor="t"/>
          <a:lstStyle/>
          <a:p>
            <a:pPr indent="0" marL="0">
              <a:buNone/>
            </a:pPr>
            <a:r>
              <a:rPr lang="en-US" sz="1250" b="1" dirty="0">
                <a:solidFill>
                  <a:srgbClr val="2B2A28"/>
                </a:solidFill>
                <a:latin typeface="Calibri" pitchFamily="34" charset="0"/>
                <a:ea typeface="Calibri" pitchFamily="34" charset="-122"/>
                <a:cs typeface="Calibri" pitchFamily="34" charset="-120"/>
              </a:rPr>
              <a:t>Fractional or contract specialist, then students. AI boosts an expert but can't replace one</a:t>
            </a:r>
            <a:endParaRPr lang="en-US" sz="1250" dirty="0"/>
          </a:p>
        </p:txBody>
      </p:sp>
      <p:sp>
        <p:nvSpPr>
          <p:cNvPr id="23" name="Shape 21"/>
          <p:cNvSpPr/>
          <p:nvPr/>
        </p:nvSpPr>
        <p:spPr>
          <a:xfrm>
            <a:off x="8046720" y="1645920"/>
            <a:ext cx="3474720" cy="4526280"/>
          </a:xfrm>
          <a:prstGeom prst="roundRect">
            <a:avLst>
              <a:gd name="adj" fmla="val 2105"/>
            </a:avLst>
          </a:prstGeom>
          <a:solidFill>
            <a:srgbClr val="FFFFFF"/>
          </a:solidFill>
          <a:ln w="9525">
            <a:solidFill>
              <a:srgbClr val="D9C7A3"/>
            </a:solidFill>
            <a:prstDash val="solid"/>
          </a:ln>
        </p:spPr>
      </p:sp>
      <p:sp>
        <p:nvSpPr>
          <p:cNvPr id="24" name="Shape 22"/>
          <p:cNvSpPr/>
          <p:nvPr/>
        </p:nvSpPr>
        <p:spPr>
          <a:xfrm>
            <a:off x="8275320" y="1874520"/>
            <a:ext cx="3017520" cy="1051560"/>
          </a:xfrm>
          <a:prstGeom prst="roundRect">
            <a:avLst>
              <a:gd name="adj" fmla="val 5217"/>
            </a:avLst>
          </a:prstGeom>
          <a:solidFill>
            <a:srgbClr val="6E6A63"/>
          </a:solidFill>
          <a:ln w="12700">
            <a:solidFill>
              <a:srgbClr val="6E6A63"/>
            </a:solidFill>
            <a:prstDash val="solid"/>
          </a:ln>
        </p:spPr>
      </p:sp>
      <p:sp>
        <p:nvSpPr>
          <p:cNvPr id="25" name="Text 23"/>
          <p:cNvSpPr txBox="1"/>
          <p:nvPr/>
        </p:nvSpPr>
        <p:spPr>
          <a:xfrm>
            <a:off x="8458200" y="1874520"/>
            <a:ext cx="2651760" cy="10515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Coverage gap</a:t>
            </a:r>
            <a:endParaRPr lang="en-US" sz="2000" dirty="0"/>
          </a:p>
          <a:p>
            <a:pPr indent="0" marL="0">
              <a:buNone/>
            </a:pPr>
            <a:r>
              <a:rPr lang="en-US" sz="1250" dirty="0">
                <a:solidFill>
                  <a:srgbClr val="FFFFFF"/>
                </a:solidFill>
                <a:latin typeface="Calibri" pitchFamily="34" charset="0"/>
                <a:ea typeface="Calibri" pitchFamily="34" charset="-122"/>
                <a:cs typeface="Calibri" pitchFamily="34" charset="-120"/>
              </a:rPr>
              <a:t>No one owns it, or only one person can do it.</a:t>
            </a:r>
            <a:endParaRPr lang="en-US" sz="2000" dirty="0"/>
          </a:p>
        </p:txBody>
      </p:sp>
      <p:sp>
        <p:nvSpPr>
          <p:cNvPr id="26" name="Text 24"/>
          <p:cNvSpPr txBox="1"/>
          <p:nvPr/>
        </p:nvSpPr>
        <p:spPr>
          <a:xfrm>
            <a:off x="8321040" y="310896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THE SIGNAL</a:t>
            </a:r>
            <a:endParaRPr lang="en-US" sz="1050" dirty="0"/>
          </a:p>
        </p:txBody>
      </p:sp>
      <p:sp>
        <p:nvSpPr>
          <p:cNvPr id="27" name="Text 25"/>
          <p:cNvSpPr txBox="1"/>
          <p:nvPr/>
        </p:nvSpPr>
        <p:spPr>
          <a:xfrm>
            <a:off x="8321040" y="338328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Revenue with no name on it; work stops when one person is out</a:t>
            </a:r>
            <a:endParaRPr lang="en-US" sz="1250" dirty="0"/>
          </a:p>
        </p:txBody>
      </p:sp>
      <p:sp>
        <p:nvSpPr>
          <p:cNvPr id="28" name="Text 26"/>
          <p:cNvSpPr txBox="1"/>
          <p:nvPr/>
        </p:nvSpPr>
        <p:spPr>
          <a:xfrm>
            <a:off x="8321040" y="411480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AT KENYON'S</a:t>
            </a:r>
            <a:endParaRPr lang="en-US" sz="1050" dirty="0"/>
          </a:p>
        </p:txBody>
      </p:sp>
      <p:sp>
        <p:nvSpPr>
          <p:cNvPr id="29" name="Text 27"/>
          <p:cNvSpPr txBox="1"/>
          <p:nvPr/>
        </p:nvSpPr>
        <p:spPr>
          <a:xfrm>
            <a:off x="8321040" y="4389120"/>
            <a:ext cx="2926080" cy="713232"/>
          </a:xfrm>
          <a:prstGeom prst="rect">
            <a:avLst/>
          </a:prstGeom>
          <a:noFill/>
          <a:ln/>
        </p:spPr>
        <p:txBody>
          <a:bodyPr wrap="square" lIns="0" tIns="0" rIns="0" bIns="0" rtlCol="0" anchor="t"/>
          <a:lstStyle/>
          <a:p>
            <a:pPr indent="0" marL="0">
              <a:buNone/>
            </a:pPr>
            <a:r>
              <a:rPr lang="en-US" sz="1250" dirty="0">
                <a:solidFill>
                  <a:srgbClr val="2B2A28"/>
                </a:solidFill>
                <a:latin typeface="Calibri" pitchFamily="34" charset="0"/>
                <a:ea typeface="Calibri" pitchFamily="34" charset="-122"/>
                <a:cs typeface="Calibri" pitchFamily="34" charset="-120"/>
              </a:rPr>
              <a:t>36.3% of revenue unowned; no second in command; processes undocumented</a:t>
            </a:r>
            <a:endParaRPr lang="en-US" sz="1250" dirty="0"/>
          </a:p>
        </p:txBody>
      </p:sp>
      <p:sp>
        <p:nvSpPr>
          <p:cNvPr id="30" name="Text 28"/>
          <p:cNvSpPr txBox="1"/>
          <p:nvPr/>
        </p:nvSpPr>
        <p:spPr>
          <a:xfrm>
            <a:off x="8321040" y="5120640"/>
            <a:ext cx="29260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BEST FIX</a:t>
            </a:r>
            <a:endParaRPr lang="en-US" sz="1050" dirty="0"/>
          </a:p>
        </p:txBody>
      </p:sp>
      <p:sp>
        <p:nvSpPr>
          <p:cNvPr id="31" name="Text 29"/>
          <p:cNvSpPr txBox="1"/>
          <p:nvPr/>
        </p:nvSpPr>
        <p:spPr>
          <a:xfrm>
            <a:off x="8321040" y="5394960"/>
            <a:ext cx="2926080" cy="713232"/>
          </a:xfrm>
          <a:prstGeom prst="rect">
            <a:avLst/>
          </a:prstGeom>
          <a:noFill/>
          <a:ln/>
        </p:spPr>
        <p:txBody>
          <a:bodyPr wrap="square" lIns="0" tIns="0" rIns="0" bIns="0" rtlCol="0" anchor="t"/>
          <a:lstStyle/>
          <a:p>
            <a:pPr indent="0" marL="0">
              <a:buNone/>
            </a:pPr>
            <a:r>
              <a:rPr lang="en-US" sz="1250" b="1" dirty="0">
                <a:solidFill>
                  <a:srgbClr val="2B2A28"/>
                </a:solidFill>
                <a:latin typeface="Calibri" pitchFamily="34" charset="0"/>
                <a:ea typeface="Calibri" pitchFamily="34" charset="-122"/>
                <a:cs typeface="Calibri" pitchFamily="34" charset="-120"/>
              </a:rPr>
              <a:t>A named owner, a written procedure and cross-training. AI can't fill this gap alone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9</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WHAT PEOPLE CAN COVER</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The offset ladder: cheapest rung first</a:t>
            </a:r>
            <a:endParaRPr lang="en-US" sz="3000" dirty="0"/>
          </a:p>
        </p:txBody>
      </p:sp>
      <p:sp>
        <p:nvSpPr>
          <p:cNvPr id="5" name="Shape 3"/>
          <p:cNvSpPr/>
          <p:nvPr/>
        </p:nvSpPr>
        <p:spPr>
          <a:xfrm>
            <a:off x="548640" y="1645920"/>
            <a:ext cx="6949440" cy="749808"/>
          </a:xfrm>
          <a:prstGeom prst="roundRect">
            <a:avLst>
              <a:gd name="adj" fmla="val 9756"/>
            </a:avLst>
          </a:prstGeom>
          <a:solidFill>
            <a:srgbClr val="FFFFFF"/>
          </a:solidFill>
          <a:ln w="9525">
            <a:solidFill>
              <a:srgbClr val="D9C7A3"/>
            </a:solidFill>
            <a:prstDash val="solid"/>
          </a:ln>
        </p:spPr>
      </p:sp>
      <p:sp>
        <p:nvSpPr>
          <p:cNvPr id="6" name="Shape 4"/>
          <p:cNvSpPr/>
          <p:nvPr/>
        </p:nvSpPr>
        <p:spPr>
          <a:xfrm>
            <a:off x="713232" y="1792224"/>
            <a:ext cx="457200" cy="457200"/>
          </a:xfrm>
          <a:prstGeom prst="ellipse">
            <a:avLst/>
          </a:prstGeom>
          <a:solidFill>
            <a:srgbClr val="C8922F"/>
          </a:solidFill>
          <a:ln w="12700">
            <a:solidFill>
              <a:srgbClr val="C8922F"/>
            </a:solidFill>
            <a:prstDash val="solid"/>
          </a:ln>
        </p:spPr>
      </p:sp>
      <p:sp>
        <p:nvSpPr>
          <p:cNvPr id="7" name="Text 5"/>
          <p:cNvSpPr txBox="1"/>
          <p:nvPr/>
        </p:nvSpPr>
        <p:spPr>
          <a:xfrm>
            <a:off x="713232" y="1792224"/>
            <a:ext cx="457200" cy="45720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325880" y="1700784"/>
            <a:ext cx="2148840" cy="64008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Automate / AI</a:t>
            </a:r>
            <a:endParaRPr lang="en-US" sz="1500" dirty="0"/>
          </a:p>
        </p:txBody>
      </p:sp>
      <p:sp>
        <p:nvSpPr>
          <p:cNvPr id="9" name="Text 7"/>
          <p:cNvSpPr txBox="1"/>
          <p:nvPr/>
        </p:nvSpPr>
        <p:spPr>
          <a:xfrm>
            <a:off x="3474720" y="1700784"/>
            <a:ext cx="3840480" cy="640080"/>
          </a:xfrm>
          <a:prstGeom prst="rect">
            <a:avLst/>
          </a:prstGeom>
          <a:noFill/>
          <a:ln/>
        </p:spPr>
        <p:txBody>
          <a:bodyPr wrap="square" lIns="0" tIns="0" rIns="0" bIns="0" rtlCol="0" anchor="ctr"/>
          <a:lstStyle/>
          <a:p>
            <a:pPr indent="0" marL="0">
              <a:buNone/>
            </a:pPr>
            <a:r>
              <a:rPr lang="en-US" sz="1150" dirty="0">
                <a:solidFill>
                  <a:srgbClr val="4A5359"/>
                </a:solidFill>
                <a:latin typeface="Calibri" pitchFamily="34" charset="0"/>
                <a:ea typeface="Calibri" pitchFamily="34" charset="-122"/>
                <a:cs typeface="Calibri" pitchFamily="34" charset="-120"/>
              </a:rPr>
              <a:t>15–20 hrs a week back, about half a position. Tools run roughly $350–500 a month.</a:t>
            </a:r>
            <a:endParaRPr lang="en-US" sz="1150" dirty="0"/>
          </a:p>
        </p:txBody>
      </p:sp>
      <p:sp>
        <p:nvSpPr>
          <p:cNvPr id="10" name="Shape 8"/>
          <p:cNvSpPr/>
          <p:nvPr/>
        </p:nvSpPr>
        <p:spPr>
          <a:xfrm>
            <a:off x="868680" y="2542032"/>
            <a:ext cx="6629400" cy="749808"/>
          </a:xfrm>
          <a:prstGeom prst="roundRect">
            <a:avLst>
              <a:gd name="adj" fmla="val 9756"/>
            </a:avLst>
          </a:prstGeom>
          <a:solidFill>
            <a:srgbClr val="FFFFFF"/>
          </a:solidFill>
          <a:ln w="9525">
            <a:solidFill>
              <a:srgbClr val="D9C7A3"/>
            </a:solidFill>
            <a:prstDash val="solid"/>
          </a:ln>
        </p:spPr>
      </p:sp>
      <p:sp>
        <p:nvSpPr>
          <p:cNvPr id="11" name="Shape 9"/>
          <p:cNvSpPr/>
          <p:nvPr/>
        </p:nvSpPr>
        <p:spPr>
          <a:xfrm>
            <a:off x="1033272" y="2688336"/>
            <a:ext cx="457200" cy="457200"/>
          </a:xfrm>
          <a:prstGeom prst="ellipse">
            <a:avLst/>
          </a:prstGeom>
          <a:solidFill>
            <a:srgbClr val="2E4057"/>
          </a:solidFill>
          <a:ln w="12700">
            <a:solidFill>
              <a:srgbClr val="2E4057"/>
            </a:solidFill>
            <a:prstDash val="solid"/>
          </a:ln>
        </p:spPr>
      </p:sp>
      <p:sp>
        <p:nvSpPr>
          <p:cNvPr id="12" name="Text 10"/>
          <p:cNvSpPr txBox="1"/>
          <p:nvPr/>
        </p:nvSpPr>
        <p:spPr>
          <a:xfrm>
            <a:off x="1033272"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645920" y="2596896"/>
            <a:ext cx="2148840" cy="64008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Contract &amp; fractional</a:t>
            </a:r>
            <a:endParaRPr lang="en-US" sz="1500" dirty="0"/>
          </a:p>
        </p:txBody>
      </p:sp>
      <p:sp>
        <p:nvSpPr>
          <p:cNvPr id="14" name="Text 12"/>
          <p:cNvSpPr txBox="1"/>
          <p:nvPr/>
        </p:nvSpPr>
        <p:spPr>
          <a:xfrm>
            <a:off x="3794760" y="2596896"/>
            <a:ext cx="3520440" cy="640080"/>
          </a:xfrm>
          <a:prstGeom prst="rect">
            <a:avLst/>
          </a:prstGeom>
          <a:noFill/>
          <a:ln/>
        </p:spPr>
        <p:txBody>
          <a:bodyPr wrap="square" lIns="0" tIns="0" rIns="0" bIns="0" rtlCol="0" anchor="ctr"/>
          <a:lstStyle/>
          <a:p>
            <a:pPr indent="0" marL="0">
              <a:buNone/>
            </a:pPr>
            <a:r>
              <a:rPr lang="en-US" sz="1150" dirty="0">
                <a:solidFill>
                  <a:srgbClr val="4A5359"/>
                </a:solidFill>
                <a:latin typeface="Calibri" pitchFamily="34" charset="0"/>
                <a:ea typeface="Calibri" pitchFamily="34" charset="-122"/>
                <a:cs typeface="Calibri" pitchFamily="34" charset="-120"/>
              </a:rPr>
              <a:t>5–10 hours a month from a senior person: bookkeeping, marketing, design, web.</a:t>
            </a:r>
            <a:endParaRPr lang="en-US" sz="1150" dirty="0"/>
          </a:p>
        </p:txBody>
      </p:sp>
      <p:sp>
        <p:nvSpPr>
          <p:cNvPr id="15" name="Shape 13"/>
          <p:cNvSpPr/>
          <p:nvPr/>
        </p:nvSpPr>
        <p:spPr>
          <a:xfrm>
            <a:off x="1188720" y="3438144"/>
            <a:ext cx="6309360" cy="749808"/>
          </a:xfrm>
          <a:prstGeom prst="roundRect">
            <a:avLst>
              <a:gd name="adj" fmla="val 9756"/>
            </a:avLst>
          </a:prstGeom>
          <a:solidFill>
            <a:srgbClr val="FFFFFF"/>
          </a:solidFill>
          <a:ln w="9525">
            <a:solidFill>
              <a:srgbClr val="D9C7A3"/>
            </a:solidFill>
            <a:prstDash val="solid"/>
          </a:ln>
        </p:spPr>
      </p:sp>
      <p:sp>
        <p:nvSpPr>
          <p:cNvPr id="16" name="Shape 14"/>
          <p:cNvSpPr/>
          <p:nvPr/>
        </p:nvSpPr>
        <p:spPr>
          <a:xfrm>
            <a:off x="1353312" y="3584448"/>
            <a:ext cx="457200" cy="457200"/>
          </a:xfrm>
          <a:prstGeom prst="ellipse">
            <a:avLst/>
          </a:prstGeom>
          <a:solidFill>
            <a:srgbClr val="6E6A63"/>
          </a:solidFill>
          <a:ln w="12700">
            <a:solidFill>
              <a:srgbClr val="6E6A63"/>
            </a:solidFill>
            <a:prstDash val="solid"/>
          </a:ln>
        </p:spPr>
      </p:sp>
      <p:sp>
        <p:nvSpPr>
          <p:cNvPr id="17" name="Text 15"/>
          <p:cNvSpPr txBox="1"/>
          <p:nvPr/>
        </p:nvSpPr>
        <p:spPr>
          <a:xfrm>
            <a:off x="1353312" y="35844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965960" y="3493008"/>
            <a:ext cx="2148840" cy="64008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Seasonal &amp; part-time</a:t>
            </a:r>
            <a:endParaRPr lang="en-US" sz="1500" dirty="0"/>
          </a:p>
        </p:txBody>
      </p:sp>
      <p:sp>
        <p:nvSpPr>
          <p:cNvPr id="19" name="Text 17"/>
          <p:cNvSpPr txBox="1"/>
          <p:nvPr/>
        </p:nvSpPr>
        <p:spPr>
          <a:xfrm>
            <a:off x="4114800" y="3493008"/>
            <a:ext cx="3200400" cy="640080"/>
          </a:xfrm>
          <a:prstGeom prst="rect">
            <a:avLst/>
          </a:prstGeom>
          <a:noFill/>
          <a:ln/>
        </p:spPr>
        <p:txBody>
          <a:bodyPr wrap="square" lIns="0" tIns="0" rIns="0" bIns="0" rtlCol="0" anchor="ctr"/>
          <a:lstStyle/>
          <a:p>
            <a:pPr indent="0" marL="0">
              <a:buNone/>
            </a:pPr>
            <a:r>
              <a:rPr lang="en-US" sz="1150" dirty="0">
                <a:solidFill>
                  <a:srgbClr val="4A5359"/>
                </a:solidFill>
                <a:latin typeface="Calibri" pitchFamily="34" charset="0"/>
                <a:ea typeface="Calibri" pitchFamily="34" charset="-122"/>
                <a:cs typeface="Calibri" pitchFamily="34" charset="-120"/>
              </a:rPr>
              <a:t>Q4 pack-and-ship crew at $18–24/hr. Tour and event hosts at $20–28/hr.</a:t>
            </a:r>
            <a:endParaRPr lang="en-US" sz="1150" dirty="0"/>
          </a:p>
        </p:txBody>
      </p:sp>
      <p:sp>
        <p:nvSpPr>
          <p:cNvPr id="20" name="Shape 18"/>
          <p:cNvSpPr/>
          <p:nvPr/>
        </p:nvSpPr>
        <p:spPr>
          <a:xfrm>
            <a:off x="1508760" y="4334256"/>
            <a:ext cx="5989320" cy="749808"/>
          </a:xfrm>
          <a:prstGeom prst="roundRect">
            <a:avLst>
              <a:gd name="adj" fmla="val 9756"/>
            </a:avLst>
          </a:prstGeom>
          <a:solidFill>
            <a:srgbClr val="FFFFFF"/>
          </a:solidFill>
          <a:ln w="9525">
            <a:solidFill>
              <a:srgbClr val="D9C7A3"/>
            </a:solidFill>
            <a:prstDash val="solid"/>
          </a:ln>
        </p:spPr>
      </p:sp>
      <p:sp>
        <p:nvSpPr>
          <p:cNvPr id="21" name="Shape 19"/>
          <p:cNvSpPr/>
          <p:nvPr/>
        </p:nvSpPr>
        <p:spPr>
          <a:xfrm>
            <a:off x="1673352" y="4480560"/>
            <a:ext cx="457200" cy="457200"/>
          </a:xfrm>
          <a:prstGeom prst="ellipse">
            <a:avLst/>
          </a:prstGeom>
          <a:solidFill>
            <a:srgbClr val="4A5359"/>
          </a:solidFill>
          <a:ln w="12700">
            <a:solidFill>
              <a:srgbClr val="4A5359"/>
            </a:solidFill>
            <a:prstDash val="solid"/>
          </a:ln>
        </p:spPr>
      </p:sp>
      <p:sp>
        <p:nvSpPr>
          <p:cNvPr id="22" name="Text 20"/>
          <p:cNvSpPr txBox="1"/>
          <p:nvPr/>
        </p:nvSpPr>
        <p:spPr>
          <a:xfrm>
            <a:off x="1673352" y="4480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2286000" y="4389120"/>
            <a:ext cx="2148840" cy="64008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Students &amp; apprentices</a:t>
            </a:r>
            <a:endParaRPr lang="en-US" sz="1500" dirty="0"/>
          </a:p>
        </p:txBody>
      </p:sp>
      <p:sp>
        <p:nvSpPr>
          <p:cNvPr id="24" name="Text 22"/>
          <p:cNvSpPr txBox="1"/>
          <p:nvPr/>
        </p:nvSpPr>
        <p:spPr>
          <a:xfrm>
            <a:off x="4434840" y="4389120"/>
            <a:ext cx="2880360" cy="640080"/>
          </a:xfrm>
          <a:prstGeom prst="rect">
            <a:avLst/>
          </a:prstGeom>
          <a:noFill/>
          <a:ln/>
        </p:spPr>
        <p:txBody>
          <a:bodyPr wrap="square" lIns="0" tIns="0" rIns="0" bIns="0" rtlCol="0" anchor="ctr"/>
          <a:lstStyle/>
          <a:p>
            <a:pPr indent="0" marL="0">
              <a:buNone/>
            </a:pPr>
            <a:r>
              <a:rPr lang="en-US" sz="1150" dirty="0">
                <a:solidFill>
                  <a:srgbClr val="4A5359"/>
                </a:solidFill>
                <a:latin typeface="Calibri" pitchFamily="34" charset="0"/>
                <a:ea typeface="Calibri" pitchFamily="34" charset="-122"/>
                <a:cs typeface="Calibri" pitchFamily="34" charset="-120"/>
              </a:rPr>
              <a:t>URI paid internships, federal work study, state registered apprenticeship.</a:t>
            </a:r>
            <a:endParaRPr lang="en-US" sz="1150" dirty="0"/>
          </a:p>
        </p:txBody>
      </p:sp>
      <p:sp>
        <p:nvSpPr>
          <p:cNvPr id="25" name="Shape 23"/>
          <p:cNvSpPr/>
          <p:nvPr/>
        </p:nvSpPr>
        <p:spPr>
          <a:xfrm>
            <a:off x="1828800" y="5230368"/>
            <a:ext cx="5669280" cy="749808"/>
          </a:xfrm>
          <a:prstGeom prst="roundRect">
            <a:avLst>
              <a:gd name="adj" fmla="val 9756"/>
            </a:avLst>
          </a:prstGeom>
          <a:solidFill>
            <a:srgbClr val="FFFFFF"/>
          </a:solidFill>
          <a:ln w="9525">
            <a:solidFill>
              <a:srgbClr val="D9C7A3"/>
            </a:solidFill>
            <a:prstDash val="solid"/>
          </a:ln>
        </p:spPr>
      </p:sp>
      <p:sp>
        <p:nvSpPr>
          <p:cNvPr id="26" name="Shape 24"/>
          <p:cNvSpPr/>
          <p:nvPr/>
        </p:nvSpPr>
        <p:spPr>
          <a:xfrm>
            <a:off x="1993392" y="5376672"/>
            <a:ext cx="457200" cy="457200"/>
          </a:xfrm>
          <a:prstGeom prst="ellipse">
            <a:avLst/>
          </a:prstGeom>
          <a:solidFill>
            <a:srgbClr val="2B2A28"/>
          </a:solidFill>
          <a:ln w="12700">
            <a:solidFill>
              <a:srgbClr val="2B2A28"/>
            </a:solidFill>
            <a:prstDash val="solid"/>
          </a:ln>
        </p:spPr>
      </p:sp>
      <p:sp>
        <p:nvSpPr>
          <p:cNvPr id="27" name="Text 25"/>
          <p:cNvSpPr txBox="1"/>
          <p:nvPr/>
        </p:nvSpPr>
        <p:spPr>
          <a:xfrm>
            <a:off x="1993392" y="53766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2606040" y="5285232"/>
            <a:ext cx="2148840" cy="64008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Full-time hire</a:t>
            </a:r>
            <a:endParaRPr lang="en-US" sz="1500" dirty="0"/>
          </a:p>
        </p:txBody>
      </p:sp>
      <p:sp>
        <p:nvSpPr>
          <p:cNvPr id="29" name="Text 27"/>
          <p:cNvSpPr txBox="1"/>
          <p:nvPr/>
        </p:nvSpPr>
        <p:spPr>
          <a:xfrm>
            <a:off x="4754880" y="5285232"/>
            <a:ext cx="2560320" cy="640080"/>
          </a:xfrm>
          <a:prstGeom prst="rect">
            <a:avLst/>
          </a:prstGeom>
          <a:noFill/>
          <a:ln/>
        </p:spPr>
        <p:txBody>
          <a:bodyPr wrap="square" lIns="0" tIns="0" rIns="0" bIns="0" rtlCol="0" anchor="ctr"/>
          <a:lstStyle/>
          <a:p>
            <a:pPr indent="0" marL="0">
              <a:buNone/>
            </a:pPr>
            <a:r>
              <a:rPr lang="en-US" sz="1150" dirty="0">
                <a:solidFill>
                  <a:srgbClr val="4A5359"/>
                </a:solidFill>
                <a:latin typeface="Calibri" pitchFamily="34" charset="0"/>
                <a:ea typeface="Calibri" pitchFamily="34" charset="-122"/>
                <a:cs typeface="Calibri" pitchFamily="34" charset="-120"/>
              </a:rPr>
              <a:t>Last. Only when every part of the trigger test passes.</a:t>
            </a:r>
            <a:endParaRPr lang="en-US" sz="1150" dirty="0"/>
          </a:p>
        </p:txBody>
      </p:sp>
      <p:sp>
        <p:nvSpPr>
          <p:cNvPr id="30" name="Shape 28"/>
          <p:cNvSpPr/>
          <p:nvPr/>
        </p:nvSpPr>
        <p:spPr>
          <a:xfrm>
            <a:off x="7909560" y="1645920"/>
            <a:ext cx="3703320" cy="4343400"/>
          </a:xfrm>
          <a:prstGeom prst="roundRect">
            <a:avLst>
              <a:gd name="adj" fmla="val 1975"/>
            </a:avLst>
          </a:prstGeom>
          <a:solidFill>
            <a:srgbClr val="2B2A28"/>
          </a:solidFill>
          <a:ln w="12700">
            <a:solidFill>
              <a:srgbClr val="2B2A28"/>
            </a:solidFill>
            <a:prstDash val="solid"/>
          </a:ln>
        </p:spPr>
      </p:sp>
      <p:sp>
        <p:nvSpPr>
          <p:cNvPr id="31" name="Text 29"/>
          <p:cNvSpPr txBox="1"/>
          <p:nvPr/>
        </p:nvSpPr>
        <p:spPr>
          <a:xfrm>
            <a:off x="8183880" y="1828800"/>
            <a:ext cx="3154680" cy="274320"/>
          </a:xfrm>
          <a:prstGeom prst="rect">
            <a:avLst/>
          </a:prstGeom>
          <a:noFill/>
          <a:ln/>
        </p:spPr>
        <p:txBody>
          <a:bodyPr wrap="square" lIns="0" tIns="0" rIns="0" bIns="0" rtlCol="0" anchor="ctr"/>
          <a:lstStyle/>
          <a:p>
            <a:pPr indent="0" marL="0">
              <a:buNone/>
            </a:pPr>
            <a:r>
              <a:rPr lang="en-US" sz="1100" b="1" spc="200" kern="0" dirty="0">
                <a:solidFill>
                  <a:srgbClr val="C8922F"/>
                </a:solidFill>
                <a:latin typeface="Calibri" pitchFamily="34" charset="0"/>
                <a:ea typeface="Calibri" pitchFamily="34" charset="-122"/>
                <a:cs typeface="Calibri" pitchFamily="34" charset="-120"/>
              </a:rPr>
              <a:t>THE HIRING TRIGGER TEST</a:t>
            </a:r>
            <a:endParaRPr lang="en-US" sz="1100" dirty="0"/>
          </a:p>
        </p:txBody>
      </p:sp>
      <p:sp>
        <p:nvSpPr>
          <p:cNvPr id="32" name="Text 30"/>
          <p:cNvSpPr txBox="1"/>
          <p:nvPr/>
        </p:nvSpPr>
        <p:spPr>
          <a:xfrm>
            <a:off x="8183880" y="2148840"/>
            <a:ext cx="3154680" cy="502920"/>
          </a:xfrm>
          <a:prstGeom prst="rect">
            <a:avLst/>
          </a:prstGeom>
          <a:noFill/>
          <a:ln/>
        </p:spPr>
        <p:txBody>
          <a:bodyPr wrap="square" lIns="0" tIns="0" rIns="0" bIns="0" rtlCol="0" anchor="t"/>
          <a:lstStyle/>
          <a:p>
            <a:pPr indent="0" marL="0">
              <a:buNone/>
            </a:pPr>
            <a:r>
              <a:rPr lang="en-US" sz="1300" dirty="0">
                <a:solidFill>
                  <a:srgbClr val="EDE7D8"/>
                </a:solidFill>
                <a:latin typeface="Calibri" pitchFamily="34" charset="0"/>
                <a:ea typeface="Calibri" pitchFamily="34" charset="-122"/>
                <a:cs typeface="Calibri" pitchFamily="34" charset="-120"/>
              </a:rPr>
              <a:t>A fixed-cost role only opens when all four are true:</a:t>
            </a:r>
            <a:endParaRPr lang="en-US" sz="1300" dirty="0"/>
          </a:p>
        </p:txBody>
      </p:sp>
      <p:sp>
        <p:nvSpPr>
          <p:cNvPr id="33" name="Shape 31"/>
          <p:cNvSpPr/>
          <p:nvPr/>
        </p:nvSpPr>
        <p:spPr>
          <a:xfrm>
            <a:off x="8183880" y="2788920"/>
            <a:ext cx="365760" cy="365760"/>
          </a:xfrm>
          <a:prstGeom prst="ellipse">
            <a:avLst/>
          </a:prstGeom>
          <a:solidFill>
            <a:srgbClr val="C8922F"/>
          </a:solidFill>
          <a:ln w="12700">
            <a:solidFill>
              <a:srgbClr val="C8922F"/>
            </a:solidFill>
            <a:prstDash val="solid"/>
          </a:ln>
        </p:spPr>
      </p:sp>
      <p:sp>
        <p:nvSpPr>
          <p:cNvPr id="34" name="Text 32"/>
          <p:cNvSpPr txBox="1"/>
          <p:nvPr/>
        </p:nvSpPr>
        <p:spPr>
          <a:xfrm>
            <a:off x="8183880" y="2788920"/>
            <a:ext cx="365760" cy="36576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a:t>
            </a:r>
            <a:endParaRPr lang="en-US" sz="1200" dirty="0"/>
          </a:p>
        </p:txBody>
      </p:sp>
      <p:sp>
        <p:nvSpPr>
          <p:cNvPr id="35" name="Text 33"/>
          <p:cNvSpPr txBox="1"/>
          <p:nvPr/>
        </p:nvSpPr>
        <p:spPr>
          <a:xfrm>
            <a:off x="8686800" y="2743200"/>
            <a:ext cx="2697480" cy="685800"/>
          </a:xfrm>
          <a:prstGeom prst="rect">
            <a:avLst/>
          </a:prstGeom>
          <a:noFill/>
          <a:ln/>
        </p:spPr>
        <p:txBody>
          <a:bodyPr wrap="square" lIns="0" tIns="0" rIns="0" bIns="0" rtlCol="0" anchor="t"/>
          <a:lstStyle/>
          <a:p>
            <a:pPr indent="0" marL="0">
              <a:buNone/>
            </a:pPr>
            <a:r>
              <a:rPr lang="en-US" sz="1250" dirty="0">
                <a:solidFill>
                  <a:srgbClr val="EDE7D8"/>
                </a:solidFill>
                <a:latin typeface="Calibri" pitchFamily="34" charset="0"/>
                <a:ea typeface="Calibri" pitchFamily="34" charset="-122"/>
                <a:cs typeface="Calibri" pitchFamily="34" charset="-120"/>
              </a:rPr>
              <a:t>The work is written down, with hours taken from the time log</a:t>
            </a:r>
            <a:endParaRPr lang="en-US" sz="1250" dirty="0"/>
          </a:p>
        </p:txBody>
      </p:sp>
      <p:sp>
        <p:nvSpPr>
          <p:cNvPr id="36" name="Shape 34"/>
          <p:cNvSpPr/>
          <p:nvPr/>
        </p:nvSpPr>
        <p:spPr>
          <a:xfrm>
            <a:off x="8183880" y="3538728"/>
            <a:ext cx="365760" cy="365760"/>
          </a:xfrm>
          <a:prstGeom prst="ellipse">
            <a:avLst/>
          </a:prstGeom>
          <a:solidFill>
            <a:srgbClr val="C8922F"/>
          </a:solidFill>
          <a:ln w="12700">
            <a:solidFill>
              <a:srgbClr val="C8922F"/>
            </a:solidFill>
            <a:prstDash val="solid"/>
          </a:ln>
        </p:spPr>
      </p:sp>
      <p:sp>
        <p:nvSpPr>
          <p:cNvPr id="37" name="Text 35"/>
          <p:cNvSpPr txBox="1"/>
          <p:nvPr/>
        </p:nvSpPr>
        <p:spPr>
          <a:xfrm>
            <a:off x="8183880" y="3538728"/>
            <a:ext cx="365760" cy="36576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a:t>
            </a:r>
            <a:endParaRPr lang="en-US" sz="1200" dirty="0"/>
          </a:p>
        </p:txBody>
      </p:sp>
      <p:sp>
        <p:nvSpPr>
          <p:cNvPr id="38" name="Text 36"/>
          <p:cNvSpPr txBox="1"/>
          <p:nvPr/>
        </p:nvSpPr>
        <p:spPr>
          <a:xfrm>
            <a:off x="8686800" y="3493008"/>
            <a:ext cx="2697480" cy="685800"/>
          </a:xfrm>
          <a:prstGeom prst="rect">
            <a:avLst/>
          </a:prstGeom>
          <a:noFill/>
          <a:ln/>
        </p:spPr>
        <p:txBody>
          <a:bodyPr wrap="square" lIns="0" tIns="0" rIns="0" bIns="0" rtlCol="0" anchor="t"/>
          <a:lstStyle/>
          <a:p>
            <a:pPr indent="0" marL="0">
              <a:buNone/>
            </a:pPr>
            <a:r>
              <a:rPr lang="en-US" sz="1250" dirty="0">
                <a:solidFill>
                  <a:srgbClr val="EDE7D8"/>
                </a:solidFill>
                <a:latin typeface="Calibri" pitchFamily="34" charset="0"/>
                <a:ea typeface="Calibri" pitchFamily="34" charset="-122"/>
                <a:cs typeface="Calibri" pitchFamily="34" charset="-120"/>
              </a:rPr>
              <a:t>Automation has been properly ruled out</a:t>
            </a:r>
            <a:endParaRPr lang="en-US" sz="1250" dirty="0"/>
          </a:p>
        </p:txBody>
      </p:sp>
      <p:sp>
        <p:nvSpPr>
          <p:cNvPr id="39" name="Shape 37"/>
          <p:cNvSpPr/>
          <p:nvPr/>
        </p:nvSpPr>
        <p:spPr>
          <a:xfrm>
            <a:off x="8183880" y="4288536"/>
            <a:ext cx="365760" cy="365760"/>
          </a:xfrm>
          <a:prstGeom prst="ellipse">
            <a:avLst/>
          </a:prstGeom>
          <a:solidFill>
            <a:srgbClr val="C8922F"/>
          </a:solidFill>
          <a:ln w="12700">
            <a:solidFill>
              <a:srgbClr val="C8922F"/>
            </a:solidFill>
            <a:prstDash val="solid"/>
          </a:ln>
        </p:spPr>
      </p:sp>
      <p:sp>
        <p:nvSpPr>
          <p:cNvPr id="40" name="Text 38"/>
          <p:cNvSpPr txBox="1"/>
          <p:nvPr/>
        </p:nvSpPr>
        <p:spPr>
          <a:xfrm>
            <a:off x="8183880" y="4288536"/>
            <a:ext cx="365760" cy="36576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a:t>
            </a:r>
            <a:endParaRPr lang="en-US" sz="1200" dirty="0"/>
          </a:p>
        </p:txBody>
      </p:sp>
      <p:sp>
        <p:nvSpPr>
          <p:cNvPr id="41" name="Text 39"/>
          <p:cNvSpPr txBox="1"/>
          <p:nvPr/>
        </p:nvSpPr>
        <p:spPr>
          <a:xfrm>
            <a:off x="8686800" y="4242816"/>
            <a:ext cx="2697480" cy="685800"/>
          </a:xfrm>
          <a:prstGeom prst="rect">
            <a:avLst/>
          </a:prstGeom>
          <a:noFill/>
          <a:ln/>
        </p:spPr>
        <p:txBody>
          <a:bodyPr wrap="square" lIns="0" tIns="0" rIns="0" bIns="0" rtlCol="0" anchor="t"/>
          <a:lstStyle/>
          <a:p>
            <a:pPr indent="0" marL="0">
              <a:buNone/>
            </a:pPr>
            <a:r>
              <a:rPr lang="en-US" sz="1250" dirty="0">
                <a:solidFill>
                  <a:srgbClr val="EDE7D8"/>
                </a:solidFill>
                <a:latin typeface="Calibri" pitchFamily="34" charset="0"/>
                <a:ea typeface="Calibri" pitchFamily="34" charset="-122"/>
                <a:cs typeface="Calibri" pitchFamily="34" charset="-120"/>
              </a:rPr>
              <a:t>The margin the role creates covers its full cost 3× (full cost runs 1.25–1.4× wage)</a:t>
            </a:r>
            <a:endParaRPr lang="en-US" sz="1250" dirty="0"/>
          </a:p>
        </p:txBody>
      </p:sp>
      <p:sp>
        <p:nvSpPr>
          <p:cNvPr id="42" name="Shape 40"/>
          <p:cNvSpPr/>
          <p:nvPr/>
        </p:nvSpPr>
        <p:spPr>
          <a:xfrm>
            <a:off x="8183880" y="5038344"/>
            <a:ext cx="365760" cy="365760"/>
          </a:xfrm>
          <a:prstGeom prst="ellipse">
            <a:avLst/>
          </a:prstGeom>
          <a:solidFill>
            <a:srgbClr val="C8922F"/>
          </a:solidFill>
          <a:ln w="12700">
            <a:solidFill>
              <a:srgbClr val="C8922F"/>
            </a:solidFill>
            <a:prstDash val="solid"/>
          </a:ln>
        </p:spPr>
      </p:sp>
      <p:sp>
        <p:nvSpPr>
          <p:cNvPr id="43" name="Text 41"/>
          <p:cNvSpPr txBox="1"/>
          <p:nvPr/>
        </p:nvSpPr>
        <p:spPr>
          <a:xfrm>
            <a:off x="8183880" y="5038344"/>
            <a:ext cx="365760" cy="36576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a:t>
            </a:r>
            <a:endParaRPr lang="en-US" sz="1200" dirty="0"/>
          </a:p>
        </p:txBody>
      </p:sp>
      <p:sp>
        <p:nvSpPr>
          <p:cNvPr id="44" name="Text 42"/>
          <p:cNvSpPr txBox="1"/>
          <p:nvPr/>
        </p:nvSpPr>
        <p:spPr>
          <a:xfrm>
            <a:off x="8686800" y="4992624"/>
            <a:ext cx="2697480" cy="685800"/>
          </a:xfrm>
          <a:prstGeom prst="rect">
            <a:avLst/>
          </a:prstGeom>
          <a:noFill/>
          <a:ln/>
        </p:spPr>
        <p:txBody>
          <a:bodyPr wrap="square" lIns="0" tIns="0" rIns="0" bIns="0" rtlCol="0" anchor="t"/>
          <a:lstStyle/>
          <a:p>
            <a:pPr indent="0" marL="0">
              <a:buNone/>
            </a:pPr>
            <a:r>
              <a:rPr lang="en-US" sz="1250" dirty="0">
                <a:solidFill>
                  <a:srgbClr val="EDE7D8"/>
                </a:solidFill>
                <a:latin typeface="Calibri" pitchFamily="34" charset="0"/>
                <a:ea typeface="Calibri" pitchFamily="34" charset="-122"/>
                <a:cs typeface="Calibri" pitchFamily="34" charset="-120"/>
              </a:rPr>
              <a:t>Demand lasts twelve months, not four</a:t>
            </a:r>
            <a:endParaRPr lang="en-US" sz="1250" dirty="0"/>
          </a:p>
        </p:txBody>
      </p:sp>
      <p:sp>
        <p:nvSpPr>
          <p:cNvPr id="45" name="Text 43"/>
          <p:cNvSpPr txBox="1"/>
          <p:nvPr/>
        </p:nvSpPr>
        <p:spPr>
          <a:xfrm>
            <a:off x="548640" y="5989320"/>
            <a:ext cx="6949440" cy="320040"/>
          </a:xfrm>
          <a:prstGeom prst="rect">
            <a:avLst/>
          </a:prstGeom>
          <a:noFill/>
          <a:ln/>
        </p:spPr>
        <p:txBody>
          <a:bodyPr wrap="square" lIns="0" tIns="0" rIns="0" bIns="0" rtlCol="0" anchor="ctr"/>
          <a:lstStyle/>
          <a:p>
            <a:pPr indent="0" marL="0">
              <a:buNone/>
            </a:pPr>
            <a:r>
              <a:rPr lang="en-US" sz="1300" b="1" i="1" dirty="0">
                <a:solidFill>
                  <a:srgbClr val="2E4057"/>
                </a:solidFill>
                <a:latin typeface="Calibri" pitchFamily="34" charset="0"/>
                <a:ea typeface="Calibri" pitchFamily="34" charset="-122"/>
                <a:cs typeface="Calibri" pitchFamily="34" charset="-120"/>
              </a:rPr>
              <a:t>If any test fails: contract, seasonal, or automate.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10</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WHAT AI CAN'T COVER</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Where people are the product, and who covers it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863840" cy="914400"/>
        </p:xfrm>
        <a:graphic>
          <a:graphicData uri="http://schemas.openxmlformats.org/drawingml/2006/table">
            <a:tbl>
              <a:tblPr/>
              <a:tblGrid>
                <a:gridCol w="3017520"/>
                <a:gridCol w="3657600"/>
                <a:gridCol w="1188720"/>
              </a:tblGrid>
              <a:tr h="548640">
                <a:tc>
                  <a:txBody>
                    <a:bodyPr/>
                    <a:lstStyle/>
                    <a:p>
                      <a:pPr indent="0" marL="0">
                        <a:buNone/>
                      </a:pPr>
                      <a:r>
                        <a:rPr lang="en-US" sz="1200" b="1" dirty="0">
                          <a:solidFill>
                            <a:srgbClr val="EDE7D8"/>
                          </a:solidFill>
                          <a:latin typeface="Calibri" pitchFamily="34" charset="0"/>
                          <a:ea typeface="Calibri" pitchFamily="34" charset="-122"/>
                          <a:cs typeface="Calibri" pitchFamily="34" charset="-120"/>
                        </a:rPr>
                        <a:t>Work that stays human</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200" b="1" dirty="0">
                          <a:solidFill>
                            <a:srgbClr val="EDE7D8"/>
                          </a:solidFill>
                          <a:latin typeface="Calibri" pitchFamily="34" charset="0"/>
                          <a:ea typeface="Calibri" pitchFamily="34" charset="-122"/>
                          <a:cs typeface="Calibri" pitchFamily="34" charset="-120"/>
                        </a:rPr>
                        <a:t>Who covers it</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200" b="1" dirty="0">
                          <a:solidFill>
                            <a:srgbClr val="EDE7D8"/>
                          </a:solidFill>
                          <a:latin typeface="Calibri" pitchFamily="34" charset="0"/>
                          <a:ea typeface="Calibri" pitchFamily="34" charset="-122"/>
                          <a:cs typeface="Calibri" pitchFamily="34" charset="-120"/>
                        </a:rPr>
                        <a:t>Gap it fills</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Grinding, grain quality, stone care</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Head Miller, plus an apprentice who learns the method</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6E6A63"/>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Tours, the shop counter, events</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Seasonal hosts and an on-call pool of 4–6 trained people</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8A6115"/>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Buyer tastings, closing, relationships</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A part-time wholesale rep, paid base plus commission</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6E6A63"/>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Approving what AI drafts</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The owner of each role, in a set daily window</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8A6115"/>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Food safety and label sign-off</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An owner, plus professional review before anything prints</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2E4057"/>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Farm and grain supply relationships</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Owners. Flint corn has few growers, so this is personal</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6E6A63"/>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B2A28"/>
                          </a:solidFill>
                          <a:latin typeface="Calibri" pitchFamily="34" charset="0"/>
                          <a:ea typeface="Calibri" pitchFamily="34" charset="-122"/>
                          <a:cs typeface="Calibri" pitchFamily="34" charset="-120"/>
                        </a:rPr>
                        <a:t>Lender, family and strategy decisions</a:t>
                      </a:r>
                      <a:endParaRPr lang="en-US" sz="13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50" dirty="0">
                          <a:solidFill>
                            <a:srgbClr val="4A5359"/>
                          </a:solidFill>
                          <a:latin typeface="Calibri" pitchFamily="34" charset="0"/>
                          <a:ea typeface="Calibri" pitchFamily="34" charset="-122"/>
                          <a:cs typeface="Calibri" pitchFamily="34" charset="-120"/>
                        </a:rPr>
                        <a:t>Owners, backed by a quarterly advisory group</a:t>
                      </a:r>
                      <a:endParaRPr lang="en-US" sz="125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200" b="1" dirty="0">
                          <a:solidFill>
                            <a:srgbClr val="6E6A63"/>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6" name="Shape 3"/>
          <p:cNvSpPr/>
          <p:nvPr/>
        </p:nvSpPr>
        <p:spPr>
          <a:xfrm>
            <a:off x="8732520" y="1645920"/>
            <a:ext cx="2880360" cy="4389120"/>
          </a:xfrm>
          <a:prstGeom prst="roundRect">
            <a:avLst>
              <a:gd name="adj" fmla="val 2540"/>
            </a:avLst>
          </a:prstGeom>
          <a:solidFill>
            <a:srgbClr val="F0E3C4"/>
          </a:solidFill>
          <a:ln w="12700">
            <a:solidFill>
              <a:srgbClr val="F0E3C4"/>
            </a:solidFill>
            <a:prstDash val="solid"/>
          </a:ln>
        </p:spPr>
      </p:sp>
      <p:sp>
        <p:nvSpPr>
          <p:cNvPr id="7" name="Text 4"/>
          <p:cNvSpPr txBox="1"/>
          <p:nvPr/>
        </p:nvSpPr>
        <p:spPr>
          <a:xfrm>
            <a:off x="9006840" y="1874520"/>
            <a:ext cx="2331720" cy="3931920"/>
          </a:xfrm>
          <a:prstGeom prst="rect">
            <a:avLst/>
          </a:prstGeom>
          <a:noFill/>
          <a:ln/>
        </p:spPr>
        <p:txBody>
          <a:bodyPr wrap="square" lIns="0" tIns="0" rIns="0" bIns="0" rtlCol="0" anchor="t"/>
          <a:lstStyle/>
          <a:p>
            <a:pPr indent="0" marL="0">
              <a:buNone/>
            </a:pPr>
            <a:r>
              <a:rPr lang="en-US" sz="2000" b="1" dirty="0">
                <a:solidFill>
                  <a:srgbClr val="2B2A28"/>
                </a:solidFill>
                <a:latin typeface="Cambria" pitchFamily="34" charset="0"/>
                <a:ea typeface="Cambria" pitchFamily="34" charset="-122"/>
                <a:cs typeface="Cambria" pitchFamily="34" charset="-120"/>
              </a:rPr>
              <a:t>The trade</a:t>
            </a:r>
            <a:endParaRPr lang="en-US" sz="2000" dirty="0"/>
          </a:p>
          <a:p>
            <a:pPr indent="0" marL="0">
              <a:buNone/>
            </a:pPr>
            <a:r>
              <a:rPr lang="en-US" sz="800" dirty="0">
                <a:solidFill>
                  <a:srgbClr val="2B2A28"/>
                </a:solidFill>
                <a:latin typeface="Calibri" pitchFamily="34" charset="0"/>
                <a:ea typeface="Calibri" pitchFamily="34" charset="-122"/>
                <a:cs typeface="Calibri" pitchFamily="34" charset="-120"/>
              </a:rPr>
              <a:t> </a:t>
            </a:r>
            <a:endParaRPr lang="en-US" sz="2000" dirty="0"/>
          </a:p>
          <a:p>
            <a:pPr indent="0" marL="0">
              <a:buNone/>
            </a:pPr>
            <a:r>
              <a:rPr lang="en-US" sz="1400" dirty="0">
                <a:solidFill>
                  <a:srgbClr val="2B2A28"/>
                </a:solidFill>
                <a:latin typeface="Calibri" pitchFamily="34" charset="0"/>
                <a:ea typeface="Calibri" pitchFamily="34" charset="-122"/>
                <a:cs typeface="Calibri" pitchFamily="34" charset="-120"/>
              </a:rPr>
              <a:t>AI takes the screen work off these people so their hours go to the parts customers actually pay for.</a:t>
            </a:r>
            <a:endParaRPr lang="en-US" sz="2000" dirty="0"/>
          </a:p>
          <a:p>
            <a:pPr indent="0" marL="0">
              <a:buNone/>
            </a:pPr>
            <a:r>
              <a:rPr lang="en-US" sz="800" dirty="0">
                <a:solidFill>
                  <a:srgbClr val="2B2A28"/>
                </a:solidFill>
                <a:latin typeface="Calibri" pitchFamily="34" charset="0"/>
                <a:ea typeface="Calibri" pitchFamily="34" charset="-122"/>
                <a:cs typeface="Calibri" pitchFamily="34" charset="-120"/>
              </a:rPr>
              <a:t> </a:t>
            </a:r>
            <a:endParaRPr lang="en-US" sz="2000" dirty="0"/>
          </a:p>
          <a:p>
            <a:pPr indent="0" marL="0">
              <a:buNone/>
            </a:pPr>
            <a:r>
              <a:rPr lang="en-US" sz="1400" i="1" dirty="0">
                <a:solidFill>
                  <a:srgbClr val="2B2A28"/>
                </a:solidFill>
                <a:latin typeface="Calibri" pitchFamily="34" charset="0"/>
                <a:ea typeface="Calibri" pitchFamily="34" charset="-122"/>
                <a:cs typeface="Calibri" pitchFamily="34" charset="-120"/>
              </a:rPr>
              <a:t>A miller who isn't retyping invoices is a miller who can train an apprentice.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11</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WORKED EXAMPLE · ROLE CARD</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Wholesale &amp; Accounts, scored task by task</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229600" cy="914400"/>
        </p:xfrm>
        <a:graphic>
          <a:graphicData uri="http://schemas.openxmlformats.org/drawingml/2006/table">
            <a:tbl>
              <a:tblPr/>
              <a:tblGrid>
                <a:gridCol w="2240280"/>
                <a:gridCol w="548640"/>
                <a:gridCol w="347472"/>
                <a:gridCol w="347472"/>
                <a:gridCol w="347472"/>
                <a:gridCol w="347472"/>
                <a:gridCol w="347472"/>
                <a:gridCol w="475488"/>
                <a:gridCol w="594360"/>
                <a:gridCol w="960120"/>
                <a:gridCol w="1673352"/>
              </a:tblGrid>
              <a:tr h="457200">
                <a:tc>
                  <a:txBody>
                    <a:bodyPr/>
                    <a:lstStyle/>
                    <a:p>
                      <a:pPr algn="l" indent="0" marL="0">
                        <a:buNone/>
                      </a:pPr>
                      <a:r>
                        <a:rPr lang="en-US" sz="1050" b="1" dirty="0">
                          <a:solidFill>
                            <a:srgbClr val="EDE7D8"/>
                          </a:solidFill>
                          <a:latin typeface="Calibri" pitchFamily="34" charset="0"/>
                          <a:ea typeface="Calibri" pitchFamily="34" charset="-122"/>
                          <a:cs typeface="Calibri" pitchFamily="34" charset="-120"/>
                        </a:rPr>
                        <a:t>Task</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Hrs/wk</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E</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Auto</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Anchor</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050" b="1" dirty="0">
                          <a:solidFill>
                            <a:srgbClr val="EDE7D8"/>
                          </a:solidFill>
                          <a:latin typeface="Calibri" pitchFamily="34" charset="0"/>
                          <a:ea typeface="Calibri" pitchFamily="34" charset="-122"/>
                          <a:cs typeface="Calibri" pitchFamily="34" charset="-120"/>
                        </a:rPr>
                        <a:t>Lane</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050" b="1" dirty="0">
                          <a:solidFill>
                            <a:srgbClr val="EDE7D8"/>
                          </a:solidFill>
                          <a:latin typeface="Calibri" pitchFamily="34" charset="0"/>
                          <a:ea typeface="Calibri" pitchFamily="34" charset="-122"/>
                          <a:cs typeface="Calibri" pitchFamily="34" charset="-120"/>
                        </a:rPr>
                        <a:t>Covered by</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Prospect research and list building</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611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B2A28"/>
                          </a:solidFill>
                          <a:latin typeface="Calibri" pitchFamily="34" charset="0"/>
                          <a:ea typeface="Calibri" pitchFamily="34" charset="-122"/>
                          <a:cs typeface="Calibri" pitchFamily="34" charset="-120"/>
                        </a:rPr>
                        <a:t>AI drafts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Scout agent</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First-touch and follow-up emails</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611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B2A28"/>
                          </a:solidFill>
                          <a:latin typeface="Calibri" pitchFamily="34" charset="0"/>
                          <a:ea typeface="Calibri" pitchFamily="34" charset="-122"/>
                          <a:cs typeface="Calibri" pitchFamily="34" charset="-120"/>
                        </a:rPr>
                        <a:t>AI drafts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Scout drafts, rep sends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Reorder reminders and invoicing</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611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B2A28"/>
                          </a:solidFill>
                          <a:latin typeface="Calibri" pitchFamily="34" charset="0"/>
                          <a:ea typeface="Calibri" pitchFamily="34" charset="-122"/>
                          <a:cs typeface="Calibri" pitchFamily="34" charset="-120"/>
                        </a:rPr>
                        <a:t>AI drafts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B2B portal, auto-invoice</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Pricing and terms changes</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611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B2A28"/>
                          </a:solidFill>
                          <a:latin typeface="Calibri" pitchFamily="34" charset="0"/>
                          <a:ea typeface="Calibri" pitchFamily="34" charset="-122"/>
                          <a:cs typeface="Calibri" pitchFamily="34" charset="-120"/>
                        </a:rPr>
                        <a:t>AI drafts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AI models margin; owner signs</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Delivery routes</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611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Human + AI</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AI ranks by margin after freight</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Buyer calls, tastings, closing</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Human-led</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6E6A63"/>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Part-time rep</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Price list sent by Gmail on request</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A2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A535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B2A28"/>
                          </a:solidFill>
                          <a:latin typeface="Calibri" pitchFamily="34" charset="0"/>
                          <a:ea typeface="Calibri" pitchFamily="34" charset="-122"/>
                          <a:cs typeface="Calibri" pitchFamily="34" charset="-120"/>
                        </a:rPr>
                        <a:t>Fix first</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D9C7A3"/>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Publish a line sheet</a:t>
                      </a:r>
                      <a:endParaRPr lang="en-US" sz="1050" dirty="0">
                        <a:latin typeface="Calibri" charset="0"/>
                        <a:ea typeface="Calibri" charset="0"/>
                        <a:cs typeface="Calibri" charset="0"/>
                      </a:endParaRPr>
                    </a:p>
                  </a:txBody>
                  <a:tcPr marL="45720" marR="45720" marT="45720" marB="45720"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8961120" y="1463040"/>
          <a:ext cx="2651760" cy="26517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9464040" y="2331720"/>
            <a:ext cx="1645920" cy="914400"/>
          </a:xfrm>
          <a:prstGeom prst="rect">
            <a:avLst/>
          </a:prstGeom>
          <a:noFill/>
          <a:ln/>
        </p:spPr>
        <p:txBody>
          <a:bodyPr wrap="square" lIns="0" tIns="0" rIns="0" bIns="0" rtlCol="0" anchor="ctr"/>
          <a:lstStyle/>
          <a:p>
            <a:pPr algn="ctr" indent="0" marL="0">
              <a:buNone/>
            </a:pPr>
            <a:r>
              <a:rPr lang="en-US" sz="2600" b="1" dirty="0">
                <a:solidFill>
                  <a:srgbClr val="2B2A28"/>
                </a:solidFill>
                <a:latin typeface="Cambria" pitchFamily="34" charset="0"/>
                <a:ea typeface="Cambria" pitchFamily="34" charset="-122"/>
                <a:cs typeface="Cambria" pitchFamily="34" charset="-120"/>
              </a:rPr>
              <a:t>57%</a:t>
            </a:r>
            <a:endParaRPr lang="en-US" sz="2600" dirty="0"/>
          </a:p>
          <a:p>
            <a:pPr algn="ctr" indent="0" marL="0">
              <a:buNone/>
            </a:pPr>
            <a:r>
              <a:rPr lang="en-US" sz="1100" dirty="0">
                <a:solidFill>
                  <a:srgbClr val="2B2A28"/>
                </a:solidFill>
                <a:latin typeface="Calibri" pitchFamily="34" charset="0"/>
                <a:ea typeface="Calibri" pitchFamily="34" charset="-122"/>
                <a:cs typeface="Calibri" pitchFamily="34" charset="-120"/>
              </a:rPr>
              <a:t>AI can draft</a:t>
            </a:r>
            <a:endParaRPr lang="en-US" sz="2600" dirty="0"/>
          </a:p>
        </p:txBody>
      </p:sp>
      <p:sp>
        <p:nvSpPr>
          <p:cNvPr id="8" name="Text 4"/>
          <p:cNvSpPr txBox="1"/>
          <p:nvPr/>
        </p:nvSpPr>
        <p:spPr>
          <a:xfrm>
            <a:off x="8915400" y="4206240"/>
            <a:ext cx="2743200" cy="1828800"/>
          </a:xfrm>
          <a:prstGeom prst="rect">
            <a:avLst/>
          </a:prstGeom>
          <a:noFill/>
          <a:ln/>
        </p:spPr>
        <p:txBody>
          <a:bodyPr wrap="square" lIns="0" tIns="0" rIns="0" bIns="0" rtlCol="0" anchor="t"/>
          <a:lstStyle/>
          <a:p>
            <a:pPr indent="0" marL="0">
              <a:buNone/>
            </a:pPr>
            <a:r>
              <a:rPr lang="en-US" sz="1200" b="1" dirty="0">
                <a:solidFill>
                  <a:srgbClr val="2B2A28"/>
                </a:solidFill>
                <a:latin typeface="Calibri" pitchFamily="34" charset="0"/>
                <a:ea typeface="Calibri" pitchFamily="34" charset="-122"/>
                <a:cs typeface="Calibri" pitchFamily="34" charset="-120"/>
              </a:rPr>
              <a:t>8 of 14 hours </a:t>
            </a:r>
            <a:pPr indent="0" marL="0">
              <a:buNone/>
            </a:pPr>
            <a:r>
              <a:rPr lang="en-US" sz="1200" dirty="0">
                <a:solidFill>
                  <a:srgbClr val="2B2A28"/>
                </a:solidFill>
                <a:latin typeface="Calibri" pitchFamily="34" charset="0"/>
                <a:ea typeface="Calibri" pitchFamily="34" charset="-122"/>
                <a:cs typeface="Calibri" pitchFamily="34" charset="-120"/>
              </a:rPr>
              <a:t>can be drafted by AI. The </a:t>
            </a:r>
            <a:pPr indent="0" marL="0">
              <a:buNone/>
            </a:pPr>
            <a:r>
              <a:rPr lang="en-US" sz="1200" b="1" dirty="0">
                <a:solidFill>
                  <a:srgbClr val="2B2A28"/>
                </a:solidFill>
                <a:latin typeface="Calibri" pitchFamily="34" charset="0"/>
                <a:ea typeface="Calibri" pitchFamily="34" charset="-122"/>
                <a:cs typeface="Calibri" pitchFamily="34" charset="-120"/>
              </a:rPr>
              <a:t>3 hours of buyer contact </a:t>
            </a:r>
            <a:pPr indent="0" marL="0">
              <a:buNone/>
            </a:pPr>
            <a:r>
              <a:rPr lang="en-US" sz="1200" dirty="0">
                <a:solidFill>
                  <a:srgbClr val="2B2A28"/>
                </a:solidFill>
                <a:latin typeface="Calibri" pitchFamily="34" charset="0"/>
                <a:ea typeface="Calibri" pitchFamily="34" charset="-122"/>
                <a:cs typeface="Calibri" pitchFamily="34" charset="-120"/>
              </a:rPr>
              <a:t>are the job. Result: a part-time rep on commission, backed by the Scout, not a full-time salesperson.</a:t>
            </a:r>
            <a:endParaRPr lang="en-US" sz="1200" dirty="0"/>
          </a:p>
        </p:txBody>
      </p:sp>
      <p:sp>
        <p:nvSpPr>
          <p:cNvPr id="9" name="Text 5"/>
          <p:cNvSpPr txBox="1"/>
          <p:nvPr/>
        </p:nvSpPr>
        <p:spPr>
          <a:xfrm>
            <a:off x="548640" y="5394960"/>
            <a:ext cx="8229600" cy="274320"/>
          </a:xfrm>
          <a:prstGeom prst="rect">
            <a:avLst/>
          </a:prstGeom>
          <a:noFill/>
          <a:ln/>
        </p:spPr>
        <p:txBody>
          <a:bodyPr wrap="square" lIns="0" tIns="0" rIns="0" bIns="0" rtlCol="0" anchor="ctr"/>
          <a:lstStyle/>
          <a:p>
            <a:pPr indent="0" marL="0">
              <a:buNone/>
            </a:pPr>
            <a:r>
              <a:rPr lang="en-US" sz="1050" i="1" dirty="0">
                <a:solidFill>
                  <a:srgbClr val="4A5359"/>
                </a:solidFill>
                <a:latin typeface="Calibri" pitchFamily="34" charset="0"/>
                <a:ea typeface="Calibri" pitchFamily="34" charset="-122"/>
                <a:cs typeface="Calibri" pitchFamily="34" charset="-120"/>
              </a:rPr>
              <a:t>Hours are illustrative. Replace them with the time log.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D9C7A3"/>
                </a:solidFill>
                <a:latin typeface="Calibri" pitchFamily="34" charset="0"/>
                <a:ea typeface="Calibri" pitchFamily="34" charset="-122"/>
                <a:cs typeface="Calibri" pitchFamily="34" charset="-120"/>
              </a:rPr>
              <a:t>Kenyon's Grist Mill  ·  Roles, Structure &amp; AI  ·  12</a:t>
            </a:r>
            <a:endParaRPr lang="en-US" sz="900" dirty="0"/>
          </a:p>
        </p:txBody>
      </p:sp>
      <p:sp>
        <p:nvSpPr>
          <p:cNvPr id="3" name="Text 1"/>
          <p:cNvSpPr txBox="1"/>
          <p:nvPr/>
        </p:nvSpPr>
        <p:spPr>
          <a:xfrm>
            <a:off x="548640" y="2194560"/>
            <a:ext cx="7315200" cy="365760"/>
          </a:xfrm>
          <a:prstGeom prst="rect">
            <a:avLst/>
          </a:prstGeom>
          <a:noFill/>
          <a:ln/>
        </p:spPr>
        <p:txBody>
          <a:bodyPr wrap="square" lIns="0" tIns="0" rIns="0" bIns="0" rtlCol="0" anchor="ctr"/>
          <a:lstStyle/>
          <a:p>
            <a:pPr indent="0" marL="0">
              <a:buNone/>
            </a:pPr>
            <a:r>
              <a:rPr lang="en-US" sz="1400" b="1" spc="400" kern="0" dirty="0">
                <a:solidFill>
                  <a:srgbClr val="C8922F"/>
                </a:solidFill>
                <a:latin typeface="Calibri" pitchFamily="34" charset="0"/>
                <a:ea typeface="Calibri" pitchFamily="34" charset="-122"/>
                <a:cs typeface="Calibri" pitchFamily="34" charset="-120"/>
              </a:rPr>
              <a:t>PART TWO</a:t>
            </a:r>
            <a:endParaRPr lang="en-US" sz="1400" dirty="0"/>
          </a:p>
        </p:txBody>
      </p:sp>
      <p:sp>
        <p:nvSpPr>
          <p:cNvPr id="4" name="Text 2"/>
          <p:cNvSpPr txBox="1"/>
          <p:nvPr/>
        </p:nvSpPr>
        <p:spPr>
          <a:xfrm>
            <a:off x="548640" y="2606040"/>
            <a:ext cx="10058400" cy="914400"/>
          </a:xfrm>
          <a:prstGeom prst="rect">
            <a:avLst/>
          </a:prstGeom>
          <a:noFill/>
          <a:ln/>
        </p:spPr>
        <p:txBody>
          <a:bodyPr wrap="square" lIns="0" tIns="0" rIns="0" bIns="0" rtlCol="0" anchor="ctr"/>
          <a:lstStyle/>
          <a:p>
            <a:pPr indent="0" marL="0">
              <a:buNone/>
            </a:pPr>
            <a:r>
              <a:rPr lang="en-US" sz="4400" b="1" dirty="0">
                <a:solidFill>
                  <a:srgbClr val="EDE7D8"/>
                </a:solidFill>
                <a:latin typeface="Cambria" pitchFamily="34" charset="0"/>
                <a:ea typeface="Cambria" pitchFamily="34" charset="-122"/>
                <a:cs typeface="Cambria" pitchFamily="34" charset="-120"/>
              </a:rPr>
              <a:t>Applying it to Kenyon's</a:t>
            </a:r>
            <a:endParaRPr lang="en-US" sz="4400" dirty="0"/>
          </a:p>
        </p:txBody>
      </p:sp>
      <p:sp>
        <p:nvSpPr>
          <p:cNvPr id="5" name="Text 3"/>
          <p:cNvSpPr txBox="1"/>
          <p:nvPr/>
        </p:nvSpPr>
        <p:spPr>
          <a:xfrm>
            <a:off x="548640" y="3611880"/>
            <a:ext cx="8595360" cy="822960"/>
          </a:xfrm>
          <a:prstGeom prst="rect">
            <a:avLst/>
          </a:prstGeom>
          <a:noFill/>
          <a:ln/>
        </p:spPr>
        <p:txBody>
          <a:bodyPr wrap="square" lIns="0" tIns="0" rIns="0" bIns="0" rtlCol="0" anchor="t"/>
          <a:lstStyle/>
          <a:p>
            <a:pPr indent="0" marL="0">
              <a:buNone/>
            </a:pPr>
            <a:r>
              <a:rPr lang="en-US" sz="1800" dirty="0">
                <a:solidFill>
                  <a:srgbClr val="D9C7A3"/>
                </a:solidFill>
                <a:latin typeface="Calibri" pitchFamily="34" charset="0"/>
                <a:ea typeface="Calibri" pitchFamily="34" charset="-122"/>
                <a:cs typeface="Calibri" pitchFamily="34" charset="-120"/>
              </a:rPr>
              <a:t>A first-pass assessment of each role, a proposed 2027 structure, and the order we build it in. To be confirmed against the time log.</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13</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TODAY</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Everything runs through the owners</a:t>
            </a:r>
            <a:endParaRPr lang="en-US" sz="3000" dirty="0"/>
          </a:p>
        </p:txBody>
      </p:sp>
      <p:sp>
        <p:nvSpPr>
          <p:cNvPr id="5" name="Shape 3"/>
          <p:cNvSpPr/>
          <p:nvPr/>
        </p:nvSpPr>
        <p:spPr>
          <a:xfrm flipV="1">
            <a:off x="3931920" y="2011680"/>
            <a:ext cx="9144" cy="1874520"/>
          </a:xfrm>
          <a:prstGeom prst="line">
            <a:avLst/>
          </a:prstGeom>
          <a:noFill/>
          <a:ln w="15875">
            <a:solidFill>
              <a:srgbClr val="D9C7A3"/>
            </a:solidFill>
            <a:prstDash val="solid"/>
          </a:ln>
        </p:spPr>
      </p:sp>
      <p:sp>
        <p:nvSpPr>
          <p:cNvPr id="6" name="Shape 4"/>
          <p:cNvSpPr/>
          <p:nvPr/>
        </p:nvSpPr>
        <p:spPr>
          <a:xfrm flipV="1">
            <a:off x="3931920" y="2450234"/>
            <a:ext cx="1626640" cy="1435966"/>
          </a:xfrm>
          <a:prstGeom prst="line">
            <a:avLst/>
          </a:prstGeom>
          <a:noFill/>
          <a:ln w="15875">
            <a:solidFill>
              <a:srgbClr val="D9C7A3"/>
            </a:solidFill>
            <a:prstDash val="solid"/>
          </a:ln>
        </p:spPr>
      </p:sp>
      <p:sp>
        <p:nvSpPr>
          <p:cNvPr id="7" name="Shape 5"/>
          <p:cNvSpPr/>
          <p:nvPr/>
        </p:nvSpPr>
        <p:spPr>
          <a:xfrm flipV="1">
            <a:off x="3931920" y="3560693"/>
            <a:ext cx="2492156" cy="325507"/>
          </a:xfrm>
          <a:prstGeom prst="line">
            <a:avLst/>
          </a:prstGeom>
          <a:noFill/>
          <a:ln w="15875">
            <a:solidFill>
              <a:srgbClr val="D9C7A3"/>
            </a:solidFill>
            <a:prstDash val="solid"/>
          </a:ln>
        </p:spPr>
      </p:sp>
      <p:sp>
        <p:nvSpPr>
          <p:cNvPr id="8" name="Shape 6"/>
          <p:cNvSpPr/>
          <p:nvPr/>
        </p:nvSpPr>
        <p:spPr>
          <a:xfrm>
            <a:off x="3931920" y="3886200"/>
            <a:ext cx="2191566" cy="937260"/>
          </a:xfrm>
          <a:prstGeom prst="line">
            <a:avLst/>
          </a:prstGeom>
          <a:noFill/>
          <a:ln w="15875">
            <a:solidFill>
              <a:srgbClr val="D9C7A3"/>
            </a:solidFill>
            <a:prstDash val="solid"/>
          </a:ln>
        </p:spPr>
      </p:sp>
      <p:sp>
        <p:nvSpPr>
          <p:cNvPr id="9" name="Shape 7"/>
          <p:cNvSpPr/>
          <p:nvPr/>
        </p:nvSpPr>
        <p:spPr>
          <a:xfrm>
            <a:off x="3931920" y="3886200"/>
            <a:ext cx="865517" cy="1761473"/>
          </a:xfrm>
          <a:prstGeom prst="line">
            <a:avLst/>
          </a:prstGeom>
          <a:noFill/>
          <a:ln w="15875">
            <a:solidFill>
              <a:srgbClr val="D9C7A3"/>
            </a:solidFill>
            <a:prstDash val="solid"/>
          </a:ln>
        </p:spPr>
      </p:sp>
      <p:sp>
        <p:nvSpPr>
          <p:cNvPr id="10" name="Shape 8"/>
          <p:cNvSpPr/>
          <p:nvPr/>
        </p:nvSpPr>
        <p:spPr>
          <a:xfrm flipH="1">
            <a:off x="3066403" y="3886200"/>
            <a:ext cx="865517" cy="1761473"/>
          </a:xfrm>
          <a:prstGeom prst="line">
            <a:avLst/>
          </a:prstGeom>
          <a:noFill/>
          <a:ln w="15875">
            <a:solidFill>
              <a:srgbClr val="D9C7A3"/>
            </a:solidFill>
            <a:prstDash val="solid"/>
          </a:ln>
        </p:spPr>
      </p:sp>
      <p:sp>
        <p:nvSpPr>
          <p:cNvPr id="11" name="Shape 9"/>
          <p:cNvSpPr/>
          <p:nvPr/>
        </p:nvSpPr>
        <p:spPr>
          <a:xfrm flipH="1">
            <a:off x="1740354" y="3886200"/>
            <a:ext cx="2191566" cy="937260"/>
          </a:xfrm>
          <a:prstGeom prst="line">
            <a:avLst/>
          </a:prstGeom>
          <a:noFill/>
          <a:ln w="15875">
            <a:solidFill>
              <a:srgbClr val="D9C7A3"/>
            </a:solidFill>
            <a:prstDash val="solid"/>
          </a:ln>
        </p:spPr>
      </p:sp>
      <p:sp>
        <p:nvSpPr>
          <p:cNvPr id="12" name="Shape 10"/>
          <p:cNvSpPr/>
          <p:nvPr/>
        </p:nvSpPr>
        <p:spPr>
          <a:xfrm flipH="1" flipV="1">
            <a:off x="1439764" y="3560693"/>
            <a:ext cx="2492156" cy="325507"/>
          </a:xfrm>
          <a:prstGeom prst="line">
            <a:avLst/>
          </a:prstGeom>
          <a:noFill/>
          <a:ln w="15875">
            <a:solidFill>
              <a:srgbClr val="D9C7A3"/>
            </a:solidFill>
            <a:prstDash val="solid"/>
          </a:ln>
        </p:spPr>
      </p:sp>
      <p:sp>
        <p:nvSpPr>
          <p:cNvPr id="13" name="Shape 11"/>
          <p:cNvSpPr/>
          <p:nvPr/>
        </p:nvSpPr>
        <p:spPr>
          <a:xfrm flipH="1" flipV="1">
            <a:off x="2305280" y="2450234"/>
            <a:ext cx="1626640" cy="1435966"/>
          </a:xfrm>
          <a:prstGeom prst="line">
            <a:avLst/>
          </a:prstGeom>
          <a:noFill/>
          <a:ln w="15875">
            <a:solidFill>
              <a:srgbClr val="D9C7A3"/>
            </a:solidFill>
            <a:prstDash val="solid"/>
          </a:ln>
        </p:spPr>
      </p:sp>
      <p:sp>
        <p:nvSpPr>
          <p:cNvPr id="14" name="Shape 12"/>
          <p:cNvSpPr/>
          <p:nvPr/>
        </p:nvSpPr>
        <p:spPr>
          <a:xfrm>
            <a:off x="3200400" y="1783080"/>
            <a:ext cx="1463040" cy="457200"/>
          </a:xfrm>
          <a:prstGeom prst="roundRect">
            <a:avLst>
              <a:gd name="adj" fmla="val 16000"/>
            </a:avLst>
          </a:prstGeom>
          <a:solidFill>
            <a:srgbClr val="FFFFFF"/>
          </a:solidFill>
          <a:ln w="9525">
            <a:solidFill>
              <a:srgbClr val="D9C7A3"/>
            </a:solidFill>
            <a:prstDash val="solid"/>
          </a:ln>
        </p:spPr>
      </p:sp>
      <p:sp>
        <p:nvSpPr>
          <p:cNvPr id="15" name="Text 13"/>
          <p:cNvSpPr txBox="1"/>
          <p:nvPr/>
        </p:nvSpPr>
        <p:spPr>
          <a:xfrm>
            <a:off x="3200400" y="1783080"/>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Milling</a:t>
            </a:r>
            <a:endParaRPr lang="en-US" sz="1150" dirty="0"/>
          </a:p>
        </p:txBody>
      </p:sp>
      <p:sp>
        <p:nvSpPr>
          <p:cNvPr id="16" name="Shape 14"/>
          <p:cNvSpPr/>
          <p:nvPr/>
        </p:nvSpPr>
        <p:spPr>
          <a:xfrm>
            <a:off x="4827040" y="2221634"/>
            <a:ext cx="1463040" cy="457200"/>
          </a:xfrm>
          <a:prstGeom prst="roundRect">
            <a:avLst>
              <a:gd name="adj" fmla="val 16000"/>
            </a:avLst>
          </a:prstGeom>
          <a:solidFill>
            <a:srgbClr val="FFFFFF"/>
          </a:solidFill>
          <a:ln w="9525">
            <a:solidFill>
              <a:srgbClr val="D9C7A3"/>
            </a:solidFill>
            <a:prstDash val="solid"/>
          </a:ln>
        </p:spPr>
      </p:sp>
      <p:sp>
        <p:nvSpPr>
          <p:cNvPr id="17" name="Text 15"/>
          <p:cNvSpPr txBox="1"/>
          <p:nvPr/>
        </p:nvSpPr>
        <p:spPr>
          <a:xfrm>
            <a:off x="4827040" y="2221634"/>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Shipping</a:t>
            </a:r>
            <a:endParaRPr lang="en-US" sz="1150" dirty="0"/>
          </a:p>
        </p:txBody>
      </p:sp>
      <p:sp>
        <p:nvSpPr>
          <p:cNvPr id="18" name="Shape 16"/>
          <p:cNvSpPr/>
          <p:nvPr/>
        </p:nvSpPr>
        <p:spPr>
          <a:xfrm>
            <a:off x="5692556" y="3332093"/>
            <a:ext cx="1463040" cy="457200"/>
          </a:xfrm>
          <a:prstGeom prst="roundRect">
            <a:avLst>
              <a:gd name="adj" fmla="val 16000"/>
            </a:avLst>
          </a:prstGeom>
          <a:solidFill>
            <a:srgbClr val="FFFFFF"/>
          </a:solidFill>
          <a:ln w="9525">
            <a:solidFill>
              <a:srgbClr val="D9C7A3"/>
            </a:solidFill>
            <a:prstDash val="solid"/>
          </a:ln>
        </p:spPr>
      </p:sp>
      <p:sp>
        <p:nvSpPr>
          <p:cNvPr id="19" name="Text 17"/>
          <p:cNvSpPr txBox="1"/>
          <p:nvPr/>
        </p:nvSpPr>
        <p:spPr>
          <a:xfrm>
            <a:off x="5692556" y="3332093"/>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Wholesale</a:t>
            </a:r>
            <a:endParaRPr lang="en-US" sz="1150" dirty="0"/>
          </a:p>
        </p:txBody>
      </p:sp>
      <p:sp>
        <p:nvSpPr>
          <p:cNvPr id="20" name="Shape 18"/>
          <p:cNvSpPr/>
          <p:nvPr/>
        </p:nvSpPr>
        <p:spPr>
          <a:xfrm>
            <a:off x="5391966" y="4594860"/>
            <a:ext cx="1463040" cy="457200"/>
          </a:xfrm>
          <a:prstGeom prst="roundRect">
            <a:avLst>
              <a:gd name="adj" fmla="val 16000"/>
            </a:avLst>
          </a:prstGeom>
          <a:solidFill>
            <a:srgbClr val="FFFFFF"/>
          </a:solidFill>
          <a:ln w="9525">
            <a:solidFill>
              <a:srgbClr val="D9C7A3"/>
            </a:solidFill>
            <a:prstDash val="solid"/>
          </a:ln>
        </p:spPr>
      </p:sp>
      <p:sp>
        <p:nvSpPr>
          <p:cNvPr id="21" name="Text 19"/>
          <p:cNvSpPr txBox="1"/>
          <p:nvPr/>
        </p:nvSpPr>
        <p:spPr>
          <a:xfrm>
            <a:off x="5391966" y="4594860"/>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Website &amp; social</a:t>
            </a:r>
            <a:endParaRPr lang="en-US" sz="1150" dirty="0"/>
          </a:p>
        </p:txBody>
      </p:sp>
      <p:sp>
        <p:nvSpPr>
          <p:cNvPr id="22" name="Shape 20"/>
          <p:cNvSpPr/>
          <p:nvPr/>
        </p:nvSpPr>
        <p:spPr>
          <a:xfrm>
            <a:off x="4065917" y="5419073"/>
            <a:ext cx="1463040" cy="457200"/>
          </a:xfrm>
          <a:prstGeom prst="roundRect">
            <a:avLst>
              <a:gd name="adj" fmla="val 16000"/>
            </a:avLst>
          </a:prstGeom>
          <a:solidFill>
            <a:srgbClr val="FFFFFF"/>
          </a:solidFill>
          <a:ln w="9525">
            <a:solidFill>
              <a:srgbClr val="D9C7A3"/>
            </a:solidFill>
            <a:prstDash val="solid"/>
          </a:ln>
        </p:spPr>
      </p:sp>
      <p:sp>
        <p:nvSpPr>
          <p:cNvPr id="23" name="Text 21"/>
          <p:cNvSpPr txBox="1"/>
          <p:nvPr/>
        </p:nvSpPr>
        <p:spPr>
          <a:xfrm>
            <a:off x="4065917" y="5419073"/>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Customer email</a:t>
            </a:r>
            <a:endParaRPr lang="en-US" sz="1150" dirty="0"/>
          </a:p>
        </p:txBody>
      </p:sp>
      <p:sp>
        <p:nvSpPr>
          <p:cNvPr id="24" name="Shape 22"/>
          <p:cNvSpPr/>
          <p:nvPr/>
        </p:nvSpPr>
        <p:spPr>
          <a:xfrm>
            <a:off x="2334883" y="5419073"/>
            <a:ext cx="1463040" cy="457200"/>
          </a:xfrm>
          <a:prstGeom prst="roundRect">
            <a:avLst>
              <a:gd name="adj" fmla="val 16000"/>
            </a:avLst>
          </a:prstGeom>
          <a:solidFill>
            <a:srgbClr val="FFFFFF"/>
          </a:solidFill>
          <a:ln w="9525">
            <a:solidFill>
              <a:srgbClr val="D9C7A3"/>
            </a:solidFill>
            <a:prstDash val="solid"/>
          </a:ln>
        </p:spPr>
      </p:sp>
      <p:sp>
        <p:nvSpPr>
          <p:cNvPr id="25" name="Text 23"/>
          <p:cNvSpPr txBox="1"/>
          <p:nvPr/>
        </p:nvSpPr>
        <p:spPr>
          <a:xfrm>
            <a:off x="2334883" y="5419073"/>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Books &amp; reports</a:t>
            </a:r>
            <a:endParaRPr lang="en-US" sz="1150" dirty="0"/>
          </a:p>
        </p:txBody>
      </p:sp>
      <p:sp>
        <p:nvSpPr>
          <p:cNvPr id="26" name="Shape 24"/>
          <p:cNvSpPr/>
          <p:nvPr/>
        </p:nvSpPr>
        <p:spPr>
          <a:xfrm>
            <a:off x="1008834" y="4594860"/>
            <a:ext cx="1463040" cy="457200"/>
          </a:xfrm>
          <a:prstGeom prst="roundRect">
            <a:avLst>
              <a:gd name="adj" fmla="val 16000"/>
            </a:avLst>
          </a:prstGeom>
          <a:solidFill>
            <a:srgbClr val="FFFFFF"/>
          </a:solidFill>
          <a:ln w="9525">
            <a:solidFill>
              <a:srgbClr val="D9C7A3"/>
            </a:solidFill>
            <a:prstDash val="solid"/>
          </a:ln>
        </p:spPr>
      </p:sp>
      <p:sp>
        <p:nvSpPr>
          <p:cNvPr id="27" name="Text 25"/>
          <p:cNvSpPr txBox="1"/>
          <p:nvPr/>
        </p:nvSpPr>
        <p:spPr>
          <a:xfrm>
            <a:off x="1008834" y="4594860"/>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Tours &amp; kayaks</a:t>
            </a:r>
            <a:endParaRPr lang="en-US" sz="1150" dirty="0"/>
          </a:p>
        </p:txBody>
      </p:sp>
      <p:sp>
        <p:nvSpPr>
          <p:cNvPr id="28" name="Shape 26"/>
          <p:cNvSpPr/>
          <p:nvPr/>
        </p:nvSpPr>
        <p:spPr>
          <a:xfrm>
            <a:off x="708244" y="3332093"/>
            <a:ext cx="1463040" cy="457200"/>
          </a:xfrm>
          <a:prstGeom prst="roundRect">
            <a:avLst>
              <a:gd name="adj" fmla="val 16000"/>
            </a:avLst>
          </a:prstGeom>
          <a:solidFill>
            <a:srgbClr val="FFFFFF"/>
          </a:solidFill>
          <a:ln w="9525">
            <a:solidFill>
              <a:srgbClr val="D9C7A3"/>
            </a:solidFill>
            <a:prstDash val="solid"/>
          </a:ln>
        </p:spPr>
      </p:sp>
      <p:sp>
        <p:nvSpPr>
          <p:cNvPr id="29" name="Text 27"/>
          <p:cNvSpPr txBox="1"/>
          <p:nvPr/>
        </p:nvSpPr>
        <p:spPr>
          <a:xfrm>
            <a:off x="708244" y="3332093"/>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Grants</a:t>
            </a:r>
            <a:endParaRPr lang="en-US" sz="1150" dirty="0"/>
          </a:p>
        </p:txBody>
      </p:sp>
      <p:sp>
        <p:nvSpPr>
          <p:cNvPr id="30" name="Shape 28"/>
          <p:cNvSpPr/>
          <p:nvPr/>
        </p:nvSpPr>
        <p:spPr>
          <a:xfrm>
            <a:off x="1573760" y="2221634"/>
            <a:ext cx="1463040" cy="457200"/>
          </a:xfrm>
          <a:prstGeom prst="roundRect">
            <a:avLst>
              <a:gd name="adj" fmla="val 16000"/>
            </a:avLst>
          </a:prstGeom>
          <a:solidFill>
            <a:srgbClr val="FFFFFF"/>
          </a:solidFill>
          <a:ln w="9525">
            <a:solidFill>
              <a:srgbClr val="D9C7A3"/>
            </a:solidFill>
            <a:prstDash val="solid"/>
          </a:ln>
        </p:spPr>
      </p:sp>
      <p:sp>
        <p:nvSpPr>
          <p:cNvPr id="31" name="Text 29"/>
          <p:cNvSpPr txBox="1"/>
          <p:nvPr/>
        </p:nvSpPr>
        <p:spPr>
          <a:xfrm>
            <a:off x="1573760" y="2221634"/>
            <a:ext cx="1463040" cy="457200"/>
          </a:xfrm>
          <a:prstGeom prst="rect">
            <a:avLst/>
          </a:prstGeom>
          <a:noFill/>
          <a:ln/>
        </p:spPr>
        <p:txBody>
          <a:bodyPr wrap="square" lIns="0" tIns="0" rIns="0" bIns="0" rtlCol="0" anchor="ctr"/>
          <a:lstStyle/>
          <a:p>
            <a:pPr algn="ctr" indent="0" marL="0">
              <a:buNone/>
            </a:pPr>
            <a:r>
              <a:rPr lang="en-US" sz="1150" b="1" dirty="0">
                <a:solidFill>
                  <a:srgbClr val="2B2A28"/>
                </a:solidFill>
                <a:latin typeface="Calibri" pitchFamily="34" charset="0"/>
                <a:ea typeface="Calibri" pitchFamily="34" charset="-122"/>
                <a:cs typeface="Calibri" pitchFamily="34" charset="-120"/>
              </a:rPr>
              <a:t>Repairs</a:t>
            </a:r>
            <a:endParaRPr lang="en-US" sz="1150" dirty="0"/>
          </a:p>
        </p:txBody>
      </p:sp>
      <p:sp>
        <p:nvSpPr>
          <p:cNvPr id="32" name="Shape 30"/>
          <p:cNvSpPr/>
          <p:nvPr/>
        </p:nvSpPr>
        <p:spPr>
          <a:xfrm>
            <a:off x="3200400" y="3154680"/>
            <a:ext cx="1463040" cy="1463040"/>
          </a:xfrm>
          <a:prstGeom prst="ellipse">
            <a:avLst/>
          </a:prstGeom>
          <a:solidFill>
            <a:srgbClr val="2B2A28"/>
          </a:solidFill>
          <a:ln w="12700">
            <a:solidFill>
              <a:srgbClr val="2B2A28"/>
            </a:solidFill>
            <a:prstDash val="solid"/>
          </a:ln>
        </p:spPr>
      </p:sp>
      <p:sp>
        <p:nvSpPr>
          <p:cNvPr id="33" name="Text 31"/>
          <p:cNvSpPr txBox="1"/>
          <p:nvPr/>
        </p:nvSpPr>
        <p:spPr>
          <a:xfrm>
            <a:off x="3200400" y="3154680"/>
            <a:ext cx="1463040" cy="1463040"/>
          </a:xfrm>
          <a:prstGeom prst="rect">
            <a:avLst/>
          </a:prstGeom>
          <a:noFill/>
          <a:ln/>
        </p:spPr>
        <p:txBody>
          <a:bodyPr wrap="square" lIns="0" tIns="0" rIns="0" bIns="0" rtlCol="0" anchor="ctr"/>
          <a:lstStyle/>
          <a:p>
            <a:pPr algn="ctr" indent="0" marL="0">
              <a:buNone/>
            </a:pPr>
            <a:r>
              <a:rPr lang="en-US" sz="1700" b="1" dirty="0">
                <a:solidFill>
                  <a:srgbClr val="EDE7D8"/>
                </a:solidFill>
                <a:latin typeface="Cambria" pitchFamily="34" charset="0"/>
                <a:ea typeface="Cambria" pitchFamily="34" charset="-122"/>
                <a:cs typeface="Cambria" pitchFamily="34" charset="-120"/>
              </a:rPr>
              <a:t>Owners</a:t>
            </a:r>
            <a:endParaRPr lang="en-US" sz="1700" dirty="0"/>
          </a:p>
        </p:txBody>
      </p:sp>
      <p:sp>
        <p:nvSpPr>
          <p:cNvPr id="34" name="Shape 32"/>
          <p:cNvSpPr/>
          <p:nvPr/>
        </p:nvSpPr>
        <p:spPr>
          <a:xfrm>
            <a:off x="7818120" y="1645920"/>
            <a:ext cx="3794760" cy="4480560"/>
          </a:xfrm>
          <a:prstGeom prst="roundRect">
            <a:avLst>
              <a:gd name="adj" fmla="val 1928"/>
            </a:avLst>
          </a:prstGeom>
          <a:solidFill>
            <a:srgbClr val="FFFFFF"/>
          </a:solidFill>
          <a:ln w="9525">
            <a:solidFill>
              <a:srgbClr val="D9C7A3"/>
            </a:solidFill>
            <a:prstDash val="solid"/>
          </a:ln>
        </p:spPr>
      </p:sp>
      <p:sp>
        <p:nvSpPr>
          <p:cNvPr id="35" name="Text 33"/>
          <p:cNvSpPr txBox="1"/>
          <p:nvPr/>
        </p:nvSpPr>
        <p:spPr>
          <a:xfrm>
            <a:off x="8092440" y="1828800"/>
            <a:ext cx="3246120" cy="274320"/>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WHAT THIS COSTS</a:t>
            </a:r>
            <a:endParaRPr lang="en-US" sz="1100" dirty="0"/>
          </a:p>
        </p:txBody>
      </p:sp>
      <p:sp>
        <p:nvSpPr>
          <p:cNvPr id="36" name="Text 34"/>
          <p:cNvSpPr txBox="1"/>
          <p:nvPr/>
        </p:nvSpPr>
        <p:spPr>
          <a:xfrm>
            <a:off x="8092440" y="2240280"/>
            <a:ext cx="3246120" cy="868680"/>
          </a:xfrm>
          <a:prstGeom prst="rect">
            <a:avLst/>
          </a:prstGeom>
          <a:noFill/>
          <a:ln/>
        </p:spPr>
        <p:txBody>
          <a:bodyPr wrap="square" lIns="0" tIns="0" rIns="0" bIns="0" rtlCol="0" anchor="t"/>
          <a:lstStyle/>
          <a:p>
            <a:pPr indent="0" marL="0">
              <a:buNone/>
            </a:pPr>
            <a:r>
              <a:rPr lang="en-US" sz="1400" b="1" dirty="0">
                <a:solidFill>
                  <a:srgbClr val="2B2A28"/>
                </a:solidFill>
                <a:latin typeface="Calibri" pitchFamily="34" charset="0"/>
                <a:ea typeface="Calibri" pitchFamily="34" charset="-122"/>
                <a:cs typeface="Calibri" pitchFamily="34" charset="-120"/>
              </a:rPr>
              <a:t>No second in command</a:t>
            </a:r>
            <a:endParaRPr lang="en-US" sz="1400" dirty="0"/>
          </a:p>
          <a:p>
            <a:pPr indent="0" marL="0">
              <a:buNone/>
            </a:pPr>
            <a:r>
              <a:rPr lang="en-US" sz="1200" dirty="0">
                <a:solidFill>
                  <a:srgbClr val="4A5359"/>
                </a:solidFill>
                <a:latin typeface="Calibri" pitchFamily="34" charset="0"/>
                <a:ea typeface="Calibri" pitchFamily="34" charset="-122"/>
                <a:cs typeface="Calibri" pitchFamily="34" charset="-120"/>
              </a:rPr>
              <a:t>Named as a 2027 leadership goal</a:t>
            </a:r>
            <a:endParaRPr lang="en-US" sz="1400" dirty="0"/>
          </a:p>
        </p:txBody>
      </p:sp>
      <p:sp>
        <p:nvSpPr>
          <p:cNvPr id="37" name="Text 35"/>
          <p:cNvSpPr txBox="1"/>
          <p:nvPr/>
        </p:nvSpPr>
        <p:spPr>
          <a:xfrm>
            <a:off x="8092440" y="3182112"/>
            <a:ext cx="3246120" cy="868680"/>
          </a:xfrm>
          <a:prstGeom prst="rect">
            <a:avLst/>
          </a:prstGeom>
          <a:noFill/>
          <a:ln/>
        </p:spPr>
        <p:txBody>
          <a:bodyPr wrap="square" lIns="0" tIns="0" rIns="0" bIns="0" rtlCol="0" anchor="t"/>
          <a:lstStyle/>
          <a:p>
            <a:pPr indent="0" marL="0">
              <a:buNone/>
            </a:pPr>
            <a:r>
              <a:rPr lang="en-US" sz="1400" b="1" dirty="0">
                <a:solidFill>
                  <a:srgbClr val="2B2A28"/>
                </a:solidFill>
                <a:latin typeface="Calibri" pitchFamily="34" charset="0"/>
                <a:ea typeface="Calibri" pitchFamily="34" charset="-122"/>
                <a:cs typeface="Calibri" pitchFamily="34" charset="-120"/>
              </a:rPr>
              <a:t>36.3% of revenue unowned</a:t>
            </a:r>
            <a:endParaRPr lang="en-US" sz="1400" dirty="0"/>
          </a:p>
          <a:p>
            <a:pPr indent="0" marL="0">
              <a:buNone/>
            </a:pPr>
            <a:r>
              <a:rPr lang="en-US" sz="1200" dirty="0">
                <a:solidFill>
                  <a:srgbClr val="4A5359"/>
                </a:solidFill>
                <a:latin typeface="Calibri" pitchFamily="34" charset="0"/>
                <a:ea typeface="Calibri" pitchFamily="34" charset="-122"/>
                <a:cs typeface="Calibri" pitchFamily="34" charset="-120"/>
              </a:rPr>
              <a:t>Wholesale grew with no one assigned to it</a:t>
            </a:r>
            <a:endParaRPr lang="en-US" sz="1400" dirty="0"/>
          </a:p>
        </p:txBody>
      </p:sp>
      <p:sp>
        <p:nvSpPr>
          <p:cNvPr id="38" name="Text 36"/>
          <p:cNvSpPr txBox="1"/>
          <p:nvPr/>
        </p:nvSpPr>
        <p:spPr>
          <a:xfrm>
            <a:off x="8092440" y="4123944"/>
            <a:ext cx="3246120" cy="868680"/>
          </a:xfrm>
          <a:prstGeom prst="rect">
            <a:avLst/>
          </a:prstGeom>
          <a:noFill/>
          <a:ln/>
        </p:spPr>
        <p:txBody>
          <a:bodyPr wrap="square" lIns="0" tIns="0" rIns="0" bIns="0" rtlCol="0" anchor="t"/>
          <a:lstStyle/>
          <a:p>
            <a:pPr indent="0" marL="0">
              <a:buNone/>
            </a:pPr>
            <a:r>
              <a:rPr lang="en-US" sz="1400" b="1" dirty="0">
                <a:solidFill>
                  <a:srgbClr val="2B2A28"/>
                </a:solidFill>
                <a:latin typeface="Calibri" pitchFamily="34" charset="0"/>
                <a:ea typeface="Calibri" pitchFamily="34" charset="-122"/>
                <a:cs typeface="Calibri" pitchFamily="34" charset="-120"/>
              </a:rPr>
              <a:t>20–25 hrs a week of admin</a:t>
            </a:r>
            <a:endParaRPr lang="en-US" sz="1400" dirty="0"/>
          </a:p>
          <a:p>
            <a:pPr indent="0" marL="0">
              <a:buNone/>
            </a:pPr>
            <a:r>
              <a:rPr lang="en-US" sz="1200" dirty="0">
                <a:solidFill>
                  <a:srgbClr val="4A5359"/>
                </a:solidFill>
                <a:latin typeface="Calibri" pitchFamily="34" charset="0"/>
                <a:ea typeface="Calibri" pitchFamily="34" charset="-122"/>
                <a:cs typeface="Calibri" pitchFamily="34" charset="-120"/>
              </a:rPr>
              <a:t>Owner time spent on screen work</a:t>
            </a:r>
            <a:endParaRPr lang="en-US" sz="1400" dirty="0"/>
          </a:p>
        </p:txBody>
      </p:sp>
      <p:sp>
        <p:nvSpPr>
          <p:cNvPr id="39" name="Text 37"/>
          <p:cNvSpPr txBox="1"/>
          <p:nvPr/>
        </p:nvSpPr>
        <p:spPr>
          <a:xfrm>
            <a:off x="8092440" y="5065776"/>
            <a:ext cx="3246120" cy="868680"/>
          </a:xfrm>
          <a:prstGeom prst="rect">
            <a:avLst/>
          </a:prstGeom>
          <a:noFill/>
          <a:ln/>
        </p:spPr>
        <p:txBody>
          <a:bodyPr wrap="square" lIns="0" tIns="0" rIns="0" bIns="0" rtlCol="0" anchor="t"/>
          <a:lstStyle/>
          <a:p>
            <a:pPr indent="0" marL="0">
              <a:buNone/>
            </a:pPr>
            <a:r>
              <a:rPr lang="en-US" sz="1400" b="1" dirty="0">
                <a:solidFill>
                  <a:srgbClr val="2B2A28"/>
                </a:solidFill>
                <a:latin typeface="Calibri" pitchFamily="34" charset="0"/>
                <a:ea typeface="Calibri" pitchFamily="34" charset="-122"/>
                <a:cs typeface="Calibri" pitchFamily="34" charset="-120"/>
              </a:rPr>
              <a:t>Key-person risk</a:t>
            </a:r>
            <a:endParaRPr lang="en-US" sz="1400" dirty="0"/>
          </a:p>
          <a:p>
            <a:pPr indent="0" marL="0">
              <a:buNone/>
            </a:pPr>
            <a:r>
              <a:rPr lang="en-US" sz="1200" dirty="0">
                <a:solidFill>
                  <a:srgbClr val="4A5359"/>
                </a:solidFill>
                <a:latin typeface="Calibri" pitchFamily="34" charset="0"/>
                <a:ea typeface="Calibri" pitchFamily="34" charset="-122"/>
                <a:cs typeface="Calibri" pitchFamily="34" charset="-120"/>
              </a:rPr>
              <a:t>Owner hours unmeasured, processes undocumented, no named successor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14</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PROPOSED STRUCTURE · 2027 TARGET</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Strategy &amp; Finance, four teams, and a Digital Team</a:t>
            </a:r>
            <a:endParaRPr lang="en-US" sz="3000" dirty="0"/>
          </a:p>
        </p:txBody>
      </p:sp>
      <p:sp>
        <p:nvSpPr>
          <p:cNvPr id="5" name="Shape 3"/>
          <p:cNvSpPr/>
          <p:nvPr/>
        </p:nvSpPr>
        <p:spPr>
          <a:xfrm>
            <a:off x="548640" y="1417320"/>
            <a:ext cx="2057400" cy="246888"/>
          </a:xfrm>
          <a:prstGeom prst="roundRect">
            <a:avLst>
              <a:gd name="adj" fmla="val 59259"/>
            </a:avLst>
          </a:prstGeom>
          <a:solidFill>
            <a:srgbClr val="C8922F"/>
          </a:solidFill>
          <a:ln w="12700">
            <a:solidFill>
              <a:srgbClr val="C8922F"/>
            </a:solidFill>
            <a:prstDash val="solid"/>
          </a:ln>
        </p:spPr>
      </p:sp>
      <p:sp>
        <p:nvSpPr>
          <p:cNvPr id="6" name="Text 4"/>
          <p:cNvSpPr txBox="1"/>
          <p:nvPr/>
        </p:nvSpPr>
        <p:spPr>
          <a:xfrm>
            <a:off x="548640" y="1417320"/>
            <a:ext cx="2057400" cy="246888"/>
          </a:xfrm>
          <a:prstGeom prst="rect">
            <a:avLst/>
          </a:prstGeom>
          <a:noFill/>
          <a:ln/>
        </p:spPr>
        <p:txBody>
          <a:bodyPr wrap="square" lIns="0" tIns="0" rIns="0" bIns="0" rtlCol="0" anchor="ctr"/>
          <a:lstStyle/>
          <a:p>
            <a:pPr algn="ctr" indent="0" marL="0">
              <a:buNone/>
            </a:pPr>
            <a:r>
              <a:rPr lang="en-US" sz="1050" b="1" dirty="0">
                <a:solidFill>
                  <a:srgbClr val="2B2A28"/>
                </a:solidFill>
                <a:latin typeface="Calibri" pitchFamily="34" charset="0"/>
                <a:ea typeface="Calibri" pitchFamily="34" charset="-122"/>
                <a:cs typeface="Calibri" pitchFamily="34" charset="-120"/>
              </a:rPr>
              <a:t>AI drafts, human approves</a:t>
            </a:r>
            <a:endParaRPr lang="en-US" sz="1050" dirty="0"/>
          </a:p>
        </p:txBody>
      </p:sp>
      <p:sp>
        <p:nvSpPr>
          <p:cNvPr id="7" name="Shape 5"/>
          <p:cNvSpPr/>
          <p:nvPr/>
        </p:nvSpPr>
        <p:spPr>
          <a:xfrm>
            <a:off x="2697480" y="1417320"/>
            <a:ext cx="2057400" cy="246888"/>
          </a:xfrm>
          <a:prstGeom prst="roundRect">
            <a:avLst>
              <a:gd name="adj" fmla="val 59259"/>
            </a:avLst>
          </a:prstGeom>
          <a:solidFill>
            <a:srgbClr val="2E4057"/>
          </a:solidFill>
          <a:ln w="12700">
            <a:solidFill>
              <a:srgbClr val="2E4057"/>
            </a:solidFill>
            <a:prstDash val="solid"/>
          </a:ln>
        </p:spPr>
      </p:sp>
      <p:sp>
        <p:nvSpPr>
          <p:cNvPr id="8" name="Text 6"/>
          <p:cNvSpPr txBox="1"/>
          <p:nvPr/>
        </p:nvSpPr>
        <p:spPr>
          <a:xfrm>
            <a:off x="2697480" y="1417320"/>
            <a:ext cx="20574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 + AI assist</a:t>
            </a:r>
            <a:endParaRPr lang="en-US" sz="1050" dirty="0"/>
          </a:p>
        </p:txBody>
      </p:sp>
      <p:sp>
        <p:nvSpPr>
          <p:cNvPr id="9" name="Shape 7"/>
          <p:cNvSpPr/>
          <p:nvPr/>
        </p:nvSpPr>
        <p:spPr>
          <a:xfrm>
            <a:off x="548640" y="1709928"/>
            <a:ext cx="2057400" cy="246888"/>
          </a:xfrm>
          <a:prstGeom prst="roundRect">
            <a:avLst>
              <a:gd name="adj" fmla="val 59259"/>
            </a:avLst>
          </a:prstGeom>
          <a:solidFill>
            <a:srgbClr val="6E6A63"/>
          </a:solidFill>
          <a:ln w="12700">
            <a:solidFill>
              <a:srgbClr val="6E6A63"/>
            </a:solidFill>
            <a:prstDash val="solid"/>
          </a:ln>
        </p:spPr>
      </p:sp>
      <p:sp>
        <p:nvSpPr>
          <p:cNvPr id="10" name="Text 8"/>
          <p:cNvSpPr txBox="1"/>
          <p:nvPr/>
        </p:nvSpPr>
        <p:spPr>
          <a:xfrm>
            <a:off x="548640" y="1709928"/>
            <a:ext cx="20574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Human-led</a:t>
            </a:r>
            <a:endParaRPr lang="en-US" sz="1050" dirty="0"/>
          </a:p>
        </p:txBody>
      </p:sp>
      <p:sp>
        <p:nvSpPr>
          <p:cNvPr id="11" name="Shape 9"/>
          <p:cNvSpPr/>
          <p:nvPr/>
        </p:nvSpPr>
        <p:spPr>
          <a:xfrm>
            <a:off x="2697480" y="1709928"/>
            <a:ext cx="2057400" cy="246888"/>
          </a:xfrm>
          <a:prstGeom prst="roundRect">
            <a:avLst>
              <a:gd name="adj" fmla="val 59259"/>
            </a:avLst>
          </a:prstGeom>
          <a:solidFill>
            <a:srgbClr val="D9C7A3"/>
          </a:solidFill>
          <a:ln w="12700">
            <a:solidFill>
              <a:srgbClr val="D9C7A3"/>
            </a:solidFill>
            <a:prstDash val="solid"/>
          </a:ln>
        </p:spPr>
      </p:sp>
      <p:sp>
        <p:nvSpPr>
          <p:cNvPr id="12" name="Text 10"/>
          <p:cNvSpPr txBox="1"/>
          <p:nvPr/>
        </p:nvSpPr>
        <p:spPr>
          <a:xfrm>
            <a:off x="2697480" y="1709928"/>
            <a:ext cx="2057400" cy="246888"/>
          </a:xfrm>
          <a:prstGeom prst="rect">
            <a:avLst/>
          </a:prstGeom>
          <a:noFill/>
          <a:ln/>
        </p:spPr>
        <p:txBody>
          <a:bodyPr wrap="square" lIns="0" tIns="0" rIns="0" bIns="0" rtlCol="0" anchor="ctr"/>
          <a:lstStyle/>
          <a:p>
            <a:pPr algn="ctr" indent="0" marL="0">
              <a:buNone/>
            </a:pPr>
            <a:r>
              <a:rPr lang="en-US" sz="1050" b="1" dirty="0">
                <a:solidFill>
                  <a:srgbClr val="2B2A28"/>
                </a:solidFill>
                <a:latin typeface="Calibri" pitchFamily="34" charset="0"/>
                <a:ea typeface="Calibri" pitchFamily="34" charset="-122"/>
                <a:cs typeface="Calibri" pitchFamily="34" charset="-120"/>
              </a:rPr>
              <a:t>Fix first, or contract</a:t>
            </a:r>
            <a:endParaRPr lang="en-US" sz="1050" dirty="0"/>
          </a:p>
        </p:txBody>
      </p:sp>
      <p:sp>
        <p:nvSpPr>
          <p:cNvPr id="13" name="Shape 11"/>
          <p:cNvSpPr/>
          <p:nvPr/>
        </p:nvSpPr>
        <p:spPr>
          <a:xfrm>
            <a:off x="5925312" y="1417320"/>
            <a:ext cx="2560320" cy="457200"/>
          </a:xfrm>
          <a:prstGeom prst="roundRect">
            <a:avLst>
              <a:gd name="adj" fmla="val 16000"/>
            </a:avLst>
          </a:prstGeom>
          <a:solidFill>
            <a:srgbClr val="2B2A28"/>
          </a:solidFill>
          <a:ln w="12700">
            <a:solidFill>
              <a:srgbClr val="2B2A28"/>
            </a:solidFill>
            <a:prstDash val="solid"/>
          </a:ln>
        </p:spPr>
      </p:sp>
      <p:sp>
        <p:nvSpPr>
          <p:cNvPr id="14" name="Text 12"/>
          <p:cNvSpPr txBox="1"/>
          <p:nvPr/>
        </p:nvSpPr>
        <p:spPr>
          <a:xfrm>
            <a:off x="5925312" y="1417320"/>
            <a:ext cx="2560320" cy="457200"/>
          </a:xfrm>
          <a:prstGeom prst="rect">
            <a:avLst/>
          </a:prstGeom>
          <a:noFill/>
          <a:ln/>
        </p:spPr>
        <p:txBody>
          <a:bodyPr wrap="square" lIns="0" tIns="0" rIns="0" bIns="0" rtlCol="0" anchor="ctr"/>
          <a:lstStyle/>
          <a:p>
            <a:pPr algn="ctr" indent="0" marL="0">
              <a:buNone/>
            </a:pPr>
            <a:r>
              <a:rPr lang="en-US" sz="1600" b="1" dirty="0">
                <a:solidFill>
                  <a:srgbClr val="EDE7D8"/>
                </a:solidFill>
                <a:latin typeface="Cambria" pitchFamily="34" charset="0"/>
                <a:ea typeface="Cambria" pitchFamily="34" charset="-122"/>
                <a:cs typeface="Cambria" pitchFamily="34" charset="-120"/>
              </a:rPr>
              <a:t>Owners</a:t>
            </a:r>
            <a:endParaRPr lang="en-US" sz="1600" dirty="0"/>
          </a:p>
        </p:txBody>
      </p:sp>
      <p:sp>
        <p:nvSpPr>
          <p:cNvPr id="15" name="Shape 13"/>
          <p:cNvSpPr/>
          <p:nvPr/>
        </p:nvSpPr>
        <p:spPr>
          <a:xfrm>
            <a:off x="8805672" y="1435608"/>
            <a:ext cx="2377440" cy="420624"/>
          </a:xfrm>
          <a:prstGeom prst="roundRect">
            <a:avLst>
              <a:gd name="adj" fmla="val 17391"/>
            </a:avLst>
          </a:prstGeom>
          <a:solidFill>
            <a:srgbClr val="F5F3EE"/>
          </a:solidFill>
          <a:ln w="12700">
            <a:solidFill>
              <a:srgbClr val="6E6A63"/>
            </a:solidFill>
            <a:prstDash val="dash"/>
          </a:ln>
        </p:spPr>
      </p:sp>
      <p:sp>
        <p:nvSpPr>
          <p:cNvPr id="16" name="Text 14"/>
          <p:cNvSpPr txBox="1"/>
          <p:nvPr/>
        </p:nvSpPr>
        <p:spPr>
          <a:xfrm>
            <a:off x="8805672" y="1435608"/>
            <a:ext cx="2377440" cy="420624"/>
          </a:xfrm>
          <a:prstGeom prst="rect">
            <a:avLst/>
          </a:prstGeom>
          <a:noFill/>
          <a:ln/>
        </p:spPr>
        <p:txBody>
          <a:bodyPr wrap="square" lIns="0" tIns="0" rIns="0" bIns="0" rtlCol="0" anchor="ctr"/>
          <a:lstStyle/>
          <a:p>
            <a:pPr algn="ctr" indent="0" marL="0">
              <a:buNone/>
            </a:pPr>
            <a:r>
              <a:rPr lang="en-US" sz="1100" dirty="0">
                <a:solidFill>
                  <a:srgbClr val="4A5359"/>
                </a:solidFill>
                <a:latin typeface="Calibri" pitchFamily="34" charset="0"/>
                <a:ea typeface="Calibri" pitchFamily="34" charset="-122"/>
                <a:cs typeface="Calibri" pitchFamily="34" charset="-120"/>
              </a:rPr>
              <a:t>Advisory group · quarterly</a:t>
            </a:r>
            <a:endParaRPr lang="en-US" sz="1100" dirty="0"/>
          </a:p>
        </p:txBody>
      </p:sp>
      <p:sp>
        <p:nvSpPr>
          <p:cNvPr id="17" name="Shape 15"/>
          <p:cNvSpPr/>
          <p:nvPr/>
        </p:nvSpPr>
        <p:spPr>
          <a:xfrm>
            <a:off x="8485632" y="1645920"/>
            <a:ext cx="320040" cy="0"/>
          </a:xfrm>
          <a:prstGeom prst="line">
            <a:avLst/>
          </a:prstGeom>
          <a:noFill/>
          <a:ln w="15875">
            <a:solidFill>
              <a:srgbClr val="6E6A63"/>
            </a:solidFill>
            <a:prstDash val="dash"/>
          </a:ln>
        </p:spPr>
      </p:sp>
      <p:sp>
        <p:nvSpPr>
          <p:cNvPr id="18" name="Shape 16"/>
          <p:cNvSpPr/>
          <p:nvPr/>
        </p:nvSpPr>
        <p:spPr>
          <a:xfrm>
            <a:off x="7205472" y="1874520"/>
            <a:ext cx="0" cy="274320"/>
          </a:xfrm>
          <a:prstGeom prst="line">
            <a:avLst/>
          </a:prstGeom>
          <a:noFill/>
          <a:ln w="15875">
            <a:solidFill>
              <a:srgbClr val="6E6A63"/>
            </a:solidFill>
            <a:prstDash val="solid"/>
          </a:ln>
        </p:spPr>
      </p:sp>
      <p:sp>
        <p:nvSpPr>
          <p:cNvPr id="19" name="Shape 17"/>
          <p:cNvSpPr/>
          <p:nvPr/>
        </p:nvSpPr>
        <p:spPr>
          <a:xfrm>
            <a:off x="1581912" y="2011680"/>
            <a:ext cx="5623560" cy="0"/>
          </a:xfrm>
          <a:prstGeom prst="line">
            <a:avLst/>
          </a:prstGeom>
          <a:noFill/>
          <a:ln w="15875">
            <a:solidFill>
              <a:srgbClr val="6E6A63"/>
            </a:solidFill>
            <a:prstDash val="solid"/>
          </a:ln>
        </p:spPr>
      </p:sp>
      <p:sp>
        <p:nvSpPr>
          <p:cNvPr id="20" name="Shape 18"/>
          <p:cNvSpPr/>
          <p:nvPr/>
        </p:nvSpPr>
        <p:spPr>
          <a:xfrm>
            <a:off x="1581912" y="2011680"/>
            <a:ext cx="0" cy="896112"/>
          </a:xfrm>
          <a:prstGeom prst="line">
            <a:avLst/>
          </a:prstGeom>
          <a:noFill/>
          <a:ln w="15875">
            <a:solidFill>
              <a:srgbClr val="6E6A63"/>
            </a:solidFill>
            <a:prstDash val="solid"/>
          </a:ln>
        </p:spPr>
      </p:sp>
      <p:sp>
        <p:nvSpPr>
          <p:cNvPr id="21" name="Shape 19"/>
          <p:cNvSpPr/>
          <p:nvPr/>
        </p:nvSpPr>
        <p:spPr>
          <a:xfrm>
            <a:off x="5559552" y="2148840"/>
            <a:ext cx="3291840" cy="530352"/>
          </a:xfrm>
          <a:prstGeom prst="roundRect">
            <a:avLst>
              <a:gd name="adj" fmla="val 13793"/>
            </a:avLst>
          </a:prstGeom>
          <a:solidFill>
            <a:srgbClr val="FFFFFF"/>
          </a:solidFill>
          <a:ln w="19050">
            <a:solidFill>
              <a:srgbClr val="2B2A28"/>
            </a:solidFill>
            <a:prstDash val="solid"/>
          </a:ln>
        </p:spPr>
      </p:sp>
      <p:sp>
        <p:nvSpPr>
          <p:cNvPr id="22" name="Text 20"/>
          <p:cNvSpPr txBox="1"/>
          <p:nvPr/>
        </p:nvSpPr>
        <p:spPr>
          <a:xfrm>
            <a:off x="5559552" y="2148840"/>
            <a:ext cx="3291840" cy="530352"/>
          </a:xfrm>
          <a:prstGeom prst="rect">
            <a:avLst/>
          </a:prstGeom>
          <a:noFill/>
          <a:ln/>
        </p:spPr>
        <p:txBody>
          <a:bodyPr wrap="square" lIns="0" tIns="0" rIns="0" bIns="0" rtlCol="0" anchor="ctr"/>
          <a:lstStyle/>
          <a:p>
            <a:pPr algn="ctr" indent="0" marL="0">
              <a:buNone/>
            </a:pPr>
            <a:r>
              <a:rPr lang="en-US" sz="1500" b="1" dirty="0">
                <a:solidFill>
                  <a:srgbClr val="2B2A28"/>
                </a:solidFill>
                <a:latin typeface="Cambria" pitchFamily="34" charset="0"/>
                <a:ea typeface="Cambria" pitchFamily="34" charset="-122"/>
                <a:cs typeface="Cambria" pitchFamily="34" charset="-120"/>
              </a:rPr>
              <a:t>Operations Manager</a:t>
            </a:r>
            <a:endParaRPr lang="en-US" sz="1500" dirty="0"/>
          </a:p>
          <a:p>
            <a:pPr algn="ctr" indent="0" marL="0">
              <a:buNone/>
            </a:pPr>
            <a:r>
              <a:rPr lang="en-US" sz="1050" dirty="0">
                <a:solidFill>
                  <a:srgbClr val="4A5359"/>
                </a:solidFill>
                <a:latin typeface="Calibri" pitchFamily="34" charset="0"/>
                <a:ea typeface="Calibri" pitchFamily="34" charset="-122"/>
                <a:cs typeface="Calibri" pitchFamily="34" charset="-120"/>
              </a:rPr>
              <a:t>New · second in command · part-time first</a:t>
            </a:r>
            <a:endParaRPr lang="en-US" sz="1500" dirty="0"/>
          </a:p>
        </p:txBody>
      </p:sp>
      <p:sp>
        <p:nvSpPr>
          <p:cNvPr id="23" name="Shape 21"/>
          <p:cNvSpPr/>
          <p:nvPr/>
        </p:nvSpPr>
        <p:spPr>
          <a:xfrm>
            <a:off x="7205472" y="2679192"/>
            <a:ext cx="0" cy="109728"/>
          </a:xfrm>
          <a:prstGeom prst="line">
            <a:avLst/>
          </a:prstGeom>
          <a:noFill/>
          <a:ln w="15875">
            <a:solidFill>
              <a:srgbClr val="6E6A63"/>
            </a:solidFill>
            <a:prstDash val="solid"/>
          </a:ln>
        </p:spPr>
      </p:sp>
      <p:sp>
        <p:nvSpPr>
          <p:cNvPr id="24" name="Shape 22"/>
          <p:cNvSpPr/>
          <p:nvPr/>
        </p:nvSpPr>
        <p:spPr>
          <a:xfrm>
            <a:off x="3831336" y="2788920"/>
            <a:ext cx="6748272" cy="0"/>
          </a:xfrm>
          <a:prstGeom prst="line">
            <a:avLst/>
          </a:prstGeom>
          <a:noFill/>
          <a:ln w="15875">
            <a:solidFill>
              <a:srgbClr val="6E6A63"/>
            </a:solidFill>
            <a:prstDash val="solid"/>
          </a:ln>
        </p:spPr>
      </p:sp>
      <p:sp>
        <p:nvSpPr>
          <p:cNvPr id="25" name="Shape 23"/>
          <p:cNvSpPr/>
          <p:nvPr/>
        </p:nvSpPr>
        <p:spPr>
          <a:xfrm>
            <a:off x="3831336" y="2788920"/>
            <a:ext cx="0" cy="118872"/>
          </a:xfrm>
          <a:prstGeom prst="line">
            <a:avLst/>
          </a:prstGeom>
          <a:noFill/>
          <a:ln w="15875">
            <a:solidFill>
              <a:srgbClr val="6E6A63"/>
            </a:solidFill>
            <a:prstDash val="solid"/>
          </a:ln>
        </p:spPr>
      </p:sp>
      <p:sp>
        <p:nvSpPr>
          <p:cNvPr id="26" name="Shape 24"/>
          <p:cNvSpPr/>
          <p:nvPr/>
        </p:nvSpPr>
        <p:spPr>
          <a:xfrm>
            <a:off x="6080760" y="2788920"/>
            <a:ext cx="0" cy="118872"/>
          </a:xfrm>
          <a:prstGeom prst="line">
            <a:avLst/>
          </a:prstGeom>
          <a:noFill/>
          <a:ln w="15875">
            <a:solidFill>
              <a:srgbClr val="6E6A63"/>
            </a:solidFill>
            <a:prstDash val="solid"/>
          </a:ln>
        </p:spPr>
      </p:sp>
      <p:sp>
        <p:nvSpPr>
          <p:cNvPr id="27" name="Shape 25"/>
          <p:cNvSpPr/>
          <p:nvPr/>
        </p:nvSpPr>
        <p:spPr>
          <a:xfrm>
            <a:off x="8330184" y="2788920"/>
            <a:ext cx="0" cy="118872"/>
          </a:xfrm>
          <a:prstGeom prst="line">
            <a:avLst/>
          </a:prstGeom>
          <a:noFill/>
          <a:ln w="15875">
            <a:solidFill>
              <a:srgbClr val="6E6A63"/>
            </a:solidFill>
            <a:prstDash val="solid"/>
          </a:ln>
        </p:spPr>
      </p:sp>
      <p:sp>
        <p:nvSpPr>
          <p:cNvPr id="28" name="Shape 26"/>
          <p:cNvSpPr/>
          <p:nvPr/>
        </p:nvSpPr>
        <p:spPr>
          <a:xfrm>
            <a:off x="10579608" y="2788920"/>
            <a:ext cx="0" cy="118872"/>
          </a:xfrm>
          <a:prstGeom prst="line">
            <a:avLst/>
          </a:prstGeom>
          <a:noFill/>
          <a:ln w="15875">
            <a:solidFill>
              <a:srgbClr val="6E6A63"/>
            </a:solidFill>
            <a:prstDash val="solid"/>
          </a:ln>
        </p:spPr>
      </p:sp>
      <p:sp>
        <p:nvSpPr>
          <p:cNvPr id="29" name="Text 27"/>
          <p:cNvSpPr txBox="1"/>
          <p:nvPr/>
        </p:nvSpPr>
        <p:spPr>
          <a:xfrm>
            <a:off x="548640" y="2926080"/>
            <a:ext cx="2066544" cy="237744"/>
          </a:xfrm>
          <a:prstGeom prst="rect">
            <a:avLst/>
          </a:prstGeom>
          <a:noFill/>
          <a:ln/>
        </p:spPr>
        <p:txBody>
          <a:bodyPr wrap="square" lIns="0" tIns="0" rIns="0" bIns="0" rtlCol="0" anchor="ctr"/>
          <a:lstStyle/>
          <a:p>
            <a:pPr algn="ctr" indent="0" marL="0">
              <a:buNone/>
            </a:pPr>
            <a:r>
              <a:rPr lang="en-US" sz="1050" b="1" spc="150" kern="0" dirty="0">
                <a:solidFill>
                  <a:srgbClr val="8A6115"/>
                </a:solidFill>
                <a:latin typeface="Calibri" pitchFamily="34" charset="0"/>
                <a:ea typeface="Calibri" pitchFamily="34" charset="-122"/>
                <a:cs typeface="Calibri" pitchFamily="34" charset="-120"/>
              </a:rPr>
              <a:t>STRATEGY &amp; FINANCE</a:t>
            </a:r>
            <a:endParaRPr lang="en-US" sz="1050" dirty="0"/>
          </a:p>
        </p:txBody>
      </p:sp>
      <p:sp>
        <p:nvSpPr>
          <p:cNvPr id="30" name="Shape 28"/>
          <p:cNvSpPr/>
          <p:nvPr/>
        </p:nvSpPr>
        <p:spPr>
          <a:xfrm>
            <a:off x="548640" y="3200400"/>
            <a:ext cx="2066544" cy="530352"/>
          </a:xfrm>
          <a:prstGeom prst="roundRect">
            <a:avLst>
              <a:gd name="adj" fmla="val 13793"/>
            </a:avLst>
          </a:prstGeom>
          <a:solidFill>
            <a:srgbClr val="2E4057"/>
          </a:solidFill>
          <a:ln w="12700">
            <a:solidFill>
              <a:srgbClr val="2E4057"/>
            </a:solidFill>
            <a:prstDash val="solid"/>
          </a:ln>
        </p:spPr>
      </p:sp>
      <p:sp>
        <p:nvSpPr>
          <p:cNvPr id="31" name="Text 29"/>
          <p:cNvSpPr txBox="1"/>
          <p:nvPr/>
        </p:nvSpPr>
        <p:spPr>
          <a:xfrm>
            <a:off x="621792" y="3200400"/>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Strategy &amp; Planning</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Owners + outside advisor</a:t>
            </a:r>
            <a:endParaRPr lang="en-US" sz="1100" dirty="0"/>
          </a:p>
        </p:txBody>
      </p:sp>
      <p:sp>
        <p:nvSpPr>
          <p:cNvPr id="32" name="Shape 30"/>
          <p:cNvSpPr/>
          <p:nvPr/>
        </p:nvSpPr>
        <p:spPr>
          <a:xfrm>
            <a:off x="548640" y="3803904"/>
            <a:ext cx="2066544" cy="530352"/>
          </a:xfrm>
          <a:prstGeom prst="roundRect">
            <a:avLst>
              <a:gd name="adj" fmla="val 13793"/>
            </a:avLst>
          </a:prstGeom>
          <a:solidFill>
            <a:srgbClr val="C8922F"/>
          </a:solidFill>
          <a:ln w="12700">
            <a:solidFill>
              <a:srgbClr val="C8922F"/>
            </a:solidFill>
            <a:prstDash val="solid"/>
          </a:ln>
        </p:spPr>
      </p:sp>
      <p:sp>
        <p:nvSpPr>
          <p:cNvPr id="33" name="Text 31"/>
          <p:cNvSpPr txBox="1"/>
          <p:nvPr/>
        </p:nvSpPr>
        <p:spPr>
          <a:xfrm>
            <a:off x="621792" y="3803904"/>
            <a:ext cx="1920240" cy="530352"/>
          </a:xfrm>
          <a:prstGeom prst="rect">
            <a:avLst/>
          </a:prstGeom>
          <a:noFill/>
          <a:ln/>
        </p:spPr>
        <p:txBody>
          <a:bodyPr wrap="square" lIns="0" tIns="0" rIns="0" bIns="0" rtlCol="0" anchor="ctr"/>
          <a:lstStyle/>
          <a:p>
            <a:pPr algn="ctr" indent="0" marL="0">
              <a:buNone/>
            </a:pPr>
            <a:r>
              <a:rPr lang="en-US" sz="1100" b="1" dirty="0">
                <a:solidFill>
                  <a:srgbClr val="2B2A28"/>
                </a:solidFill>
                <a:latin typeface="Calibri" pitchFamily="34" charset="0"/>
                <a:ea typeface="Calibri" pitchFamily="34" charset="-122"/>
                <a:cs typeface="Calibri" pitchFamily="34" charset="-120"/>
              </a:rPr>
              <a:t>Finance &amp; Bookkeeping</a:t>
            </a:r>
            <a:endParaRPr lang="en-US" sz="1100" dirty="0"/>
          </a:p>
          <a:p>
            <a:pPr algn="ctr" indent="0" marL="0">
              <a:buNone/>
            </a:pPr>
            <a:r>
              <a:rPr lang="en-US" sz="950" dirty="0">
                <a:solidFill>
                  <a:srgbClr val="2B2A28"/>
                </a:solidFill>
                <a:latin typeface="Calibri" pitchFamily="34" charset="0"/>
                <a:ea typeface="Calibri" pitchFamily="34" charset="-122"/>
                <a:cs typeface="Calibri" pitchFamily="34" charset="-120"/>
              </a:rPr>
              <a:t>Contract · cost accountant</a:t>
            </a:r>
            <a:endParaRPr lang="en-US" sz="1100" dirty="0"/>
          </a:p>
        </p:txBody>
      </p:sp>
      <p:sp>
        <p:nvSpPr>
          <p:cNvPr id="34" name="Shape 32"/>
          <p:cNvSpPr/>
          <p:nvPr/>
        </p:nvSpPr>
        <p:spPr>
          <a:xfrm>
            <a:off x="548640" y="4407408"/>
            <a:ext cx="2066544" cy="530352"/>
          </a:xfrm>
          <a:prstGeom prst="roundRect">
            <a:avLst>
              <a:gd name="adj" fmla="val 13793"/>
            </a:avLst>
          </a:prstGeom>
          <a:solidFill>
            <a:srgbClr val="2E4057"/>
          </a:solidFill>
          <a:ln w="12700">
            <a:solidFill>
              <a:srgbClr val="2E4057"/>
            </a:solidFill>
            <a:prstDash val="solid"/>
          </a:ln>
        </p:spPr>
      </p:sp>
      <p:sp>
        <p:nvSpPr>
          <p:cNvPr id="35" name="Text 33"/>
          <p:cNvSpPr txBox="1"/>
          <p:nvPr/>
        </p:nvSpPr>
        <p:spPr>
          <a:xfrm>
            <a:off x="621792" y="4407408"/>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Grants &amp; Funding</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Finance-led · contract writer</a:t>
            </a:r>
            <a:endParaRPr lang="en-US" sz="1100" dirty="0"/>
          </a:p>
        </p:txBody>
      </p:sp>
      <p:sp>
        <p:nvSpPr>
          <p:cNvPr id="36" name="Text 34"/>
          <p:cNvSpPr txBox="1"/>
          <p:nvPr/>
        </p:nvSpPr>
        <p:spPr>
          <a:xfrm>
            <a:off x="2798064" y="2926080"/>
            <a:ext cx="2066544" cy="237744"/>
          </a:xfrm>
          <a:prstGeom prst="rect">
            <a:avLst/>
          </a:prstGeom>
          <a:noFill/>
          <a:ln/>
        </p:spPr>
        <p:txBody>
          <a:bodyPr wrap="square" lIns="0" tIns="0" rIns="0" bIns="0" rtlCol="0" anchor="ctr"/>
          <a:lstStyle/>
          <a:p>
            <a:pPr algn="ctr" indent="0" marL="0">
              <a:buNone/>
            </a:pPr>
            <a:r>
              <a:rPr lang="en-US" sz="1050" b="1" spc="150" kern="0" dirty="0">
                <a:solidFill>
                  <a:srgbClr val="8A6115"/>
                </a:solidFill>
                <a:latin typeface="Calibri" pitchFamily="34" charset="0"/>
                <a:ea typeface="Calibri" pitchFamily="34" charset="-122"/>
                <a:cs typeface="Calibri" pitchFamily="34" charset="-120"/>
              </a:rPr>
              <a:t>MAKE</a:t>
            </a:r>
            <a:endParaRPr lang="en-US" sz="1050" dirty="0"/>
          </a:p>
        </p:txBody>
      </p:sp>
      <p:sp>
        <p:nvSpPr>
          <p:cNvPr id="37" name="Shape 35"/>
          <p:cNvSpPr/>
          <p:nvPr/>
        </p:nvSpPr>
        <p:spPr>
          <a:xfrm>
            <a:off x="2798064" y="3200400"/>
            <a:ext cx="2066544" cy="530352"/>
          </a:xfrm>
          <a:prstGeom prst="roundRect">
            <a:avLst>
              <a:gd name="adj" fmla="val 13793"/>
            </a:avLst>
          </a:prstGeom>
          <a:solidFill>
            <a:srgbClr val="6E6A63"/>
          </a:solidFill>
          <a:ln w="12700">
            <a:solidFill>
              <a:srgbClr val="6E6A63"/>
            </a:solidFill>
            <a:prstDash val="solid"/>
          </a:ln>
        </p:spPr>
      </p:sp>
      <p:sp>
        <p:nvSpPr>
          <p:cNvPr id="38" name="Text 36"/>
          <p:cNvSpPr txBox="1"/>
          <p:nvPr/>
        </p:nvSpPr>
        <p:spPr>
          <a:xfrm>
            <a:off x="2871216" y="3200400"/>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Head Miller &amp; Production</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Core · apprentice added</a:t>
            </a:r>
            <a:endParaRPr lang="en-US" sz="1100" dirty="0"/>
          </a:p>
        </p:txBody>
      </p:sp>
      <p:sp>
        <p:nvSpPr>
          <p:cNvPr id="39" name="Shape 37"/>
          <p:cNvSpPr/>
          <p:nvPr/>
        </p:nvSpPr>
        <p:spPr>
          <a:xfrm>
            <a:off x="2798064" y="3803904"/>
            <a:ext cx="2066544" cy="530352"/>
          </a:xfrm>
          <a:prstGeom prst="roundRect">
            <a:avLst>
              <a:gd name="adj" fmla="val 13793"/>
            </a:avLst>
          </a:prstGeom>
          <a:solidFill>
            <a:srgbClr val="2E4057"/>
          </a:solidFill>
          <a:ln w="12700">
            <a:solidFill>
              <a:srgbClr val="2E4057"/>
            </a:solidFill>
            <a:prstDash val="solid"/>
          </a:ln>
        </p:spPr>
      </p:sp>
      <p:sp>
        <p:nvSpPr>
          <p:cNvPr id="40" name="Text 38"/>
          <p:cNvSpPr txBox="1"/>
          <p:nvPr/>
        </p:nvSpPr>
        <p:spPr>
          <a:xfrm>
            <a:off x="2871216" y="3803904"/>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Fulfillment &amp; Shipping</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Core · AI shipping tools</a:t>
            </a:r>
            <a:endParaRPr lang="en-US" sz="1100" dirty="0"/>
          </a:p>
        </p:txBody>
      </p:sp>
      <p:sp>
        <p:nvSpPr>
          <p:cNvPr id="41" name="Shape 39"/>
          <p:cNvSpPr/>
          <p:nvPr/>
        </p:nvSpPr>
        <p:spPr>
          <a:xfrm>
            <a:off x="2798064" y="4407408"/>
            <a:ext cx="2066544" cy="530352"/>
          </a:xfrm>
          <a:prstGeom prst="roundRect">
            <a:avLst>
              <a:gd name="adj" fmla="val 13793"/>
            </a:avLst>
          </a:prstGeom>
          <a:solidFill>
            <a:srgbClr val="6E6A63"/>
          </a:solidFill>
          <a:ln w="12700">
            <a:solidFill>
              <a:srgbClr val="6E6A63"/>
            </a:solidFill>
            <a:prstDash val="solid"/>
          </a:ln>
        </p:spPr>
      </p:sp>
      <p:sp>
        <p:nvSpPr>
          <p:cNvPr id="42" name="Text 40"/>
          <p:cNvSpPr txBox="1"/>
          <p:nvPr/>
        </p:nvSpPr>
        <p:spPr>
          <a:xfrm>
            <a:off x="2871216" y="4407408"/>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 Pack Crew</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Seasonal · Oct–Dec</a:t>
            </a:r>
            <a:endParaRPr lang="en-US" sz="1100" dirty="0"/>
          </a:p>
        </p:txBody>
      </p:sp>
      <p:sp>
        <p:nvSpPr>
          <p:cNvPr id="43" name="Text 41"/>
          <p:cNvSpPr txBox="1"/>
          <p:nvPr/>
        </p:nvSpPr>
        <p:spPr>
          <a:xfrm>
            <a:off x="5047488" y="2926080"/>
            <a:ext cx="2066544" cy="237744"/>
          </a:xfrm>
          <a:prstGeom prst="rect">
            <a:avLst/>
          </a:prstGeom>
          <a:noFill/>
          <a:ln/>
        </p:spPr>
        <p:txBody>
          <a:bodyPr wrap="square" lIns="0" tIns="0" rIns="0" bIns="0" rtlCol="0" anchor="ctr"/>
          <a:lstStyle/>
          <a:p>
            <a:pPr algn="ctr" indent="0" marL="0">
              <a:buNone/>
            </a:pPr>
            <a:r>
              <a:rPr lang="en-US" sz="1050" b="1" spc="150" kern="0" dirty="0">
                <a:solidFill>
                  <a:srgbClr val="8A6115"/>
                </a:solidFill>
                <a:latin typeface="Calibri" pitchFamily="34" charset="0"/>
                <a:ea typeface="Calibri" pitchFamily="34" charset="-122"/>
                <a:cs typeface="Calibri" pitchFamily="34" charset="-120"/>
              </a:rPr>
              <a:t>SELL</a:t>
            </a:r>
            <a:endParaRPr lang="en-US" sz="1050" dirty="0"/>
          </a:p>
        </p:txBody>
      </p:sp>
      <p:sp>
        <p:nvSpPr>
          <p:cNvPr id="44" name="Shape 42"/>
          <p:cNvSpPr/>
          <p:nvPr/>
        </p:nvSpPr>
        <p:spPr>
          <a:xfrm>
            <a:off x="5047488" y="3200400"/>
            <a:ext cx="2066544" cy="530352"/>
          </a:xfrm>
          <a:prstGeom prst="roundRect">
            <a:avLst>
              <a:gd name="adj" fmla="val 13793"/>
            </a:avLst>
          </a:prstGeom>
          <a:solidFill>
            <a:srgbClr val="2E4057"/>
          </a:solidFill>
          <a:ln w="12700">
            <a:solidFill>
              <a:srgbClr val="2E4057"/>
            </a:solidFill>
            <a:prstDash val="solid"/>
          </a:ln>
        </p:spPr>
      </p:sp>
      <p:sp>
        <p:nvSpPr>
          <p:cNvPr id="45" name="Text 43"/>
          <p:cNvSpPr txBox="1"/>
          <p:nvPr/>
        </p:nvSpPr>
        <p:spPr>
          <a:xfrm>
            <a:off x="5120640" y="3200400"/>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Wholesale &amp; Accounts</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Part-time · commission</a:t>
            </a:r>
            <a:endParaRPr lang="en-US" sz="1100" dirty="0"/>
          </a:p>
        </p:txBody>
      </p:sp>
      <p:sp>
        <p:nvSpPr>
          <p:cNvPr id="46" name="Shape 44"/>
          <p:cNvSpPr/>
          <p:nvPr/>
        </p:nvSpPr>
        <p:spPr>
          <a:xfrm>
            <a:off x="5047488" y="3803904"/>
            <a:ext cx="2066544" cy="530352"/>
          </a:xfrm>
          <a:prstGeom prst="roundRect">
            <a:avLst>
              <a:gd name="adj" fmla="val 13793"/>
            </a:avLst>
          </a:prstGeom>
          <a:solidFill>
            <a:srgbClr val="6E6A63"/>
          </a:solidFill>
          <a:ln w="12700">
            <a:solidFill>
              <a:srgbClr val="6E6A63"/>
            </a:solidFill>
            <a:prstDash val="solid"/>
          </a:ln>
        </p:spPr>
      </p:sp>
      <p:sp>
        <p:nvSpPr>
          <p:cNvPr id="47" name="Text 45"/>
          <p:cNvSpPr txBox="1"/>
          <p:nvPr/>
        </p:nvSpPr>
        <p:spPr>
          <a:xfrm>
            <a:off x="5120640" y="3803904"/>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Shop &amp; Visitor Experience</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Seasonal · counter, tours</a:t>
            </a:r>
            <a:endParaRPr lang="en-US" sz="1100" dirty="0"/>
          </a:p>
        </p:txBody>
      </p:sp>
      <p:sp>
        <p:nvSpPr>
          <p:cNvPr id="48" name="Shape 46"/>
          <p:cNvSpPr/>
          <p:nvPr/>
        </p:nvSpPr>
        <p:spPr>
          <a:xfrm>
            <a:off x="5047488" y="4407408"/>
            <a:ext cx="2066544" cy="530352"/>
          </a:xfrm>
          <a:prstGeom prst="roundRect">
            <a:avLst>
              <a:gd name="adj" fmla="val 13793"/>
            </a:avLst>
          </a:prstGeom>
          <a:solidFill>
            <a:srgbClr val="6E6A63"/>
          </a:solidFill>
          <a:ln w="12700">
            <a:solidFill>
              <a:srgbClr val="6E6A63"/>
            </a:solidFill>
            <a:prstDash val="solid"/>
          </a:ln>
        </p:spPr>
      </p:sp>
      <p:sp>
        <p:nvSpPr>
          <p:cNvPr id="49" name="Text 47"/>
          <p:cNvSpPr txBox="1"/>
          <p:nvPr/>
        </p:nvSpPr>
        <p:spPr>
          <a:xfrm>
            <a:off x="5120640" y="4407408"/>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Events &amp; Kayak</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Seasonal · per-event hosts</a:t>
            </a:r>
            <a:endParaRPr lang="en-US" sz="1100" dirty="0"/>
          </a:p>
        </p:txBody>
      </p:sp>
      <p:sp>
        <p:nvSpPr>
          <p:cNvPr id="50" name="Text 48"/>
          <p:cNvSpPr txBox="1"/>
          <p:nvPr/>
        </p:nvSpPr>
        <p:spPr>
          <a:xfrm>
            <a:off x="7296912" y="2926080"/>
            <a:ext cx="2066544" cy="237744"/>
          </a:xfrm>
          <a:prstGeom prst="rect">
            <a:avLst/>
          </a:prstGeom>
          <a:noFill/>
          <a:ln/>
        </p:spPr>
        <p:txBody>
          <a:bodyPr wrap="square" lIns="0" tIns="0" rIns="0" bIns="0" rtlCol="0" anchor="ctr"/>
          <a:lstStyle/>
          <a:p>
            <a:pPr algn="ctr" indent="0" marL="0">
              <a:buNone/>
            </a:pPr>
            <a:r>
              <a:rPr lang="en-US" sz="1050" b="1" spc="150" kern="0" dirty="0">
                <a:solidFill>
                  <a:srgbClr val="8A6115"/>
                </a:solidFill>
                <a:latin typeface="Calibri" pitchFamily="34" charset="0"/>
                <a:ea typeface="Calibri" pitchFamily="34" charset="-122"/>
                <a:cs typeface="Calibri" pitchFamily="34" charset="-120"/>
              </a:rPr>
              <a:t>SERVE</a:t>
            </a:r>
            <a:endParaRPr lang="en-US" sz="1050" dirty="0"/>
          </a:p>
        </p:txBody>
      </p:sp>
      <p:sp>
        <p:nvSpPr>
          <p:cNvPr id="51" name="Shape 49"/>
          <p:cNvSpPr/>
          <p:nvPr/>
        </p:nvSpPr>
        <p:spPr>
          <a:xfrm>
            <a:off x="7296912" y="3200400"/>
            <a:ext cx="2066544" cy="530352"/>
          </a:xfrm>
          <a:prstGeom prst="roundRect">
            <a:avLst>
              <a:gd name="adj" fmla="val 13793"/>
            </a:avLst>
          </a:prstGeom>
          <a:solidFill>
            <a:srgbClr val="2E4057"/>
          </a:solidFill>
          <a:ln w="12700">
            <a:solidFill>
              <a:srgbClr val="2E4057"/>
            </a:solidFill>
            <a:prstDash val="solid"/>
          </a:ln>
        </p:spPr>
      </p:sp>
      <p:sp>
        <p:nvSpPr>
          <p:cNvPr id="52" name="Text 50"/>
          <p:cNvSpPr txBox="1"/>
          <p:nvPr/>
        </p:nvSpPr>
        <p:spPr>
          <a:xfrm>
            <a:off x="7370064" y="3200400"/>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 Service Lead</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Reassigned · 8–10 hrs/wk</a:t>
            </a:r>
            <a:endParaRPr lang="en-US" sz="1100" dirty="0"/>
          </a:p>
        </p:txBody>
      </p:sp>
      <p:sp>
        <p:nvSpPr>
          <p:cNvPr id="53" name="Shape 51"/>
          <p:cNvSpPr/>
          <p:nvPr/>
        </p:nvSpPr>
        <p:spPr>
          <a:xfrm>
            <a:off x="7296912" y="3803904"/>
            <a:ext cx="2066544" cy="530352"/>
          </a:xfrm>
          <a:prstGeom prst="roundRect">
            <a:avLst>
              <a:gd name="adj" fmla="val 13793"/>
            </a:avLst>
          </a:prstGeom>
          <a:solidFill>
            <a:srgbClr val="C8922F"/>
          </a:solidFill>
          <a:ln w="12700">
            <a:solidFill>
              <a:srgbClr val="C8922F"/>
            </a:solidFill>
            <a:prstDash val="solid"/>
          </a:ln>
        </p:spPr>
      </p:sp>
      <p:sp>
        <p:nvSpPr>
          <p:cNvPr id="54" name="Text 52"/>
          <p:cNvSpPr txBox="1"/>
          <p:nvPr/>
        </p:nvSpPr>
        <p:spPr>
          <a:xfrm>
            <a:off x="7370064" y="3803904"/>
            <a:ext cx="1920240" cy="530352"/>
          </a:xfrm>
          <a:prstGeom prst="rect">
            <a:avLst/>
          </a:prstGeom>
          <a:noFill/>
          <a:ln/>
        </p:spPr>
        <p:txBody>
          <a:bodyPr wrap="square" lIns="0" tIns="0" rIns="0" bIns="0" rtlCol="0" anchor="ctr"/>
          <a:lstStyle/>
          <a:p>
            <a:pPr algn="ctr" indent="0" marL="0">
              <a:buNone/>
            </a:pPr>
            <a:r>
              <a:rPr lang="en-US" sz="1100" b="1" dirty="0">
                <a:solidFill>
                  <a:srgbClr val="2B2A28"/>
                </a:solidFill>
                <a:latin typeface="Calibri" pitchFamily="34" charset="0"/>
                <a:ea typeface="Calibri" pitchFamily="34" charset="-122"/>
                <a:cs typeface="Calibri" pitchFamily="34" charset="-120"/>
              </a:rPr>
              <a:t>Orders &amp; Accounts</a:t>
            </a:r>
            <a:endParaRPr lang="en-US" sz="1100" dirty="0"/>
          </a:p>
          <a:p>
            <a:pPr algn="ctr" indent="0" marL="0">
              <a:buNone/>
            </a:pPr>
            <a:r>
              <a:rPr lang="en-US" sz="950" dirty="0">
                <a:solidFill>
                  <a:srgbClr val="2B2A28"/>
                </a:solidFill>
                <a:latin typeface="Calibri" pitchFamily="34" charset="0"/>
                <a:ea typeface="Calibri" pitchFamily="34" charset="-122"/>
                <a:cs typeface="Calibri" pitchFamily="34" charset="-120"/>
              </a:rPr>
              <a:t>Status, returns, reorders</a:t>
            </a:r>
            <a:endParaRPr lang="en-US" sz="1100" dirty="0"/>
          </a:p>
        </p:txBody>
      </p:sp>
      <p:sp>
        <p:nvSpPr>
          <p:cNvPr id="55" name="Shape 53"/>
          <p:cNvSpPr/>
          <p:nvPr/>
        </p:nvSpPr>
        <p:spPr>
          <a:xfrm>
            <a:off x="7296912" y="4407408"/>
            <a:ext cx="2066544" cy="530352"/>
          </a:xfrm>
          <a:prstGeom prst="roundRect">
            <a:avLst>
              <a:gd name="adj" fmla="val 13793"/>
            </a:avLst>
          </a:prstGeom>
          <a:solidFill>
            <a:srgbClr val="C8922F"/>
          </a:solidFill>
          <a:ln w="12700">
            <a:solidFill>
              <a:srgbClr val="C8922F"/>
            </a:solidFill>
            <a:prstDash val="solid"/>
          </a:ln>
        </p:spPr>
      </p:sp>
      <p:sp>
        <p:nvSpPr>
          <p:cNvPr id="56" name="Text 54"/>
          <p:cNvSpPr txBox="1"/>
          <p:nvPr/>
        </p:nvSpPr>
        <p:spPr>
          <a:xfrm>
            <a:off x="7370064" y="4407408"/>
            <a:ext cx="1920240" cy="530352"/>
          </a:xfrm>
          <a:prstGeom prst="rect">
            <a:avLst/>
          </a:prstGeom>
          <a:noFill/>
          <a:ln/>
        </p:spPr>
        <p:txBody>
          <a:bodyPr wrap="square" lIns="0" tIns="0" rIns="0" bIns="0" rtlCol="0" anchor="ctr"/>
          <a:lstStyle/>
          <a:p>
            <a:pPr algn="ctr" indent="0" marL="0">
              <a:buNone/>
            </a:pPr>
            <a:r>
              <a:rPr lang="en-US" sz="1100" b="1" dirty="0">
                <a:solidFill>
                  <a:srgbClr val="2B2A28"/>
                </a:solidFill>
                <a:latin typeface="Calibri" pitchFamily="34" charset="0"/>
                <a:ea typeface="Calibri" pitchFamily="34" charset="-122"/>
                <a:cs typeface="Calibri" pitchFamily="34" charset="-120"/>
              </a:rPr>
              <a:t>Reviews &amp; Feedback</a:t>
            </a:r>
            <a:endParaRPr lang="en-US" sz="1100" dirty="0"/>
          </a:p>
          <a:p>
            <a:pPr algn="ctr" indent="0" marL="0">
              <a:buNone/>
            </a:pPr>
            <a:r>
              <a:rPr lang="en-US" sz="950" dirty="0">
                <a:solidFill>
                  <a:srgbClr val="2B2A28"/>
                </a:solidFill>
                <a:latin typeface="Calibri" pitchFamily="34" charset="0"/>
                <a:ea typeface="Calibri" pitchFamily="34" charset="-122"/>
                <a:cs typeface="Calibri" pitchFamily="34" charset="-120"/>
              </a:rPr>
              <a:t>Replies and surveys</a:t>
            </a:r>
            <a:endParaRPr lang="en-US" sz="1100" dirty="0"/>
          </a:p>
        </p:txBody>
      </p:sp>
      <p:sp>
        <p:nvSpPr>
          <p:cNvPr id="57" name="Text 55"/>
          <p:cNvSpPr txBox="1"/>
          <p:nvPr/>
        </p:nvSpPr>
        <p:spPr>
          <a:xfrm>
            <a:off x="9546336" y="2926080"/>
            <a:ext cx="2066544" cy="237744"/>
          </a:xfrm>
          <a:prstGeom prst="rect">
            <a:avLst/>
          </a:prstGeom>
          <a:noFill/>
          <a:ln/>
        </p:spPr>
        <p:txBody>
          <a:bodyPr wrap="square" lIns="0" tIns="0" rIns="0" bIns="0" rtlCol="0" anchor="ctr"/>
          <a:lstStyle/>
          <a:p>
            <a:pPr algn="ctr" indent="0" marL="0">
              <a:buNone/>
            </a:pPr>
            <a:r>
              <a:rPr lang="en-US" sz="1050" b="1" spc="150" kern="0" dirty="0">
                <a:solidFill>
                  <a:srgbClr val="8A6115"/>
                </a:solidFill>
                <a:latin typeface="Calibri" pitchFamily="34" charset="0"/>
                <a:ea typeface="Calibri" pitchFamily="34" charset="-122"/>
                <a:cs typeface="Calibri" pitchFamily="34" charset="-120"/>
              </a:rPr>
              <a:t>MAINTAIN</a:t>
            </a:r>
            <a:endParaRPr lang="en-US" sz="1050" dirty="0"/>
          </a:p>
        </p:txBody>
      </p:sp>
      <p:sp>
        <p:nvSpPr>
          <p:cNvPr id="58" name="Shape 56"/>
          <p:cNvSpPr/>
          <p:nvPr/>
        </p:nvSpPr>
        <p:spPr>
          <a:xfrm>
            <a:off x="9546336" y="3200400"/>
            <a:ext cx="2066544" cy="530352"/>
          </a:xfrm>
          <a:prstGeom prst="roundRect">
            <a:avLst>
              <a:gd name="adj" fmla="val 13793"/>
            </a:avLst>
          </a:prstGeom>
          <a:solidFill>
            <a:srgbClr val="6E6A63"/>
          </a:solidFill>
          <a:ln w="12700">
            <a:solidFill>
              <a:srgbClr val="6E6A63"/>
            </a:solidFill>
            <a:prstDash val="solid"/>
          </a:ln>
        </p:spPr>
      </p:sp>
      <p:sp>
        <p:nvSpPr>
          <p:cNvPr id="59" name="Text 57"/>
          <p:cNvSpPr txBox="1"/>
          <p:nvPr/>
        </p:nvSpPr>
        <p:spPr>
          <a:xfrm>
            <a:off x="9619488" y="3200400"/>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Maintenance Crew</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Part-time lead · 8–12 hrs/wk</a:t>
            </a:r>
            <a:endParaRPr lang="en-US" sz="1100" dirty="0"/>
          </a:p>
        </p:txBody>
      </p:sp>
      <p:sp>
        <p:nvSpPr>
          <p:cNvPr id="60" name="Shape 58"/>
          <p:cNvSpPr/>
          <p:nvPr/>
        </p:nvSpPr>
        <p:spPr>
          <a:xfrm>
            <a:off x="9546336" y="3803904"/>
            <a:ext cx="2066544" cy="530352"/>
          </a:xfrm>
          <a:prstGeom prst="roundRect">
            <a:avLst>
              <a:gd name="adj" fmla="val 13793"/>
            </a:avLst>
          </a:prstGeom>
          <a:solidFill>
            <a:srgbClr val="2E4057"/>
          </a:solidFill>
          <a:ln w="12700">
            <a:solidFill>
              <a:srgbClr val="2E4057"/>
            </a:solidFill>
            <a:prstDash val="solid"/>
          </a:ln>
        </p:spPr>
      </p:sp>
      <p:sp>
        <p:nvSpPr>
          <p:cNvPr id="61" name="Text 59"/>
          <p:cNvSpPr txBox="1"/>
          <p:nvPr/>
        </p:nvSpPr>
        <p:spPr>
          <a:xfrm>
            <a:off x="9619488" y="3803904"/>
            <a:ext cx="192024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Mill Assets &amp; Millstones</a:t>
            </a:r>
            <a:endParaRPr lang="en-US" sz="1100" dirty="0"/>
          </a:p>
          <a:p>
            <a:pPr algn="ctr" indent="0" marL="0">
              <a:buNone/>
            </a:pPr>
            <a:r>
              <a:rPr lang="en-US" sz="950" dirty="0">
                <a:solidFill>
                  <a:srgbClr val="FFFFFF"/>
                </a:solidFill>
                <a:latin typeface="Calibri" pitchFamily="34" charset="0"/>
                <a:ea typeface="Calibri" pitchFamily="34" charset="-122"/>
                <a:cs typeface="Calibri" pitchFamily="34" charset="-120"/>
              </a:rPr>
              <a:t>Asset register · dressing</a:t>
            </a:r>
            <a:endParaRPr lang="en-US" sz="1100" dirty="0"/>
          </a:p>
        </p:txBody>
      </p:sp>
      <p:sp>
        <p:nvSpPr>
          <p:cNvPr id="62" name="Shape 60"/>
          <p:cNvSpPr/>
          <p:nvPr/>
        </p:nvSpPr>
        <p:spPr>
          <a:xfrm>
            <a:off x="9546336" y="4407408"/>
            <a:ext cx="2066544" cy="530352"/>
          </a:xfrm>
          <a:prstGeom prst="roundRect">
            <a:avLst>
              <a:gd name="adj" fmla="val 13793"/>
            </a:avLst>
          </a:prstGeom>
          <a:solidFill>
            <a:srgbClr val="D9C7A3"/>
          </a:solidFill>
          <a:ln w="12700">
            <a:solidFill>
              <a:srgbClr val="D9C7A3"/>
            </a:solidFill>
            <a:prstDash val="solid"/>
          </a:ln>
        </p:spPr>
      </p:sp>
      <p:sp>
        <p:nvSpPr>
          <p:cNvPr id="63" name="Text 61"/>
          <p:cNvSpPr txBox="1"/>
          <p:nvPr/>
        </p:nvSpPr>
        <p:spPr>
          <a:xfrm>
            <a:off x="9619488" y="4407408"/>
            <a:ext cx="1920240" cy="530352"/>
          </a:xfrm>
          <a:prstGeom prst="rect">
            <a:avLst/>
          </a:prstGeom>
          <a:noFill/>
          <a:ln/>
        </p:spPr>
        <p:txBody>
          <a:bodyPr wrap="square" lIns="0" tIns="0" rIns="0" bIns="0" rtlCol="0" anchor="ctr"/>
          <a:lstStyle/>
          <a:p>
            <a:pPr algn="ctr" indent="0" marL="0">
              <a:buNone/>
            </a:pPr>
            <a:r>
              <a:rPr lang="en-US" sz="1100" b="1" dirty="0">
                <a:solidFill>
                  <a:srgbClr val="2B2A28"/>
                </a:solidFill>
                <a:latin typeface="Calibri" pitchFamily="34" charset="0"/>
                <a:ea typeface="Calibri" pitchFamily="34" charset="-122"/>
                <a:cs typeface="Calibri" pitchFamily="34" charset="-120"/>
              </a:rPr>
              <a:t>Major Works</a:t>
            </a:r>
            <a:endParaRPr lang="en-US" sz="1100" dirty="0"/>
          </a:p>
          <a:p>
            <a:pPr algn="ctr" indent="0" marL="0">
              <a:buNone/>
            </a:pPr>
            <a:r>
              <a:rPr lang="en-US" sz="950" dirty="0">
                <a:solidFill>
                  <a:srgbClr val="2B2A28"/>
                </a:solidFill>
                <a:latin typeface="Calibri" pitchFamily="34" charset="0"/>
                <a:ea typeface="Calibri" pitchFamily="34" charset="-122"/>
                <a:cs typeface="Calibri" pitchFamily="34" charset="-120"/>
              </a:rPr>
              <a:t>Contractors · grant-funded</a:t>
            </a:r>
            <a:endParaRPr lang="en-US" sz="1100" dirty="0"/>
          </a:p>
        </p:txBody>
      </p:sp>
      <p:sp>
        <p:nvSpPr>
          <p:cNvPr id="64" name="Shape 62"/>
          <p:cNvSpPr/>
          <p:nvPr/>
        </p:nvSpPr>
        <p:spPr>
          <a:xfrm>
            <a:off x="548640" y="5120640"/>
            <a:ext cx="11064240" cy="1188720"/>
          </a:xfrm>
          <a:prstGeom prst="roundRect">
            <a:avLst>
              <a:gd name="adj" fmla="val 6154"/>
            </a:avLst>
          </a:prstGeom>
          <a:solidFill>
            <a:srgbClr val="F0E3C4"/>
          </a:solidFill>
          <a:ln w="12700">
            <a:solidFill>
              <a:srgbClr val="C8922F"/>
            </a:solidFill>
            <a:prstDash val="solid"/>
          </a:ln>
        </p:spPr>
      </p:sp>
      <p:sp>
        <p:nvSpPr>
          <p:cNvPr id="65" name="Text 63"/>
          <p:cNvSpPr txBox="1"/>
          <p:nvPr/>
        </p:nvSpPr>
        <p:spPr>
          <a:xfrm>
            <a:off x="777240" y="5230368"/>
            <a:ext cx="1965960" cy="822960"/>
          </a:xfrm>
          <a:prstGeom prst="rect">
            <a:avLst/>
          </a:prstGeom>
          <a:noFill/>
          <a:ln/>
        </p:spPr>
        <p:txBody>
          <a:bodyPr wrap="square" lIns="0" tIns="0" rIns="0" bIns="0" rtlCol="0" anchor="ctr"/>
          <a:lstStyle/>
          <a:p>
            <a:pPr indent="0" marL="0">
              <a:buNone/>
            </a:pPr>
            <a:r>
              <a:rPr lang="en-US" sz="1200" b="1" spc="300" kern="0" dirty="0">
                <a:solidFill>
                  <a:srgbClr val="8A6115"/>
                </a:solidFill>
                <a:latin typeface="Calibri" pitchFamily="34" charset="0"/>
                <a:ea typeface="Calibri" pitchFamily="34" charset="-122"/>
                <a:cs typeface="Calibri" pitchFamily="34" charset="-120"/>
              </a:rPr>
              <a:t>DIGITAL TEAM</a:t>
            </a:r>
            <a:endParaRPr lang="en-US" sz="1200" dirty="0"/>
          </a:p>
          <a:p>
            <a:pPr indent="0" marL="0">
              <a:buNone/>
            </a:pPr>
            <a:r>
              <a:rPr lang="en-US" sz="1150" dirty="0">
                <a:solidFill>
                  <a:srgbClr val="2B2A28"/>
                </a:solidFill>
                <a:latin typeface="Calibri" pitchFamily="34" charset="0"/>
                <a:ea typeface="Calibri" pitchFamily="34" charset="-122"/>
                <a:cs typeface="Calibri" pitchFamily="34" charset="-120"/>
              </a:rPr>
              <a:t>Takes the screen work off every team above</a:t>
            </a:r>
            <a:endParaRPr lang="en-US" sz="1200" dirty="0"/>
          </a:p>
        </p:txBody>
      </p:sp>
      <p:sp>
        <p:nvSpPr>
          <p:cNvPr id="66" name="Shape 64"/>
          <p:cNvSpPr/>
          <p:nvPr/>
        </p:nvSpPr>
        <p:spPr>
          <a:xfrm>
            <a:off x="2880360" y="5239512"/>
            <a:ext cx="2039112" cy="566928"/>
          </a:xfrm>
          <a:prstGeom prst="roundRect">
            <a:avLst>
              <a:gd name="adj" fmla="val 12903"/>
            </a:avLst>
          </a:prstGeom>
          <a:solidFill>
            <a:srgbClr val="FFFFFF"/>
          </a:solidFill>
          <a:ln w="9525">
            <a:solidFill>
              <a:srgbClr val="D9C7A3"/>
            </a:solidFill>
            <a:prstDash val="solid"/>
          </a:ln>
        </p:spPr>
      </p:sp>
      <p:sp>
        <p:nvSpPr>
          <p:cNvPr id="67" name="Text 65"/>
          <p:cNvSpPr txBox="1"/>
          <p:nvPr/>
        </p:nvSpPr>
        <p:spPr>
          <a:xfrm>
            <a:off x="2880360" y="5239512"/>
            <a:ext cx="2039112" cy="566928"/>
          </a:xfrm>
          <a:prstGeom prst="rect">
            <a:avLst/>
          </a:prstGeom>
          <a:noFill/>
          <a:ln/>
        </p:spPr>
        <p:txBody>
          <a:bodyPr wrap="square" lIns="0" tIns="0" rIns="0" bIns="0" rtlCol="0" anchor="ctr"/>
          <a:lstStyle/>
          <a:p>
            <a:pPr algn="ctr" indent="0" marL="0">
              <a:buNone/>
            </a:pPr>
            <a:r>
              <a:rPr lang="en-US" sz="1200" b="1" dirty="0">
                <a:solidFill>
                  <a:srgbClr val="2B2A28"/>
                </a:solidFill>
                <a:latin typeface="Calibri" pitchFamily="34" charset="0"/>
                <a:ea typeface="Calibri" pitchFamily="34" charset="-122"/>
                <a:cs typeface="Calibri" pitchFamily="34" charset="-120"/>
              </a:rPr>
              <a:t>Digital Lead</a:t>
            </a:r>
            <a:endParaRPr lang="en-US" sz="1200" dirty="0"/>
          </a:p>
          <a:p>
            <a:pPr algn="ctr" indent="0" marL="0">
              <a:buNone/>
            </a:pPr>
            <a:r>
              <a:rPr lang="en-US" sz="1000" dirty="0">
                <a:solidFill>
                  <a:srgbClr val="4A5359"/>
                </a:solidFill>
                <a:latin typeface="Calibri" pitchFamily="34" charset="0"/>
                <a:ea typeface="Calibri" pitchFamily="34" charset="-122"/>
                <a:cs typeface="Calibri" pitchFamily="34" charset="-120"/>
              </a:rPr>
              <a:t>Existing staff · 5 hrs/wk</a:t>
            </a:r>
            <a:endParaRPr lang="en-US" sz="1200" dirty="0"/>
          </a:p>
        </p:txBody>
      </p:sp>
      <p:sp>
        <p:nvSpPr>
          <p:cNvPr id="68" name="Shape 66"/>
          <p:cNvSpPr/>
          <p:nvPr/>
        </p:nvSpPr>
        <p:spPr>
          <a:xfrm>
            <a:off x="5029200" y="5239512"/>
            <a:ext cx="2039112" cy="566928"/>
          </a:xfrm>
          <a:prstGeom prst="roundRect">
            <a:avLst>
              <a:gd name="adj" fmla="val 12903"/>
            </a:avLst>
          </a:prstGeom>
          <a:solidFill>
            <a:srgbClr val="FFFFFF"/>
          </a:solidFill>
          <a:ln w="9525">
            <a:solidFill>
              <a:srgbClr val="D9C7A3"/>
            </a:solidFill>
            <a:prstDash val="solid"/>
          </a:ln>
        </p:spPr>
      </p:sp>
      <p:sp>
        <p:nvSpPr>
          <p:cNvPr id="69" name="Text 67"/>
          <p:cNvSpPr txBox="1"/>
          <p:nvPr/>
        </p:nvSpPr>
        <p:spPr>
          <a:xfrm>
            <a:off x="5029200" y="5239512"/>
            <a:ext cx="2039112" cy="566928"/>
          </a:xfrm>
          <a:prstGeom prst="rect">
            <a:avLst/>
          </a:prstGeom>
          <a:noFill/>
          <a:ln/>
        </p:spPr>
        <p:txBody>
          <a:bodyPr wrap="square" lIns="0" tIns="0" rIns="0" bIns="0" rtlCol="0" anchor="ctr"/>
          <a:lstStyle/>
          <a:p>
            <a:pPr algn="ctr" indent="0" marL="0">
              <a:buNone/>
            </a:pPr>
            <a:r>
              <a:rPr lang="en-US" sz="1200" b="1" dirty="0">
                <a:solidFill>
                  <a:srgbClr val="2B2A28"/>
                </a:solidFill>
                <a:latin typeface="Calibri" pitchFamily="34" charset="0"/>
                <a:ea typeface="Calibri" pitchFamily="34" charset="-122"/>
                <a:cs typeface="Calibri" pitchFamily="34" charset="-120"/>
              </a:rPr>
              <a:t>Web &amp; E-commerce</a:t>
            </a:r>
            <a:endParaRPr lang="en-US" sz="1200" dirty="0"/>
          </a:p>
          <a:p>
            <a:pPr algn="ctr" indent="0" marL="0">
              <a:buNone/>
            </a:pPr>
            <a:r>
              <a:rPr lang="en-US" sz="1000" dirty="0">
                <a:solidFill>
                  <a:srgbClr val="4A5359"/>
                </a:solidFill>
                <a:latin typeface="Calibri" pitchFamily="34" charset="0"/>
                <a:ea typeface="Calibri" pitchFamily="34" charset="-122"/>
                <a:cs typeface="Calibri" pitchFamily="34" charset="-120"/>
              </a:rPr>
              <a:t>Freelance Shopify Partner</a:t>
            </a:r>
            <a:endParaRPr lang="en-US" sz="1200" dirty="0"/>
          </a:p>
        </p:txBody>
      </p:sp>
      <p:sp>
        <p:nvSpPr>
          <p:cNvPr id="70" name="Shape 68"/>
          <p:cNvSpPr/>
          <p:nvPr/>
        </p:nvSpPr>
        <p:spPr>
          <a:xfrm>
            <a:off x="7178040" y="5239512"/>
            <a:ext cx="2039112" cy="566928"/>
          </a:xfrm>
          <a:prstGeom prst="roundRect">
            <a:avLst>
              <a:gd name="adj" fmla="val 12903"/>
            </a:avLst>
          </a:prstGeom>
          <a:solidFill>
            <a:srgbClr val="FFFFFF"/>
          </a:solidFill>
          <a:ln w="9525">
            <a:solidFill>
              <a:srgbClr val="D9C7A3"/>
            </a:solidFill>
            <a:prstDash val="solid"/>
          </a:ln>
        </p:spPr>
      </p:sp>
      <p:sp>
        <p:nvSpPr>
          <p:cNvPr id="71" name="Text 69"/>
          <p:cNvSpPr txBox="1"/>
          <p:nvPr/>
        </p:nvSpPr>
        <p:spPr>
          <a:xfrm>
            <a:off x="7178040" y="5239512"/>
            <a:ext cx="2039112" cy="566928"/>
          </a:xfrm>
          <a:prstGeom prst="rect">
            <a:avLst/>
          </a:prstGeom>
          <a:noFill/>
          <a:ln/>
        </p:spPr>
        <p:txBody>
          <a:bodyPr wrap="square" lIns="0" tIns="0" rIns="0" bIns="0" rtlCol="0" anchor="ctr"/>
          <a:lstStyle/>
          <a:p>
            <a:pPr algn="ctr" indent="0" marL="0">
              <a:buNone/>
            </a:pPr>
            <a:r>
              <a:rPr lang="en-US" sz="1200" b="1" dirty="0">
                <a:solidFill>
                  <a:srgbClr val="2B2A28"/>
                </a:solidFill>
                <a:latin typeface="Calibri" pitchFamily="34" charset="0"/>
                <a:ea typeface="Calibri" pitchFamily="34" charset="-122"/>
                <a:cs typeface="Calibri" pitchFamily="34" charset="-120"/>
              </a:rPr>
              <a:t>Content, SEO &amp; AEO</a:t>
            </a:r>
            <a:endParaRPr lang="en-US" sz="1200" dirty="0"/>
          </a:p>
          <a:p>
            <a:pPr algn="ctr" indent="0" marL="0">
              <a:buNone/>
            </a:pPr>
            <a:r>
              <a:rPr lang="en-US" sz="1000" dirty="0">
                <a:solidFill>
                  <a:srgbClr val="4A5359"/>
                </a:solidFill>
                <a:latin typeface="Calibri" pitchFamily="34" charset="0"/>
                <a:ea typeface="Calibri" pitchFamily="34" charset="-122"/>
                <a:cs typeface="Calibri" pitchFamily="34" charset="-120"/>
              </a:rPr>
              <a:t>Fractional + URI intern</a:t>
            </a:r>
            <a:endParaRPr lang="en-US" sz="1200" dirty="0"/>
          </a:p>
        </p:txBody>
      </p:sp>
      <p:sp>
        <p:nvSpPr>
          <p:cNvPr id="72" name="Shape 70"/>
          <p:cNvSpPr/>
          <p:nvPr/>
        </p:nvSpPr>
        <p:spPr>
          <a:xfrm>
            <a:off x="9326880" y="5239512"/>
            <a:ext cx="2039112" cy="566928"/>
          </a:xfrm>
          <a:prstGeom prst="roundRect">
            <a:avLst>
              <a:gd name="adj" fmla="val 12903"/>
            </a:avLst>
          </a:prstGeom>
          <a:solidFill>
            <a:srgbClr val="FFFFFF"/>
          </a:solidFill>
          <a:ln w="9525">
            <a:solidFill>
              <a:srgbClr val="D9C7A3"/>
            </a:solidFill>
            <a:prstDash val="solid"/>
          </a:ln>
        </p:spPr>
      </p:sp>
      <p:sp>
        <p:nvSpPr>
          <p:cNvPr id="73" name="Text 71"/>
          <p:cNvSpPr txBox="1"/>
          <p:nvPr/>
        </p:nvSpPr>
        <p:spPr>
          <a:xfrm>
            <a:off x="9326880" y="5239512"/>
            <a:ext cx="2039112" cy="566928"/>
          </a:xfrm>
          <a:prstGeom prst="rect">
            <a:avLst/>
          </a:prstGeom>
          <a:noFill/>
          <a:ln/>
        </p:spPr>
        <p:txBody>
          <a:bodyPr wrap="square" lIns="0" tIns="0" rIns="0" bIns="0" rtlCol="0" anchor="ctr"/>
          <a:lstStyle/>
          <a:p>
            <a:pPr algn="ctr" indent="0" marL="0">
              <a:buNone/>
            </a:pPr>
            <a:r>
              <a:rPr lang="en-US" sz="1200" b="1" dirty="0">
                <a:solidFill>
                  <a:srgbClr val="2B2A28"/>
                </a:solidFill>
                <a:latin typeface="Calibri" pitchFamily="34" charset="0"/>
                <a:ea typeface="Calibri" pitchFamily="34" charset="-122"/>
                <a:cs typeface="Calibri" pitchFamily="34" charset="-120"/>
              </a:rPr>
              <a:t>Analytics &amp; Data</a:t>
            </a:r>
            <a:endParaRPr lang="en-US" sz="1200" dirty="0"/>
          </a:p>
          <a:p>
            <a:pPr algn="ctr" indent="0" marL="0">
              <a:buNone/>
            </a:pPr>
            <a:r>
              <a:rPr lang="en-US" sz="1000" dirty="0">
                <a:solidFill>
                  <a:srgbClr val="4A5359"/>
                </a:solidFill>
                <a:latin typeface="Calibri" pitchFamily="34" charset="0"/>
                <a:ea typeface="Calibri" pitchFamily="34" charset="-122"/>
                <a:cs typeface="Calibri" pitchFamily="34" charset="-120"/>
              </a:rPr>
              <a:t>Set up once, run monthly</a:t>
            </a:r>
            <a:endParaRPr lang="en-US" sz="1200" dirty="0"/>
          </a:p>
        </p:txBody>
      </p:sp>
      <p:sp>
        <p:nvSpPr>
          <p:cNvPr id="74" name="Text 72"/>
          <p:cNvSpPr txBox="1"/>
          <p:nvPr/>
        </p:nvSpPr>
        <p:spPr>
          <a:xfrm>
            <a:off x="2880360" y="5897880"/>
            <a:ext cx="8503920" cy="320040"/>
          </a:xfrm>
          <a:prstGeom prst="rect">
            <a:avLst/>
          </a:prstGeom>
          <a:noFill/>
          <a:ln/>
        </p:spPr>
        <p:txBody>
          <a:bodyPr wrap="square" lIns="0" tIns="0" rIns="0" bIns="0" rtlCol="0" anchor="ctr"/>
          <a:lstStyle/>
          <a:p>
            <a:pPr indent="0" marL="0">
              <a:buNone/>
            </a:pPr>
            <a:r>
              <a:rPr lang="en-US" sz="1100" b="1" dirty="0">
                <a:solidFill>
                  <a:srgbClr val="8A6115"/>
                </a:solidFill>
                <a:latin typeface="Calibri" pitchFamily="34" charset="0"/>
                <a:ea typeface="Calibri" pitchFamily="34" charset="-122"/>
                <a:cs typeface="Calibri" pitchFamily="34" charset="-120"/>
              </a:rPr>
              <a:t>AI helpers:  </a:t>
            </a:r>
            <a:pPr indent="0" marL="0">
              <a:buNone/>
            </a:pPr>
            <a:r>
              <a:rPr lang="en-US" sz="1100" dirty="0">
                <a:solidFill>
                  <a:srgbClr val="2B2A28"/>
                </a:solidFill>
                <a:latin typeface="Calibri" pitchFamily="34" charset="0"/>
                <a:ea typeface="Calibri" pitchFamily="34" charset="-122"/>
                <a:cs typeface="Calibri" pitchFamily="34" charset="-120"/>
              </a:rPr>
              <a:t>Scout · Inspector · Fixer · Storyteller · Voice · Survey-Taker · Grants, plus service and books helpers. They draft; a person decides.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15</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STRATEGY &amp; FINANCE</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One function that plans, keeps the books and wins grants</a:t>
            </a:r>
            <a:endParaRPr lang="en-US" sz="3000" dirty="0"/>
          </a:p>
        </p:txBody>
      </p:sp>
      <p:sp>
        <p:nvSpPr>
          <p:cNvPr id="5" name="Shape 3"/>
          <p:cNvSpPr/>
          <p:nvPr/>
        </p:nvSpPr>
        <p:spPr>
          <a:xfrm>
            <a:off x="548640" y="1554480"/>
            <a:ext cx="3566160" cy="3931920"/>
          </a:xfrm>
          <a:prstGeom prst="roundRect">
            <a:avLst>
              <a:gd name="adj" fmla="val 2051"/>
            </a:avLst>
          </a:prstGeom>
          <a:solidFill>
            <a:srgbClr val="FFFFFF"/>
          </a:solidFill>
          <a:ln w="9525">
            <a:solidFill>
              <a:srgbClr val="D9C7A3"/>
            </a:solidFill>
            <a:prstDash val="solid"/>
          </a:ln>
        </p:spPr>
      </p:sp>
      <p:sp>
        <p:nvSpPr>
          <p:cNvPr id="6" name="Shape 4"/>
          <p:cNvSpPr/>
          <p:nvPr/>
        </p:nvSpPr>
        <p:spPr>
          <a:xfrm>
            <a:off x="777240" y="1783080"/>
            <a:ext cx="411480" cy="411480"/>
          </a:xfrm>
          <a:prstGeom prst="ellipse">
            <a:avLst/>
          </a:prstGeom>
          <a:solidFill>
            <a:srgbClr val="2E4057"/>
          </a:solidFill>
          <a:ln w="12700">
            <a:solidFill>
              <a:srgbClr val="2E4057"/>
            </a:solidFill>
            <a:prstDash val="solid"/>
          </a:ln>
        </p:spPr>
      </p:sp>
      <p:sp>
        <p:nvSpPr>
          <p:cNvPr id="7" name="Text 5"/>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25880" y="1755648"/>
            <a:ext cx="2606040" cy="457200"/>
          </a:xfrm>
          <a:prstGeom prst="rect">
            <a:avLst/>
          </a:prstGeom>
          <a:noFill/>
          <a:ln/>
        </p:spPr>
        <p:txBody>
          <a:bodyPr wrap="square" lIns="0" tIns="0" rIns="0" bIns="0" rtlCol="0" anchor="ctr"/>
          <a:lstStyle/>
          <a:p>
            <a:pPr indent="0" marL="0">
              <a:buNone/>
            </a:pPr>
            <a:r>
              <a:rPr lang="en-US" sz="1600" b="1" dirty="0">
                <a:solidFill>
                  <a:srgbClr val="2B2A28"/>
                </a:solidFill>
                <a:latin typeface="Cambria" pitchFamily="34" charset="0"/>
                <a:ea typeface="Cambria" pitchFamily="34" charset="-122"/>
                <a:cs typeface="Cambria" pitchFamily="34" charset="-120"/>
              </a:rPr>
              <a:t>Strategy &amp; Planning</a:t>
            </a:r>
            <a:endParaRPr lang="en-US" sz="1600" dirty="0"/>
          </a:p>
        </p:txBody>
      </p:sp>
      <p:sp>
        <p:nvSpPr>
          <p:cNvPr id="9" name="Text 7"/>
          <p:cNvSpPr txBox="1"/>
          <p:nvPr/>
        </p:nvSpPr>
        <p:spPr>
          <a:xfrm>
            <a:off x="777240" y="2286000"/>
            <a:ext cx="3154680" cy="457200"/>
          </a:xfrm>
          <a:prstGeom prst="rect">
            <a:avLst/>
          </a:prstGeom>
          <a:noFill/>
          <a:ln/>
        </p:spPr>
        <p:txBody>
          <a:bodyPr wrap="square" lIns="0" tIns="0" rIns="0" bIns="0" rtlCol="0" anchor="t"/>
          <a:lstStyle/>
          <a:p>
            <a:pPr indent="0" marL="0">
              <a:buNone/>
            </a:pPr>
            <a:r>
              <a:rPr lang="en-US" sz="1100" i="1" dirty="0">
                <a:solidFill>
                  <a:srgbClr val="4A5359"/>
                </a:solidFill>
                <a:latin typeface="Calibri" pitchFamily="34" charset="0"/>
                <a:ea typeface="Calibri" pitchFamily="34" charset="-122"/>
                <a:cs typeface="Calibri" pitchFamily="34" charset="-120"/>
              </a:rPr>
              <a:t>Owners, with an outside advisor and a quarterly advisory group</a:t>
            </a:r>
            <a:endParaRPr lang="en-US" sz="1100" dirty="0"/>
          </a:p>
        </p:txBody>
      </p:sp>
      <p:sp>
        <p:nvSpPr>
          <p:cNvPr id="10" name="Text 8"/>
          <p:cNvSpPr txBox="1"/>
          <p:nvPr/>
        </p:nvSpPr>
        <p:spPr>
          <a:xfrm>
            <a:off x="777240" y="2788920"/>
            <a:ext cx="3154680" cy="14630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Vision, objectives and the annual plan</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Budget and phase-gate reviews</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Pricing and margin decisions</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Capital, debt and grant-match plan</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Ownership transition plan</a:t>
            </a:r>
            <a:endParaRPr lang="en-US" sz="1200" dirty="0"/>
          </a:p>
        </p:txBody>
      </p:sp>
      <p:sp>
        <p:nvSpPr>
          <p:cNvPr id="11" name="Text 9"/>
          <p:cNvSpPr txBox="1"/>
          <p:nvPr/>
        </p:nvSpPr>
        <p:spPr>
          <a:xfrm>
            <a:off x="777240" y="4297680"/>
            <a:ext cx="3154680" cy="548640"/>
          </a:xfrm>
          <a:prstGeom prst="rect">
            <a:avLst/>
          </a:prstGeom>
          <a:noFill/>
          <a:ln/>
        </p:spPr>
        <p:txBody>
          <a:bodyPr wrap="square" lIns="0" tIns="0" rIns="0" bIns="0" rtlCol="0" anchor="t"/>
          <a:lstStyle/>
          <a:p>
            <a:pPr indent="0" marL="0">
              <a:buNone/>
            </a:pPr>
            <a:r>
              <a:rPr lang="en-US" sz="1000" b="1" spc="200" kern="0" dirty="0">
                <a:solidFill>
                  <a:srgbClr val="8A6115"/>
                </a:solidFill>
                <a:latin typeface="Calibri" pitchFamily="34" charset="0"/>
                <a:ea typeface="Calibri" pitchFamily="34" charset="-122"/>
                <a:cs typeface="Calibri" pitchFamily="34" charset="-120"/>
              </a:rPr>
              <a:t>TOOLS  </a:t>
            </a:r>
            <a:pPr indent="0" marL="0">
              <a:buNone/>
            </a:pPr>
            <a:r>
              <a:rPr lang="en-US" sz="1050" dirty="0">
                <a:solidFill>
                  <a:srgbClr val="4A5359"/>
                </a:solidFill>
                <a:latin typeface="Calibri" pitchFamily="34" charset="0"/>
                <a:ea typeface="Calibri" pitchFamily="34" charset="-122"/>
                <a:cs typeface="Calibri" pitchFamily="34" charset="-120"/>
              </a:rPr>
              <a:t>Budget model (Excel), KPI dashboard (Looker Studio, free), AI assistant for scenarios</a:t>
            </a:r>
            <a:endParaRPr lang="en-US" sz="1000" dirty="0"/>
          </a:p>
        </p:txBody>
      </p:sp>
      <p:sp>
        <p:nvSpPr>
          <p:cNvPr id="12" name="Text 10"/>
          <p:cNvSpPr txBox="1"/>
          <p:nvPr/>
        </p:nvSpPr>
        <p:spPr>
          <a:xfrm>
            <a:off x="777240" y="4846320"/>
            <a:ext cx="3154680" cy="59436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Owner time</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Weekly 30 min · monthly 90 min · quarterly half day</a:t>
            </a:r>
            <a:endParaRPr lang="en-US" sz="1700" dirty="0"/>
          </a:p>
        </p:txBody>
      </p:sp>
      <p:sp>
        <p:nvSpPr>
          <p:cNvPr id="13" name="Shape 11"/>
          <p:cNvSpPr/>
          <p:nvPr/>
        </p:nvSpPr>
        <p:spPr>
          <a:xfrm>
            <a:off x="4297680" y="1554480"/>
            <a:ext cx="3566160" cy="3931920"/>
          </a:xfrm>
          <a:prstGeom prst="roundRect">
            <a:avLst>
              <a:gd name="adj" fmla="val 2051"/>
            </a:avLst>
          </a:prstGeom>
          <a:solidFill>
            <a:srgbClr val="FFFFFF"/>
          </a:solidFill>
          <a:ln w="9525">
            <a:solidFill>
              <a:srgbClr val="D9C7A3"/>
            </a:solidFill>
            <a:prstDash val="solid"/>
          </a:ln>
        </p:spPr>
      </p:sp>
      <p:sp>
        <p:nvSpPr>
          <p:cNvPr id="14" name="Shape 12"/>
          <p:cNvSpPr/>
          <p:nvPr/>
        </p:nvSpPr>
        <p:spPr>
          <a:xfrm>
            <a:off x="4526280" y="1783080"/>
            <a:ext cx="411480" cy="411480"/>
          </a:xfrm>
          <a:prstGeom prst="ellipse">
            <a:avLst/>
          </a:prstGeom>
          <a:solidFill>
            <a:srgbClr val="C8922F"/>
          </a:solidFill>
          <a:ln w="12700">
            <a:solidFill>
              <a:srgbClr val="C8922F"/>
            </a:solidFill>
            <a:prstDash val="solid"/>
          </a:ln>
        </p:spPr>
      </p:sp>
      <p:sp>
        <p:nvSpPr>
          <p:cNvPr id="15" name="Text 13"/>
          <p:cNvSpPr txBox="1"/>
          <p:nvPr/>
        </p:nvSpPr>
        <p:spPr>
          <a:xfrm>
            <a:off x="4526280" y="178308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2</a:t>
            </a:r>
            <a:endParaRPr lang="en-US" sz="1200" dirty="0"/>
          </a:p>
        </p:txBody>
      </p:sp>
      <p:sp>
        <p:nvSpPr>
          <p:cNvPr id="16" name="Text 14"/>
          <p:cNvSpPr txBox="1"/>
          <p:nvPr/>
        </p:nvSpPr>
        <p:spPr>
          <a:xfrm>
            <a:off x="5074920" y="1755648"/>
            <a:ext cx="2606040" cy="457200"/>
          </a:xfrm>
          <a:prstGeom prst="rect">
            <a:avLst/>
          </a:prstGeom>
          <a:noFill/>
          <a:ln/>
        </p:spPr>
        <p:txBody>
          <a:bodyPr wrap="square" lIns="0" tIns="0" rIns="0" bIns="0" rtlCol="0" anchor="ctr"/>
          <a:lstStyle/>
          <a:p>
            <a:pPr indent="0" marL="0">
              <a:buNone/>
            </a:pPr>
            <a:r>
              <a:rPr lang="en-US" sz="1600" b="1" dirty="0">
                <a:solidFill>
                  <a:srgbClr val="2B2A28"/>
                </a:solidFill>
                <a:latin typeface="Cambria" pitchFamily="34" charset="0"/>
                <a:ea typeface="Cambria" pitchFamily="34" charset="-122"/>
                <a:cs typeface="Cambria" pitchFamily="34" charset="-120"/>
              </a:rPr>
              <a:t>Finance &amp; Bookkeeping</a:t>
            </a:r>
            <a:endParaRPr lang="en-US" sz="1600" dirty="0"/>
          </a:p>
        </p:txBody>
      </p:sp>
      <p:sp>
        <p:nvSpPr>
          <p:cNvPr id="17" name="Text 15"/>
          <p:cNvSpPr txBox="1"/>
          <p:nvPr/>
        </p:nvSpPr>
        <p:spPr>
          <a:xfrm>
            <a:off x="4526280" y="2286000"/>
            <a:ext cx="3154680" cy="457200"/>
          </a:xfrm>
          <a:prstGeom prst="rect">
            <a:avLst/>
          </a:prstGeom>
          <a:noFill/>
          <a:ln/>
        </p:spPr>
        <p:txBody>
          <a:bodyPr wrap="square" lIns="0" tIns="0" rIns="0" bIns="0" rtlCol="0" anchor="t"/>
          <a:lstStyle/>
          <a:p>
            <a:pPr indent="0" marL="0">
              <a:buNone/>
            </a:pPr>
            <a:r>
              <a:rPr lang="en-US" sz="1100" i="1" dirty="0">
                <a:solidFill>
                  <a:srgbClr val="4A5359"/>
                </a:solidFill>
                <a:latin typeface="Calibri" pitchFamily="34" charset="0"/>
                <a:ea typeface="Calibri" pitchFamily="34" charset="-122"/>
                <a:cs typeface="Calibri" pitchFamily="34" charset="-120"/>
              </a:rPr>
              <a:t>Contract bookkeeper, 8–15 hrs/mo; cost accountant for unit costs</a:t>
            </a:r>
            <a:endParaRPr lang="en-US" sz="1100" dirty="0"/>
          </a:p>
        </p:txBody>
      </p:sp>
      <p:sp>
        <p:nvSpPr>
          <p:cNvPr id="18" name="Text 16"/>
          <p:cNvSpPr txBox="1"/>
          <p:nvPr/>
        </p:nvSpPr>
        <p:spPr>
          <a:xfrm>
            <a:off x="4526280" y="2788920"/>
            <a:ext cx="3154680" cy="14630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Bank feeds, bills and invoices</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Month-end close by day 10</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Profit by channel and by product</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13-week cash forecast</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Sales tax, payroll hand-off, debt schedule</a:t>
            </a:r>
            <a:endParaRPr lang="en-US" sz="1200" dirty="0"/>
          </a:p>
        </p:txBody>
      </p:sp>
      <p:sp>
        <p:nvSpPr>
          <p:cNvPr id="19" name="Text 17"/>
          <p:cNvSpPr txBox="1"/>
          <p:nvPr/>
        </p:nvSpPr>
        <p:spPr>
          <a:xfrm>
            <a:off x="4526280" y="4297680"/>
            <a:ext cx="3154680" cy="548640"/>
          </a:xfrm>
          <a:prstGeom prst="rect">
            <a:avLst/>
          </a:prstGeom>
          <a:noFill/>
          <a:ln/>
        </p:spPr>
        <p:txBody>
          <a:bodyPr wrap="square" lIns="0" tIns="0" rIns="0" bIns="0" rtlCol="0" anchor="t"/>
          <a:lstStyle/>
          <a:p>
            <a:pPr indent="0" marL="0">
              <a:buNone/>
            </a:pPr>
            <a:r>
              <a:rPr lang="en-US" sz="1000" b="1" spc="200" kern="0" dirty="0">
                <a:solidFill>
                  <a:srgbClr val="8A6115"/>
                </a:solidFill>
                <a:latin typeface="Calibri" pitchFamily="34" charset="0"/>
                <a:ea typeface="Calibri" pitchFamily="34" charset="-122"/>
                <a:cs typeface="Calibri" pitchFamily="34" charset="-120"/>
              </a:rPr>
              <a:t>TOOLS  </a:t>
            </a:r>
            <a:pPr indent="0" marL="0">
              <a:buNone/>
            </a:pPr>
            <a:r>
              <a:rPr lang="en-US" sz="1050" dirty="0">
                <a:solidFill>
                  <a:srgbClr val="4A5359"/>
                </a:solidFill>
                <a:latin typeface="Calibri" pitchFamily="34" charset="0"/>
                <a:ea typeface="Calibri" pitchFamily="34" charset="-122"/>
                <a:cs typeface="Calibri" pitchFamily="34" charset="-120"/>
              </a:rPr>
              <a:t>QuickBooks Online ($38–85/mo), Shopify-to-QuickBooks sync, receipt capture</a:t>
            </a:r>
            <a:endParaRPr lang="en-US" sz="1000" dirty="0"/>
          </a:p>
        </p:txBody>
      </p:sp>
      <p:sp>
        <p:nvSpPr>
          <p:cNvPr id="20" name="Text 18"/>
          <p:cNvSpPr txBox="1"/>
          <p:nvPr/>
        </p:nvSpPr>
        <p:spPr>
          <a:xfrm>
            <a:off x="4526280" y="4846320"/>
            <a:ext cx="3154680" cy="59436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$3.0k–7.2k</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a year, plus software</a:t>
            </a:r>
            <a:endParaRPr lang="en-US" sz="1700" dirty="0"/>
          </a:p>
        </p:txBody>
      </p:sp>
      <p:sp>
        <p:nvSpPr>
          <p:cNvPr id="21" name="Shape 19"/>
          <p:cNvSpPr/>
          <p:nvPr/>
        </p:nvSpPr>
        <p:spPr>
          <a:xfrm>
            <a:off x="8046720" y="1554480"/>
            <a:ext cx="3566160" cy="3931920"/>
          </a:xfrm>
          <a:prstGeom prst="roundRect">
            <a:avLst>
              <a:gd name="adj" fmla="val 2051"/>
            </a:avLst>
          </a:prstGeom>
          <a:solidFill>
            <a:srgbClr val="FFFFFF"/>
          </a:solidFill>
          <a:ln w="9525">
            <a:solidFill>
              <a:srgbClr val="D9C7A3"/>
            </a:solidFill>
            <a:prstDash val="solid"/>
          </a:ln>
        </p:spPr>
      </p:sp>
      <p:sp>
        <p:nvSpPr>
          <p:cNvPr id="22" name="Shape 20"/>
          <p:cNvSpPr/>
          <p:nvPr/>
        </p:nvSpPr>
        <p:spPr>
          <a:xfrm>
            <a:off x="8275320" y="1783080"/>
            <a:ext cx="411480" cy="411480"/>
          </a:xfrm>
          <a:prstGeom prst="ellipse">
            <a:avLst/>
          </a:prstGeom>
          <a:solidFill>
            <a:srgbClr val="2E4057"/>
          </a:solidFill>
          <a:ln w="12700">
            <a:solidFill>
              <a:srgbClr val="2E4057"/>
            </a:solidFill>
            <a:prstDash val="solid"/>
          </a:ln>
        </p:spPr>
      </p:sp>
      <p:sp>
        <p:nvSpPr>
          <p:cNvPr id="23" name="Text 21"/>
          <p:cNvSpPr txBox="1"/>
          <p:nvPr/>
        </p:nvSpPr>
        <p:spPr>
          <a:xfrm>
            <a:off x="82753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4" name="Text 22"/>
          <p:cNvSpPr txBox="1"/>
          <p:nvPr/>
        </p:nvSpPr>
        <p:spPr>
          <a:xfrm>
            <a:off x="8823960" y="1755648"/>
            <a:ext cx="2606040" cy="457200"/>
          </a:xfrm>
          <a:prstGeom prst="rect">
            <a:avLst/>
          </a:prstGeom>
          <a:noFill/>
          <a:ln/>
        </p:spPr>
        <p:txBody>
          <a:bodyPr wrap="square" lIns="0" tIns="0" rIns="0" bIns="0" rtlCol="0" anchor="ctr"/>
          <a:lstStyle/>
          <a:p>
            <a:pPr indent="0" marL="0">
              <a:buNone/>
            </a:pPr>
            <a:r>
              <a:rPr lang="en-US" sz="1600" b="1" dirty="0">
                <a:solidFill>
                  <a:srgbClr val="2B2A28"/>
                </a:solidFill>
                <a:latin typeface="Cambria" pitchFamily="34" charset="0"/>
                <a:ea typeface="Cambria" pitchFamily="34" charset="-122"/>
                <a:cs typeface="Cambria" pitchFamily="34" charset="-120"/>
              </a:rPr>
              <a:t>Grants &amp; Funding</a:t>
            </a:r>
            <a:endParaRPr lang="en-US" sz="1600" dirty="0"/>
          </a:p>
        </p:txBody>
      </p:sp>
      <p:sp>
        <p:nvSpPr>
          <p:cNvPr id="25" name="Text 23"/>
          <p:cNvSpPr txBox="1"/>
          <p:nvPr/>
        </p:nvSpPr>
        <p:spPr>
          <a:xfrm>
            <a:off x="8275320" y="2286000"/>
            <a:ext cx="3154680" cy="457200"/>
          </a:xfrm>
          <a:prstGeom prst="rect">
            <a:avLst/>
          </a:prstGeom>
          <a:noFill/>
          <a:ln/>
        </p:spPr>
        <p:txBody>
          <a:bodyPr wrap="square" lIns="0" tIns="0" rIns="0" bIns="0" rtlCol="0" anchor="t"/>
          <a:lstStyle/>
          <a:p>
            <a:pPr indent="0" marL="0">
              <a:buNone/>
            </a:pPr>
            <a:r>
              <a:rPr lang="en-US" sz="1100" i="1" dirty="0">
                <a:solidFill>
                  <a:srgbClr val="4A5359"/>
                </a:solidFill>
                <a:latin typeface="Calibri" pitchFamily="34" charset="0"/>
                <a:ea typeface="Calibri" pitchFamily="34" charset="-122"/>
                <a:cs typeface="Calibri" pitchFamily="34" charset="-120"/>
              </a:rPr>
              <a:t>Finance leads; the grants helper scouts and drafts; a contract writer handles federal applications</a:t>
            </a:r>
            <a:endParaRPr lang="en-US" sz="1100" dirty="0"/>
          </a:p>
        </p:txBody>
      </p:sp>
      <p:sp>
        <p:nvSpPr>
          <p:cNvPr id="26" name="Text 24"/>
          <p:cNvSpPr txBox="1"/>
          <p:nvPr/>
        </p:nvSpPr>
        <p:spPr>
          <a:xfrm>
            <a:off x="8275320" y="2788920"/>
            <a:ext cx="3154680" cy="14630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SAM.gov and UEI registration</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Grant calendar and fit scoring</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Reusable business profile and budgets</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Match documentation from the time log</a:t>
            </a:r>
            <a:endParaRPr lang="en-US" sz="1200" dirty="0"/>
          </a:p>
          <a:p>
            <a:pPr marL="342900" indent="-342900">
              <a:spcAft>
                <a:spcPts val="200"/>
              </a:spcAft>
              <a:buSzPct val="100000"/>
              <a:buChar char="•"/>
            </a:pPr>
            <a:r>
              <a:rPr lang="en-US" sz="1200" dirty="0">
                <a:solidFill>
                  <a:srgbClr val="2B2A28"/>
                </a:solidFill>
                <a:latin typeface="Calibri" pitchFamily="34" charset="0"/>
                <a:ea typeface="Calibri" pitchFamily="34" charset="-122"/>
                <a:cs typeface="Calibri" pitchFamily="34" charset="-120"/>
              </a:rPr>
              <a:t>Post-award reporting</a:t>
            </a:r>
            <a:endParaRPr lang="en-US" sz="1200" dirty="0"/>
          </a:p>
        </p:txBody>
      </p:sp>
      <p:sp>
        <p:nvSpPr>
          <p:cNvPr id="27" name="Text 25"/>
          <p:cNvSpPr txBox="1"/>
          <p:nvPr/>
        </p:nvSpPr>
        <p:spPr>
          <a:xfrm>
            <a:off x="8275320" y="4297680"/>
            <a:ext cx="3154680" cy="548640"/>
          </a:xfrm>
          <a:prstGeom prst="rect">
            <a:avLst/>
          </a:prstGeom>
          <a:noFill/>
          <a:ln/>
        </p:spPr>
        <p:txBody>
          <a:bodyPr wrap="square" lIns="0" tIns="0" rIns="0" bIns="0" rtlCol="0" anchor="t"/>
          <a:lstStyle/>
          <a:p>
            <a:pPr indent="0" marL="0">
              <a:buNone/>
            </a:pPr>
            <a:r>
              <a:rPr lang="en-US" sz="1000" b="1" spc="200" kern="0" dirty="0">
                <a:solidFill>
                  <a:srgbClr val="8A6115"/>
                </a:solidFill>
                <a:latin typeface="Calibri" pitchFamily="34" charset="0"/>
                <a:ea typeface="Calibri" pitchFamily="34" charset="-122"/>
                <a:cs typeface="Calibri" pitchFamily="34" charset="-120"/>
              </a:rPr>
              <a:t>TOOLS  </a:t>
            </a:r>
            <a:pPr indent="0" marL="0">
              <a:buNone/>
            </a:pPr>
            <a:r>
              <a:rPr lang="en-US" sz="1050" dirty="0">
                <a:solidFill>
                  <a:srgbClr val="4A5359"/>
                </a:solidFill>
                <a:latin typeface="Calibri" pitchFamily="34" charset="0"/>
                <a:ea typeface="Calibri" pitchFamily="34" charset="-122"/>
                <a:cs typeface="Calibri" pitchFamily="34" charset="-120"/>
              </a:rPr>
              <a:t>Grants.gov and SAM.gov (free), grants tracker, AI drafts</a:t>
            </a:r>
            <a:endParaRPr lang="en-US" sz="1000" dirty="0"/>
          </a:p>
        </p:txBody>
      </p:sp>
      <p:sp>
        <p:nvSpPr>
          <p:cNvPr id="28" name="Text 26"/>
          <p:cNvSpPr txBox="1"/>
          <p:nvPr/>
        </p:nvSpPr>
        <p:spPr>
          <a:xfrm>
            <a:off x="8275320" y="4846320"/>
            <a:ext cx="3154680" cy="59436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$3k–15k</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a year in writer fees. Target $25k–60k awarded in year one</a:t>
            </a:r>
            <a:endParaRPr lang="en-US" sz="1700" dirty="0"/>
          </a:p>
        </p:txBody>
      </p:sp>
      <p:sp>
        <p:nvSpPr>
          <p:cNvPr id="29" name="Shape 27"/>
          <p:cNvSpPr/>
          <p:nvPr/>
        </p:nvSpPr>
        <p:spPr>
          <a:xfrm>
            <a:off x="548640" y="5623560"/>
            <a:ext cx="11064240" cy="594360"/>
          </a:xfrm>
          <a:prstGeom prst="roundRect">
            <a:avLst>
              <a:gd name="adj" fmla="val 12308"/>
            </a:avLst>
          </a:prstGeom>
          <a:solidFill>
            <a:srgbClr val="2E4057"/>
          </a:solidFill>
          <a:ln w="12700">
            <a:solidFill>
              <a:srgbClr val="2E4057"/>
            </a:solidFill>
            <a:prstDash val="solid"/>
          </a:ln>
        </p:spPr>
      </p:sp>
      <p:sp>
        <p:nvSpPr>
          <p:cNvPr id="30" name="Text 28"/>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250" b="1" dirty="0">
                <a:solidFill>
                  <a:srgbClr val="C8922F"/>
                </a:solidFill>
                <a:latin typeface="Calibri" pitchFamily="34" charset="0"/>
                <a:ea typeface="Calibri" pitchFamily="34" charset="-122"/>
                <a:cs typeface="Calibri" pitchFamily="34" charset="-120"/>
              </a:rPr>
              <a:t>Two rules:  </a:t>
            </a:r>
            <a:pPr indent="0" marL="0">
              <a:buNone/>
            </a:pPr>
            <a:r>
              <a:rPr lang="en-US" sz="1250" dirty="0">
                <a:solidFill>
                  <a:srgbClr val="EDE7D8"/>
                </a:solidFill>
                <a:latin typeface="Calibri" pitchFamily="34" charset="0"/>
                <a:ea typeface="Calibri" pitchFamily="34" charset="-122"/>
                <a:cs typeface="Calibri" pitchFamily="34" charset="-120"/>
              </a:rPr>
              <a:t>fund capital with grants, never operations. Pay grant writers a flat or hourly fee, never a percentage of the award.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16</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GRANTS &amp; FUNDING</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Grant writing runs as a finance process, not a scramble</a:t>
            </a:r>
            <a:endParaRPr lang="en-US" sz="3000" dirty="0"/>
          </a:p>
        </p:txBody>
      </p:sp>
      <p:sp>
        <p:nvSpPr>
          <p:cNvPr id="5" name="Shape 3"/>
          <p:cNvSpPr/>
          <p:nvPr/>
        </p:nvSpPr>
        <p:spPr>
          <a:xfrm>
            <a:off x="548640" y="1554480"/>
            <a:ext cx="1737360" cy="1600200"/>
          </a:xfrm>
          <a:prstGeom prst="roundRect">
            <a:avLst>
              <a:gd name="adj" fmla="val 4571"/>
            </a:avLst>
          </a:prstGeom>
          <a:solidFill>
            <a:srgbClr val="F0E3C4"/>
          </a:solidFill>
          <a:ln w="9525">
            <a:solidFill>
              <a:srgbClr val="D9C7A3"/>
            </a:solidFill>
            <a:prstDash val="solid"/>
          </a:ln>
        </p:spPr>
      </p:sp>
      <p:sp>
        <p:nvSpPr>
          <p:cNvPr id="6" name="Shape 4"/>
          <p:cNvSpPr/>
          <p:nvPr/>
        </p:nvSpPr>
        <p:spPr>
          <a:xfrm>
            <a:off x="685800" y="1691640"/>
            <a:ext cx="365760" cy="365760"/>
          </a:xfrm>
          <a:prstGeom prst="ellipse">
            <a:avLst/>
          </a:prstGeom>
          <a:solidFill>
            <a:srgbClr val="2B2A28"/>
          </a:solidFill>
          <a:ln w="12700">
            <a:solidFill>
              <a:srgbClr val="2B2A28"/>
            </a:solidFill>
            <a:prstDash val="solid"/>
          </a:ln>
        </p:spPr>
      </p:sp>
      <p:sp>
        <p:nvSpPr>
          <p:cNvPr id="7" name="Text 5"/>
          <p:cNvSpPr txBox="1"/>
          <p:nvPr/>
        </p:nvSpPr>
        <p:spPr>
          <a:xfrm>
            <a:off x="685800"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15568"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Register</a:t>
            </a:r>
            <a:endParaRPr lang="en-US" sz="1350" dirty="0"/>
          </a:p>
        </p:txBody>
      </p:sp>
      <p:sp>
        <p:nvSpPr>
          <p:cNvPr id="9" name="Text 7"/>
          <p:cNvSpPr txBox="1"/>
          <p:nvPr/>
        </p:nvSpPr>
        <p:spPr>
          <a:xfrm>
            <a:off x="685800"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SAM.gov and UEI. Takes weeks; every federal application needs it</a:t>
            </a:r>
            <a:endParaRPr lang="en-US" sz="1050" dirty="0"/>
          </a:p>
        </p:txBody>
      </p:sp>
      <p:sp>
        <p:nvSpPr>
          <p:cNvPr id="10" name="Shape 8"/>
          <p:cNvSpPr/>
          <p:nvPr/>
        </p:nvSpPr>
        <p:spPr>
          <a:xfrm>
            <a:off x="2414016" y="1554480"/>
            <a:ext cx="1737360" cy="1600200"/>
          </a:xfrm>
          <a:prstGeom prst="roundRect">
            <a:avLst>
              <a:gd name="adj" fmla="val 4571"/>
            </a:avLst>
          </a:prstGeom>
          <a:solidFill>
            <a:srgbClr val="FFFFFF"/>
          </a:solidFill>
          <a:ln w="9525">
            <a:solidFill>
              <a:srgbClr val="D9C7A3"/>
            </a:solidFill>
            <a:prstDash val="solid"/>
          </a:ln>
        </p:spPr>
      </p:sp>
      <p:sp>
        <p:nvSpPr>
          <p:cNvPr id="11" name="Shape 9"/>
          <p:cNvSpPr/>
          <p:nvPr/>
        </p:nvSpPr>
        <p:spPr>
          <a:xfrm>
            <a:off x="2551176" y="1691640"/>
            <a:ext cx="365760" cy="365760"/>
          </a:xfrm>
          <a:prstGeom prst="ellipse">
            <a:avLst/>
          </a:prstGeom>
          <a:solidFill>
            <a:srgbClr val="2B2A28"/>
          </a:solidFill>
          <a:ln w="12700">
            <a:solidFill>
              <a:srgbClr val="2B2A28"/>
            </a:solidFill>
            <a:prstDash val="solid"/>
          </a:ln>
        </p:spPr>
      </p:sp>
      <p:sp>
        <p:nvSpPr>
          <p:cNvPr id="12" name="Text 10"/>
          <p:cNvSpPr txBox="1"/>
          <p:nvPr/>
        </p:nvSpPr>
        <p:spPr>
          <a:xfrm>
            <a:off x="2551176"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2980944"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Scout &amp; score</a:t>
            </a:r>
            <a:endParaRPr lang="en-US" sz="1350" dirty="0"/>
          </a:p>
        </p:txBody>
      </p:sp>
      <p:sp>
        <p:nvSpPr>
          <p:cNvPr id="14" name="Text 12"/>
          <p:cNvSpPr txBox="1"/>
          <p:nvPr/>
        </p:nvSpPr>
        <p:spPr>
          <a:xfrm>
            <a:off x="2551176"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Score 0–100 on eligibility, fit, size, match, timing. 75+ gets drafted</a:t>
            </a:r>
            <a:endParaRPr lang="en-US" sz="1050" dirty="0"/>
          </a:p>
        </p:txBody>
      </p:sp>
      <p:sp>
        <p:nvSpPr>
          <p:cNvPr id="15" name="Shape 13"/>
          <p:cNvSpPr/>
          <p:nvPr/>
        </p:nvSpPr>
        <p:spPr>
          <a:xfrm>
            <a:off x="4279392" y="1554480"/>
            <a:ext cx="1737360" cy="1600200"/>
          </a:xfrm>
          <a:prstGeom prst="roundRect">
            <a:avLst>
              <a:gd name="adj" fmla="val 4571"/>
            </a:avLst>
          </a:prstGeom>
          <a:solidFill>
            <a:srgbClr val="F0E3C4"/>
          </a:solidFill>
          <a:ln w="9525">
            <a:solidFill>
              <a:srgbClr val="D9C7A3"/>
            </a:solidFill>
            <a:prstDash val="solid"/>
          </a:ln>
        </p:spPr>
      </p:sp>
      <p:sp>
        <p:nvSpPr>
          <p:cNvPr id="16" name="Shape 14"/>
          <p:cNvSpPr/>
          <p:nvPr/>
        </p:nvSpPr>
        <p:spPr>
          <a:xfrm>
            <a:off x="4416552" y="1691640"/>
            <a:ext cx="365760" cy="365760"/>
          </a:xfrm>
          <a:prstGeom prst="ellipse">
            <a:avLst/>
          </a:prstGeom>
          <a:solidFill>
            <a:srgbClr val="2B2A28"/>
          </a:solidFill>
          <a:ln w="12700">
            <a:solidFill>
              <a:srgbClr val="2B2A28"/>
            </a:solidFill>
            <a:prstDash val="solid"/>
          </a:ln>
        </p:spPr>
      </p:sp>
      <p:sp>
        <p:nvSpPr>
          <p:cNvPr id="17" name="Text 15"/>
          <p:cNvSpPr txBox="1"/>
          <p:nvPr/>
        </p:nvSpPr>
        <p:spPr>
          <a:xfrm>
            <a:off x="4416552"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4846320"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Prepare</a:t>
            </a:r>
            <a:endParaRPr lang="en-US" sz="1350" dirty="0"/>
          </a:p>
        </p:txBody>
      </p:sp>
      <p:sp>
        <p:nvSpPr>
          <p:cNvPr id="19" name="Text 17"/>
          <p:cNvSpPr txBox="1"/>
          <p:nvPr/>
        </p:nvSpPr>
        <p:spPr>
          <a:xfrm>
            <a:off x="4416552"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One business profile, history statement, budget, match records</a:t>
            </a:r>
            <a:endParaRPr lang="en-US" sz="1050" dirty="0"/>
          </a:p>
        </p:txBody>
      </p:sp>
      <p:sp>
        <p:nvSpPr>
          <p:cNvPr id="20" name="Shape 18"/>
          <p:cNvSpPr/>
          <p:nvPr/>
        </p:nvSpPr>
        <p:spPr>
          <a:xfrm>
            <a:off x="6144768" y="1554480"/>
            <a:ext cx="1737360" cy="1600200"/>
          </a:xfrm>
          <a:prstGeom prst="roundRect">
            <a:avLst>
              <a:gd name="adj" fmla="val 4571"/>
            </a:avLst>
          </a:prstGeom>
          <a:solidFill>
            <a:srgbClr val="FFFFFF"/>
          </a:solidFill>
          <a:ln w="9525">
            <a:solidFill>
              <a:srgbClr val="D9C7A3"/>
            </a:solidFill>
            <a:prstDash val="solid"/>
          </a:ln>
        </p:spPr>
      </p:sp>
      <p:sp>
        <p:nvSpPr>
          <p:cNvPr id="21" name="Shape 19"/>
          <p:cNvSpPr/>
          <p:nvPr/>
        </p:nvSpPr>
        <p:spPr>
          <a:xfrm>
            <a:off x="6281928" y="1691640"/>
            <a:ext cx="365760" cy="365760"/>
          </a:xfrm>
          <a:prstGeom prst="ellipse">
            <a:avLst/>
          </a:prstGeom>
          <a:solidFill>
            <a:srgbClr val="2B2A28"/>
          </a:solidFill>
          <a:ln w="12700">
            <a:solidFill>
              <a:srgbClr val="2B2A28"/>
            </a:solidFill>
            <a:prstDash val="solid"/>
          </a:ln>
        </p:spPr>
      </p:sp>
      <p:sp>
        <p:nvSpPr>
          <p:cNvPr id="22" name="Text 20"/>
          <p:cNvSpPr txBox="1"/>
          <p:nvPr/>
        </p:nvSpPr>
        <p:spPr>
          <a:xfrm>
            <a:off x="6281928"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6711696"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Draft</a:t>
            </a:r>
            <a:endParaRPr lang="en-US" sz="1350" dirty="0"/>
          </a:p>
        </p:txBody>
      </p:sp>
      <p:sp>
        <p:nvSpPr>
          <p:cNvPr id="24" name="Text 22"/>
          <p:cNvSpPr txBox="1"/>
          <p:nvPr/>
        </p:nvSpPr>
        <p:spPr>
          <a:xfrm>
            <a:off x="6281928"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AI drafts from the profile; writer polishes federal apps; owner reviews</a:t>
            </a:r>
            <a:endParaRPr lang="en-US" sz="1050" dirty="0"/>
          </a:p>
        </p:txBody>
      </p:sp>
      <p:sp>
        <p:nvSpPr>
          <p:cNvPr id="25" name="Shape 23"/>
          <p:cNvSpPr/>
          <p:nvPr/>
        </p:nvSpPr>
        <p:spPr>
          <a:xfrm>
            <a:off x="8010144" y="1554480"/>
            <a:ext cx="1737360" cy="1600200"/>
          </a:xfrm>
          <a:prstGeom prst="roundRect">
            <a:avLst>
              <a:gd name="adj" fmla="val 4571"/>
            </a:avLst>
          </a:prstGeom>
          <a:solidFill>
            <a:srgbClr val="F0E3C4"/>
          </a:solidFill>
          <a:ln w="9525">
            <a:solidFill>
              <a:srgbClr val="D9C7A3"/>
            </a:solidFill>
            <a:prstDash val="solid"/>
          </a:ln>
        </p:spPr>
      </p:sp>
      <p:sp>
        <p:nvSpPr>
          <p:cNvPr id="26" name="Shape 24"/>
          <p:cNvSpPr/>
          <p:nvPr/>
        </p:nvSpPr>
        <p:spPr>
          <a:xfrm>
            <a:off x="8147304" y="1691640"/>
            <a:ext cx="365760" cy="365760"/>
          </a:xfrm>
          <a:prstGeom prst="ellipse">
            <a:avLst/>
          </a:prstGeom>
          <a:solidFill>
            <a:srgbClr val="2B2A28"/>
          </a:solidFill>
          <a:ln w="12700">
            <a:solidFill>
              <a:srgbClr val="2B2A28"/>
            </a:solidFill>
            <a:prstDash val="solid"/>
          </a:ln>
        </p:spPr>
      </p:sp>
      <p:sp>
        <p:nvSpPr>
          <p:cNvPr id="27" name="Text 25"/>
          <p:cNvSpPr txBox="1"/>
          <p:nvPr/>
        </p:nvSpPr>
        <p:spPr>
          <a:xfrm>
            <a:off x="8147304"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8577072"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Submit</a:t>
            </a:r>
            <a:endParaRPr lang="en-US" sz="1350" dirty="0"/>
          </a:p>
        </p:txBody>
      </p:sp>
      <p:sp>
        <p:nvSpPr>
          <p:cNvPr id="29" name="Text 27"/>
          <p:cNvSpPr txBox="1"/>
          <p:nvPr/>
        </p:nvSpPr>
        <p:spPr>
          <a:xfrm>
            <a:off x="8147304"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A person submits. Certifications are legal statements</a:t>
            </a:r>
            <a:endParaRPr lang="en-US" sz="1050" dirty="0"/>
          </a:p>
        </p:txBody>
      </p:sp>
      <p:sp>
        <p:nvSpPr>
          <p:cNvPr id="30" name="Shape 28"/>
          <p:cNvSpPr/>
          <p:nvPr/>
        </p:nvSpPr>
        <p:spPr>
          <a:xfrm>
            <a:off x="9875520" y="1554480"/>
            <a:ext cx="1737360" cy="1600200"/>
          </a:xfrm>
          <a:prstGeom prst="roundRect">
            <a:avLst>
              <a:gd name="adj" fmla="val 4571"/>
            </a:avLst>
          </a:prstGeom>
          <a:solidFill>
            <a:srgbClr val="FFFFFF"/>
          </a:solidFill>
          <a:ln w="9525">
            <a:solidFill>
              <a:srgbClr val="D9C7A3"/>
            </a:solidFill>
            <a:prstDash val="solid"/>
          </a:ln>
        </p:spPr>
      </p:sp>
      <p:sp>
        <p:nvSpPr>
          <p:cNvPr id="31" name="Shape 29"/>
          <p:cNvSpPr/>
          <p:nvPr/>
        </p:nvSpPr>
        <p:spPr>
          <a:xfrm>
            <a:off x="10012680" y="1691640"/>
            <a:ext cx="365760" cy="365760"/>
          </a:xfrm>
          <a:prstGeom prst="ellipse">
            <a:avLst/>
          </a:prstGeom>
          <a:solidFill>
            <a:srgbClr val="2B2A28"/>
          </a:solidFill>
          <a:ln w="12700">
            <a:solidFill>
              <a:srgbClr val="2B2A28"/>
            </a:solidFill>
            <a:prstDash val="solid"/>
          </a:ln>
        </p:spPr>
      </p:sp>
      <p:sp>
        <p:nvSpPr>
          <p:cNvPr id="32" name="Text 30"/>
          <p:cNvSpPr txBox="1"/>
          <p:nvPr/>
        </p:nvSpPr>
        <p:spPr>
          <a:xfrm>
            <a:off x="10012680" y="169164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6</a:t>
            </a:r>
            <a:endParaRPr lang="en-US" sz="1200" dirty="0"/>
          </a:p>
        </p:txBody>
      </p:sp>
      <p:sp>
        <p:nvSpPr>
          <p:cNvPr id="33" name="Text 31"/>
          <p:cNvSpPr txBox="1"/>
          <p:nvPr/>
        </p:nvSpPr>
        <p:spPr>
          <a:xfrm>
            <a:off x="10442448" y="1664208"/>
            <a:ext cx="1097280" cy="411480"/>
          </a:xfrm>
          <a:prstGeom prst="rect">
            <a:avLst/>
          </a:prstGeom>
          <a:noFill/>
          <a:ln/>
        </p:spPr>
        <p:txBody>
          <a:bodyPr wrap="square" lIns="0" tIns="0" rIns="0" bIns="0" rtlCol="0" anchor="ctr"/>
          <a:lstStyle/>
          <a:p>
            <a:pPr indent="0" marL="0">
              <a:buNone/>
            </a:pPr>
            <a:r>
              <a:rPr lang="en-US" sz="1350" b="1" dirty="0">
                <a:solidFill>
                  <a:srgbClr val="2B2A28"/>
                </a:solidFill>
                <a:latin typeface="Cambria" pitchFamily="34" charset="0"/>
                <a:ea typeface="Cambria" pitchFamily="34" charset="-122"/>
                <a:cs typeface="Cambria" pitchFamily="34" charset="-120"/>
              </a:rPr>
              <a:t>Report</a:t>
            </a:r>
            <a:endParaRPr lang="en-US" sz="1350" dirty="0"/>
          </a:p>
        </p:txBody>
      </p:sp>
      <p:sp>
        <p:nvSpPr>
          <p:cNvPr id="34" name="Text 32"/>
          <p:cNvSpPr txBox="1"/>
          <p:nvPr/>
        </p:nvSpPr>
        <p:spPr>
          <a:xfrm>
            <a:off x="10012680" y="2148840"/>
            <a:ext cx="1481328" cy="960120"/>
          </a:xfrm>
          <a:prstGeom prst="rect">
            <a:avLst/>
          </a:prstGeom>
          <a:noFill/>
          <a:ln/>
        </p:spPr>
        <p:txBody>
          <a:bodyPr wrap="square" lIns="0" tIns="0" rIns="0" bIns="0" rtlCol="0" anchor="t"/>
          <a:lstStyle/>
          <a:p>
            <a:pPr indent="0" marL="0">
              <a:buNone/>
            </a:pPr>
            <a:r>
              <a:rPr lang="en-US" sz="1050" dirty="0">
                <a:solidFill>
                  <a:srgbClr val="4A5359"/>
                </a:solidFill>
                <a:latin typeface="Calibri" pitchFamily="34" charset="0"/>
                <a:ea typeface="Calibri" pitchFamily="34" charset="-122"/>
                <a:cs typeface="Calibri" pitchFamily="34" charset="-120"/>
              </a:rPr>
              <a:t>Track spending, outcomes and deadlines; feeds the next application</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8229600" cy="914400"/>
        </p:xfrm>
        <a:graphic>
          <a:graphicData uri="http://schemas.openxmlformats.org/drawingml/2006/table">
            <a:tbl>
              <a:tblPr/>
              <a:tblGrid>
                <a:gridCol w="2331720"/>
                <a:gridCol w="1920240"/>
                <a:gridCol w="2148840"/>
                <a:gridCol w="1828800"/>
              </a:tblGrid>
              <a:tr h="347472">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Program</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How Kenyon's qualifies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5720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RI state agriculture grants</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Up to $20,000</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Apply directly; open to an LLC</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Best fit identified in the Growth Plan</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USDA Value-Added Producer Grant</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Up to $50k planning / $200k working capital</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Needs a flint corn farm partner; match required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Start SAM.gov now</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Northeast SARE partnership grants</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Up to $30,000</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Needs a farm partner</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Producer-centered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Historic preservation funders</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Varies; usually matching</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Building, stones, water works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RIHPHC, 1772 Foundation, National Trust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Federal historic rehab tax credit</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20% of qualified costs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A credit, not a grant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RI's 25% credit may have lapsed; confirm</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36" name="Shape 33"/>
          <p:cNvSpPr/>
          <p:nvPr/>
        </p:nvSpPr>
        <p:spPr>
          <a:xfrm>
            <a:off x="9006840" y="3337560"/>
            <a:ext cx="2606040" cy="2633472"/>
          </a:xfrm>
          <a:prstGeom prst="roundRect">
            <a:avLst>
              <a:gd name="adj" fmla="val 2807"/>
            </a:avLst>
          </a:prstGeom>
          <a:solidFill>
            <a:srgbClr val="2B2A28"/>
          </a:solidFill>
          <a:ln w="12700">
            <a:solidFill>
              <a:srgbClr val="2B2A28"/>
            </a:solidFill>
            <a:prstDash val="solid"/>
          </a:ln>
        </p:spPr>
      </p:sp>
      <p:sp>
        <p:nvSpPr>
          <p:cNvPr id="37" name="Text 34"/>
          <p:cNvSpPr txBox="1"/>
          <p:nvPr/>
        </p:nvSpPr>
        <p:spPr>
          <a:xfrm>
            <a:off x="9235440" y="3429000"/>
            <a:ext cx="2194560" cy="2468880"/>
          </a:xfrm>
          <a:prstGeom prst="rect">
            <a:avLst/>
          </a:prstGeom>
          <a:noFill/>
          <a:ln/>
        </p:spPr>
        <p:txBody>
          <a:bodyPr wrap="square" lIns="0" tIns="0" rIns="0" bIns="0" rtlCol="0" anchor="ctr"/>
          <a:lstStyle/>
          <a:p>
            <a:pPr indent="0" marL="0">
              <a:buNone/>
            </a:pPr>
            <a:r>
              <a:rPr lang="en-US" sz="1100" b="1" spc="200" kern="0" dirty="0">
                <a:solidFill>
                  <a:srgbClr val="C8922F"/>
                </a:solidFill>
                <a:latin typeface="Calibri" pitchFamily="34" charset="0"/>
                <a:ea typeface="Calibri" pitchFamily="34" charset="-122"/>
                <a:cs typeface="Calibri" pitchFamily="34" charset="-120"/>
              </a:rPr>
              <a:t>TARGET</a:t>
            </a:r>
            <a:endParaRPr lang="en-US" sz="1100" dirty="0"/>
          </a:p>
          <a:p>
            <a:pPr indent="0" marL="0">
              <a:buNone/>
            </a:pPr>
            <a:r>
              <a:rPr lang="en-US" sz="2800" b="1" dirty="0">
                <a:solidFill>
                  <a:srgbClr val="EDE7D8"/>
                </a:solidFill>
                <a:latin typeface="Cambria" pitchFamily="34" charset="0"/>
                <a:ea typeface="Cambria" pitchFamily="34" charset="-122"/>
                <a:cs typeface="Cambria" pitchFamily="34" charset="-120"/>
              </a:rPr>
              <a:t>$25k–60k</a:t>
            </a:r>
            <a:endParaRPr lang="en-US" sz="1100" dirty="0"/>
          </a:p>
          <a:p>
            <a:pPr indent="0" marL="0">
              <a:buNone/>
            </a:pPr>
            <a:r>
              <a:rPr lang="en-US" sz="1200" dirty="0">
                <a:solidFill>
                  <a:srgbClr val="D9C7A3"/>
                </a:solidFill>
                <a:latin typeface="Calibri" pitchFamily="34" charset="0"/>
                <a:ea typeface="Calibri" pitchFamily="34" charset="-122"/>
                <a:cs typeface="Calibri" pitchFamily="34" charset="-120"/>
              </a:rPr>
              <a:t>in year one</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2200" b="1" dirty="0">
                <a:solidFill>
                  <a:srgbClr val="EDE7D8"/>
                </a:solidFill>
                <a:latin typeface="Cambria" pitchFamily="34" charset="0"/>
                <a:ea typeface="Cambria" pitchFamily="34" charset="-122"/>
                <a:cs typeface="Cambria" pitchFamily="34" charset="-120"/>
              </a:rPr>
              <a:t>$75k–250k</a:t>
            </a:r>
            <a:endParaRPr lang="en-US" sz="1100" dirty="0"/>
          </a:p>
          <a:p>
            <a:pPr indent="0" marL="0">
              <a:buNone/>
            </a:pPr>
            <a:r>
              <a:rPr lang="en-US" sz="1100" dirty="0">
                <a:solidFill>
                  <a:srgbClr val="D9C7A3"/>
                </a:solidFill>
                <a:latin typeface="Calibri" pitchFamily="34" charset="0"/>
                <a:ea typeface="Calibri" pitchFamily="34" charset="-122"/>
                <a:cs typeface="Calibri" pitchFamily="34" charset="-120"/>
              </a:rPr>
              <a:t>a year by year three, once farm and community partners are in place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17</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MAINTAIN · CREW AND ASSETS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The mill is the product. Right now its upkeep has no owner.</a:t>
            </a:r>
            <a:endParaRPr lang="en-US" sz="3000" dirty="0"/>
          </a:p>
        </p:txBody>
      </p:sp>
      <p:sp>
        <p:nvSpPr>
          <p:cNvPr id="5" name="Shape 3"/>
          <p:cNvSpPr/>
          <p:nvPr/>
        </p:nvSpPr>
        <p:spPr>
          <a:xfrm>
            <a:off x="548640" y="1554480"/>
            <a:ext cx="3794760" cy="1325880"/>
          </a:xfrm>
          <a:prstGeom prst="roundRect">
            <a:avLst>
              <a:gd name="adj" fmla="val 5517"/>
            </a:avLst>
          </a:prstGeom>
          <a:solidFill>
            <a:srgbClr val="F0E3C4"/>
          </a:solidFill>
          <a:ln w="12700">
            <a:solidFill>
              <a:srgbClr val="F0E3C4"/>
            </a:solidFill>
            <a:prstDash val="solid"/>
          </a:ln>
        </p:spPr>
      </p:sp>
      <p:sp>
        <p:nvSpPr>
          <p:cNvPr id="6" name="Text 4"/>
          <p:cNvSpPr txBox="1"/>
          <p:nvPr/>
        </p:nvSpPr>
        <p:spPr>
          <a:xfrm>
            <a:off x="777240" y="1554480"/>
            <a:ext cx="3383280" cy="1325880"/>
          </a:xfrm>
          <a:prstGeom prst="rect">
            <a:avLst/>
          </a:prstGeom>
          <a:noFill/>
          <a:ln/>
        </p:spPr>
        <p:txBody>
          <a:bodyPr wrap="square" lIns="0" tIns="0" rIns="0" bIns="0" rtlCol="0" anchor="ctr"/>
          <a:lstStyle/>
          <a:p>
            <a:pPr indent="0" marL="0">
              <a:buNone/>
            </a:pPr>
            <a:r>
              <a:rPr lang="en-US" sz="2800" b="1" dirty="0">
                <a:solidFill>
                  <a:srgbClr val="2B2A28"/>
                </a:solidFill>
                <a:latin typeface="Cambria" pitchFamily="34" charset="0"/>
                <a:ea typeface="Cambria" pitchFamily="34" charset="-122"/>
                <a:cs typeface="Cambria" pitchFamily="34" charset="-120"/>
              </a:rPr>
              <a:t>$22,876</a:t>
            </a:r>
            <a:endParaRPr lang="en-US" sz="2800" dirty="0"/>
          </a:p>
          <a:p>
            <a:pPr indent="0" marL="0">
              <a:buNone/>
            </a:pPr>
            <a:r>
              <a:rPr lang="en-US" sz="1150" dirty="0">
                <a:solidFill>
                  <a:srgbClr val="2B2A28"/>
                </a:solidFill>
                <a:latin typeface="Calibri" pitchFamily="34" charset="0"/>
                <a:ea typeface="Calibri" pitchFamily="34" charset="-122"/>
                <a:cs typeface="Calibri" pitchFamily="34" charset="-120"/>
              </a:rPr>
              <a:t>on repairs over four years, against $48,971 on vehicles. Maintenance fell to $2,586 in 2023.</a:t>
            </a:r>
            <a:endParaRPr lang="en-US" sz="2800" dirty="0"/>
          </a:p>
        </p:txBody>
      </p:sp>
      <p:sp>
        <p:nvSpPr>
          <p:cNvPr id="7" name="Text 5"/>
          <p:cNvSpPr txBox="1"/>
          <p:nvPr/>
        </p:nvSpPr>
        <p:spPr>
          <a:xfrm>
            <a:off x="548640" y="3017520"/>
            <a:ext cx="3657600" cy="256032"/>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THE CREW</a:t>
            </a:r>
            <a:endParaRPr lang="en-US" sz="1100" dirty="0"/>
          </a:p>
        </p:txBody>
      </p:sp>
      <p:sp>
        <p:nvSpPr>
          <p:cNvPr id="8" name="Shape 6"/>
          <p:cNvSpPr/>
          <p:nvPr/>
        </p:nvSpPr>
        <p:spPr>
          <a:xfrm>
            <a:off x="548640" y="3410712"/>
            <a:ext cx="411480" cy="411480"/>
          </a:xfrm>
          <a:prstGeom prst="ellipse">
            <a:avLst/>
          </a:prstGeom>
          <a:solidFill>
            <a:srgbClr val="6E6A63"/>
          </a:solidFill>
          <a:ln w="12700">
            <a:solidFill>
              <a:srgbClr val="6E6A63"/>
            </a:solidFill>
            <a:prstDash val="solid"/>
          </a:ln>
        </p:spPr>
      </p:sp>
      <p:sp>
        <p:nvSpPr>
          <p:cNvPr id="9" name="Text 7"/>
          <p:cNvSpPr txBox="1"/>
          <p:nvPr/>
        </p:nvSpPr>
        <p:spPr>
          <a:xfrm>
            <a:off x="548640" y="341071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097280" y="3337560"/>
            <a:ext cx="3246120" cy="640080"/>
          </a:xfrm>
          <a:prstGeom prst="rect">
            <a:avLst/>
          </a:prstGeom>
          <a:noFill/>
          <a:ln/>
        </p:spPr>
        <p:txBody>
          <a:bodyPr wrap="square" lIns="0" tIns="0" rIns="0" bIns="0" rtlCol="0" anchor="ctr"/>
          <a:lstStyle/>
          <a:p>
            <a:pPr indent="0" marL="0">
              <a:buNone/>
            </a:pPr>
            <a:r>
              <a:rPr lang="en-US" sz="1300" b="1" dirty="0">
                <a:solidFill>
                  <a:srgbClr val="2B2A28"/>
                </a:solidFill>
                <a:latin typeface="Calibri" pitchFamily="34" charset="0"/>
                <a:ea typeface="Calibri" pitchFamily="34" charset="-122"/>
                <a:cs typeface="Calibri" pitchFamily="34" charset="-120"/>
              </a:rPr>
              <a:t>Maintenance lead</a:t>
            </a:r>
            <a:endParaRPr lang="en-US" sz="1300" dirty="0"/>
          </a:p>
          <a:p>
            <a:pPr indent="0" marL="0">
              <a:buNone/>
            </a:pPr>
            <a:r>
              <a:rPr lang="en-US" sz="1100" dirty="0">
                <a:solidFill>
                  <a:srgbClr val="4A5359"/>
                </a:solidFill>
                <a:latin typeface="Calibri" pitchFamily="34" charset="0"/>
                <a:ea typeface="Calibri" pitchFamily="34" charset="-122"/>
                <a:cs typeface="Calibri" pitchFamily="34" charset="-120"/>
              </a:rPr>
              <a:t>Part-time, 8–12 hrs/wk at $22–28/hr: $9.2k–17.5k a year</a:t>
            </a:r>
            <a:endParaRPr lang="en-US" sz="1300" dirty="0"/>
          </a:p>
        </p:txBody>
      </p:sp>
      <p:sp>
        <p:nvSpPr>
          <p:cNvPr id="11" name="Shape 9"/>
          <p:cNvSpPr/>
          <p:nvPr/>
        </p:nvSpPr>
        <p:spPr>
          <a:xfrm>
            <a:off x="548640" y="4123944"/>
            <a:ext cx="411480" cy="411480"/>
          </a:xfrm>
          <a:prstGeom prst="ellipse">
            <a:avLst/>
          </a:prstGeom>
          <a:solidFill>
            <a:srgbClr val="6E6A63"/>
          </a:solidFill>
          <a:ln w="12700">
            <a:solidFill>
              <a:srgbClr val="6E6A63"/>
            </a:solidFill>
            <a:prstDash val="solid"/>
          </a:ln>
        </p:spPr>
      </p:sp>
      <p:sp>
        <p:nvSpPr>
          <p:cNvPr id="12" name="Text 10"/>
          <p:cNvSpPr txBox="1"/>
          <p:nvPr/>
        </p:nvSpPr>
        <p:spPr>
          <a:xfrm>
            <a:off x="548640" y="412394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097280" y="4050792"/>
            <a:ext cx="3246120" cy="640080"/>
          </a:xfrm>
          <a:prstGeom prst="rect">
            <a:avLst/>
          </a:prstGeom>
          <a:noFill/>
          <a:ln/>
        </p:spPr>
        <p:txBody>
          <a:bodyPr wrap="square" lIns="0" tIns="0" rIns="0" bIns="0" rtlCol="0" anchor="ctr"/>
          <a:lstStyle/>
          <a:p>
            <a:pPr indent="0" marL="0">
              <a:buNone/>
            </a:pPr>
            <a:r>
              <a:rPr lang="en-US" sz="1300" b="1" dirty="0">
                <a:solidFill>
                  <a:srgbClr val="2B2A28"/>
                </a:solidFill>
                <a:latin typeface="Calibri" pitchFamily="34" charset="0"/>
                <a:ea typeface="Calibri" pitchFamily="34" charset="-122"/>
                <a:cs typeface="Calibri" pitchFamily="34" charset="-120"/>
              </a:rPr>
              <a:t>Head Miller</a:t>
            </a:r>
            <a:endParaRPr lang="en-US" sz="1300" dirty="0"/>
          </a:p>
          <a:p>
            <a:pPr indent="0" marL="0">
              <a:buNone/>
            </a:pPr>
            <a:r>
              <a:rPr lang="en-US" sz="1100" dirty="0">
                <a:solidFill>
                  <a:srgbClr val="4A5359"/>
                </a:solidFill>
                <a:latin typeface="Calibri" pitchFamily="34" charset="0"/>
                <a:ea typeface="Calibri" pitchFamily="34" charset="-122"/>
                <a:cs typeface="Calibri" pitchFamily="34" charset="-120"/>
              </a:rPr>
              <a:t>Owns the millstone dressing schedule and spare-parts list</a:t>
            </a:r>
            <a:endParaRPr lang="en-US" sz="1300" dirty="0"/>
          </a:p>
        </p:txBody>
      </p:sp>
      <p:sp>
        <p:nvSpPr>
          <p:cNvPr id="14" name="Shape 12"/>
          <p:cNvSpPr/>
          <p:nvPr/>
        </p:nvSpPr>
        <p:spPr>
          <a:xfrm>
            <a:off x="548640" y="4837176"/>
            <a:ext cx="411480" cy="411480"/>
          </a:xfrm>
          <a:prstGeom prst="ellipse">
            <a:avLst/>
          </a:prstGeom>
          <a:solidFill>
            <a:srgbClr val="D9C7A3"/>
          </a:solidFill>
          <a:ln w="12700">
            <a:solidFill>
              <a:srgbClr val="D9C7A3"/>
            </a:solidFill>
            <a:prstDash val="solid"/>
          </a:ln>
        </p:spPr>
      </p:sp>
      <p:sp>
        <p:nvSpPr>
          <p:cNvPr id="15" name="Text 13"/>
          <p:cNvSpPr txBox="1"/>
          <p:nvPr/>
        </p:nvSpPr>
        <p:spPr>
          <a:xfrm>
            <a:off x="548640" y="4837176"/>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097280" y="4764024"/>
            <a:ext cx="3246120" cy="640080"/>
          </a:xfrm>
          <a:prstGeom prst="rect">
            <a:avLst/>
          </a:prstGeom>
          <a:noFill/>
          <a:ln/>
        </p:spPr>
        <p:txBody>
          <a:bodyPr wrap="square" lIns="0" tIns="0" rIns="0" bIns="0" rtlCol="0" anchor="ctr"/>
          <a:lstStyle/>
          <a:p>
            <a:pPr indent="0" marL="0">
              <a:buNone/>
            </a:pPr>
            <a:r>
              <a:rPr lang="en-US" sz="1300" b="1" dirty="0">
                <a:solidFill>
                  <a:srgbClr val="2B2A28"/>
                </a:solidFill>
                <a:latin typeface="Calibri" pitchFamily="34" charset="0"/>
                <a:ea typeface="Calibri" pitchFamily="34" charset="-122"/>
                <a:cs typeface="Calibri" pitchFamily="34" charset="-120"/>
              </a:rPr>
              <a:t>Contractors</a:t>
            </a:r>
            <a:endParaRPr lang="en-US" sz="1300" dirty="0"/>
          </a:p>
          <a:p>
            <a:pPr indent="0" marL="0">
              <a:buNone/>
            </a:pPr>
            <a:r>
              <a:rPr lang="en-US" sz="1100" dirty="0">
                <a:solidFill>
                  <a:srgbClr val="4A5359"/>
                </a:solidFill>
                <a:latin typeface="Calibri" pitchFamily="34" charset="0"/>
                <a:ea typeface="Calibri" pitchFamily="34" charset="-122"/>
                <a:cs typeface="Calibri" pitchFamily="34" charset="-120"/>
              </a:rPr>
              <a:t>Major works only: septic, floor, face lift</a:t>
            </a:r>
            <a:endParaRPr lang="en-US" sz="1300" dirty="0"/>
          </a:p>
        </p:txBody>
      </p:sp>
      <p:sp>
        <p:nvSpPr>
          <p:cNvPr id="17" name="Shape 15"/>
          <p:cNvSpPr/>
          <p:nvPr/>
        </p:nvSpPr>
        <p:spPr>
          <a:xfrm>
            <a:off x="548640" y="5550408"/>
            <a:ext cx="411480" cy="411480"/>
          </a:xfrm>
          <a:prstGeom prst="ellipse">
            <a:avLst/>
          </a:prstGeom>
          <a:solidFill>
            <a:srgbClr val="C8922F"/>
          </a:solidFill>
          <a:ln w="12700">
            <a:solidFill>
              <a:srgbClr val="C8922F"/>
            </a:solidFill>
            <a:prstDash val="solid"/>
          </a:ln>
        </p:spPr>
      </p:sp>
      <p:sp>
        <p:nvSpPr>
          <p:cNvPr id="18" name="Text 16"/>
          <p:cNvSpPr txBox="1"/>
          <p:nvPr/>
        </p:nvSpPr>
        <p:spPr>
          <a:xfrm>
            <a:off x="548640" y="5550408"/>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1097280" y="5477256"/>
            <a:ext cx="3246120" cy="640080"/>
          </a:xfrm>
          <a:prstGeom prst="rect">
            <a:avLst/>
          </a:prstGeom>
          <a:noFill/>
          <a:ln/>
        </p:spPr>
        <p:txBody>
          <a:bodyPr wrap="square" lIns="0" tIns="0" rIns="0" bIns="0" rtlCol="0" anchor="ctr"/>
          <a:lstStyle/>
          <a:p>
            <a:pPr indent="0" marL="0">
              <a:buNone/>
            </a:pPr>
            <a:r>
              <a:rPr lang="en-US" sz="1300" b="1" dirty="0">
                <a:solidFill>
                  <a:srgbClr val="2B2A28"/>
                </a:solidFill>
                <a:latin typeface="Calibri" pitchFamily="34" charset="0"/>
                <a:ea typeface="Calibri" pitchFamily="34" charset="-122"/>
                <a:cs typeface="Calibri" pitchFamily="34" charset="-120"/>
              </a:rPr>
              <a:t>Maintenance reserve</a:t>
            </a:r>
            <a:endParaRPr lang="en-US" sz="1300" dirty="0"/>
          </a:p>
          <a:p>
            <a:pPr indent="0" marL="0">
              <a:buNone/>
            </a:pPr>
            <a:r>
              <a:rPr lang="en-US" sz="1100" dirty="0">
                <a:solidFill>
                  <a:srgbClr val="4A5359"/>
                </a:solidFill>
                <a:latin typeface="Calibri" pitchFamily="34" charset="0"/>
                <a:ea typeface="Calibri" pitchFamily="34" charset="-122"/>
                <a:cs typeface="Calibri" pitchFamily="34" charset="-120"/>
              </a:rPr>
              <a:t>$10k–15k a year for parts, dressing and inspections (proposed)</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09160" y="1554480"/>
          <a:ext cx="6903720" cy="914400"/>
        </p:xfrm>
        <a:graphic>
          <a:graphicData uri="http://schemas.openxmlformats.org/drawingml/2006/table">
            <a:tbl>
              <a:tblPr/>
              <a:tblGrid>
                <a:gridCol w="1691640"/>
                <a:gridCol w="1691640"/>
                <a:gridCol w="1783080"/>
                <a:gridCol w="1737360"/>
              </a:tblGrid>
              <a:tr h="384048">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Asset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What it needs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Investment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Millstones &amp; milling gear</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The product itself. One mill, no backup</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Set dressing schedule; spare parts on hand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From reserve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Water power &amp; sluiceway</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Flood exposure (2010 event)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Yearly inspection; flood continuity plan</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Reserve; get inspection quote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1886 mill building &amp; floor</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Floor cave-in named in 2027 goals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Structural assessment, repair, face lift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8A6115"/>
                          </a:solidFill>
                          <a:latin typeface="Calibri" pitchFamily="34" charset="0"/>
                          <a:ea typeface="Calibri" pitchFamily="34" charset="-122"/>
                          <a:cs typeface="Calibri" pitchFamily="34" charset="-120"/>
                        </a:rPr>
                        <a:t>Quote needed. Preservation grants, 20% federal historic credit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Septic system</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Named in 2027 Mill Health goals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Inspect, then repair or replace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8A6115"/>
                          </a:solidFill>
                          <a:latin typeface="Calibri" pitchFamily="34" charset="0"/>
                          <a:ea typeface="Calibri" pitchFamily="34" charset="-122"/>
                          <a:cs typeface="Calibri" pitchFamily="34" charset="-120"/>
                        </a:rPr>
                        <a:t>Quote needed. Grant or SBA</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Vehicles &amp; delivery</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About twice the repair spend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Cost per route; right-size the fleet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A saving, not a spend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Shop, packing &amp; kayak fleet</a:t>
                      </a:r>
                      <a:endParaRPr lang="en-US" sz="11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Visitor revenue and Q4 speed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Pre-season checks; replacement list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From reserve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18</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ROLE ASSESSMENT · FIRST PASS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Leadership, Make and Maintain</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691640"/>
                <a:gridCol w="1417320"/>
                <a:gridCol w="731520"/>
                <a:gridCol w="2697480"/>
                <a:gridCol w="2286000"/>
                <a:gridCol w="2240280"/>
              </a:tblGrid>
              <a:tr h="411480">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Structure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100" b="1" dirty="0">
                          <a:solidFill>
                            <a:srgbClr val="EDE7D8"/>
                          </a:solidFill>
                          <a:latin typeface="Calibri" pitchFamily="34" charset="0"/>
                          <a:ea typeface="Calibri" pitchFamily="34" charset="-122"/>
                          <a:cs typeface="Calibri" pitchFamily="34" charset="-120"/>
                        </a:rPr>
                        <a:t>AI lift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What AI takes on</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Main gap</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Human offset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731520">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Owners</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Existing</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Weekly dashboard with written commentary, meeting notes, first drafts of reports and grants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Coverage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Every decision runs through them; 20–25 admin hrs/wk</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Operations Manager takes daily operations; advisory group each quarter</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Operations Manager</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New · part-time first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Daily order and stock alerts, SOP library, 12-week grind schedule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Coverage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The role doesn't exist yet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Look inside first and cross-train; hire only against the trigger test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Head Miller &amp; Production</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Core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6E6A63"/>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Demand forecast into a grind schedule; low-stock alerts on grain and packaging</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Coverage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The method lives in one person's head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Apprentice or cross-trained backup; write the method down</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Fulfillment &amp; Shipping</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Core + Q4 crew</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Shipping rates calculated at checkout, store-to-accounting sync, label printing</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Capacity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7–10 day ship times; Q4 spike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Q4 pack crew, 10–12 weeks at $18–24/hr</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Maintenance Crew &amp; Assets</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Part-time lead + contractors</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6E6A63"/>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Preventive maintenance calendar, asset register, parts reorder alerts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Capacity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Maintenance fell to $2,586 in 2023; septic and floor need work</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Maintenance lead 8–12 hrs/wk; contractors for major works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19</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ROLE ASSESSMENT · FIRST PASS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Sell, Serve, Strategy &amp; Finance</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691640"/>
                <a:gridCol w="1417320"/>
                <a:gridCol w="731520"/>
                <a:gridCol w="2697480"/>
                <a:gridCol w="2286000"/>
                <a:gridCol w="2240280"/>
              </a:tblGrid>
              <a:tr h="411480">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Structure</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ctr" indent="0" marL="0">
                        <a:buNone/>
                      </a:pPr>
                      <a:r>
                        <a:rPr lang="en-US" sz="1100" b="1" dirty="0">
                          <a:solidFill>
                            <a:srgbClr val="EDE7D8"/>
                          </a:solidFill>
                          <a:latin typeface="Calibri" pitchFamily="34" charset="0"/>
                          <a:ea typeface="Calibri" pitchFamily="34" charset="-122"/>
                          <a:cs typeface="Calibri" pitchFamily="34" charset="-120"/>
                        </a:rPr>
                        <a:t>AI lift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What AI takes on</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Main gap</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algn="l" indent="0" marL="0">
                        <a:buNone/>
                      </a:pPr>
                      <a:r>
                        <a:rPr lang="en-US" sz="1100" b="1" dirty="0">
                          <a:solidFill>
                            <a:srgbClr val="EDE7D8"/>
                          </a:solidFill>
                          <a:latin typeface="Calibri" pitchFamily="34" charset="0"/>
                          <a:ea typeface="Calibri" pitchFamily="34" charset="-122"/>
                          <a:cs typeface="Calibri" pitchFamily="34" charset="-120"/>
                        </a:rPr>
                        <a:t>Human offset</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Wholesale &amp; Accounts</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Part-time · base + 5–8% commission</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Scout: prospects, contact checks, outreach drafts, reply sorting, reorder reminders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Coverage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36.3% of revenue has no owner</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Part-time rep closes and keeps accounts; interim owner named now</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Visitor Experience</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Seasonal</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6E6A63"/>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Online booking, confirmations, deposits, reminders, visitor surveys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Capacity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Summer and festival peaks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Seasonal hosts at $20–28/hr; on-call pool of 4–6</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Customer Service</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SERVE team · lead + backup</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Reply drafts from a knowledge base, order-status answers, review reply drafts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Capacity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5–7 hrs a week of email and phone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CS lead reassigned 8–10 hrs/wk; Q4 crew trained as backup</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Strategy &amp; Planning</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Owners + outside advisor</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KPI dashboard, variance notes, pricing and scenario models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Capability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Vision, objectives and KPIs still being set</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Quarterly advisory group; outside advisor</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Finance &amp; Bookkeeping</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Contract · 8–15 hrs/mo</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2A28"/>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C8922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Bank rules, receipt capture, month-end close checklist, reporting</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Capability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37% of sales have no product or customer attached</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Contract bookkeeper ($250–600/mo); Kevin on cost accounting</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2B2A28"/>
                          </a:solidFill>
                          <a:latin typeface="Calibri" pitchFamily="34" charset="0"/>
                          <a:ea typeface="Calibri" pitchFamily="34" charset="-122"/>
                          <a:cs typeface="Calibri" pitchFamily="34" charset="-120"/>
                        </a:rPr>
                        <a:t>Grants &amp; Funding</a:t>
                      </a:r>
                      <a:endParaRPr lang="en-US" sz="12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Finance-led · contract writer</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E4057"/>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Scouts and scores grants; drafts from one business profile</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B2A28"/>
                          </a:solidFill>
                          <a:latin typeface="Calibri" pitchFamily="34" charset="0"/>
                          <a:ea typeface="Calibri" pitchFamily="34" charset="-122"/>
                          <a:cs typeface="Calibri" pitchFamily="34" charset="-120"/>
                        </a:rPr>
                        <a:t>Capability  </a:t>
                      </a:r>
                      <a:endParaRPr lang="en-US" sz="1050" dirty="0">
                        <a:latin typeface="Calibri" charset="0"/>
                        <a:ea typeface="Calibri" charset="0"/>
                        <a:cs typeface="Calibri" charset="0"/>
                      </a:endParaRPr>
                    </a:p>
                    <a:p>
                      <a:pPr indent="0" marL="0">
                        <a:buNone/>
                      </a:pPr>
                      <a:r>
                        <a:rPr lang="en-US" sz="1050" dirty="0">
                          <a:solidFill>
                            <a:srgbClr val="4A5359"/>
                          </a:solidFill>
                          <a:latin typeface="Calibri" pitchFamily="34" charset="0"/>
                          <a:ea typeface="Calibri" pitchFamily="34" charset="-122"/>
                          <a:cs typeface="Calibri" pitchFamily="34" charset="-120"/>
                        </a:rPr>
                        <a:t>Federal registration and match rules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Bookkeeper preps budgets; contract writer for federal apps</a:t>
                      </a:r>
                      <a:endParaRPr lang="en-US" sz="1050" dirty="0">
                        <a:latin typeface="Calibri" charset="0"/>
                        <a:ea typeface="Calibri" charset="0"/>
                        <a:cs typeface="Calibri" charset="0"/>
                      </a:endParaRPr>
                    </a:p>
                  </a:txBody>
                  <a:tcPr marL="64008" marR="64008" marT="64008" marB="64008"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20</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THE AI LAYER</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Which helper supports which role</a:t>
            </a:r>
            <a:endParaRPr lang="en-US" sz="3000" dirty="0"/>
          </a:p>
        </p:txBody>
      </p:sp>
      <p:sp>
        <p:nvSpPr>
          <p:cNvPr id="5" name="Text 3"/>
          <p:cNvSpPr txBox="1"/>
          <p:nvPr/>
        </p:nvSpPr>
        <p:spPr>
          <a:xfrm>
            <a:off x="548640" y="1554480"/>
            <a:ext cx="5486400" cy="274320"/>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BUILT TODAY</a:t>
            </a:r>
            <a:endParaRPr lang="en-US" sz="1100" dirty="0"/>
          </a:p>
        </p:txBody>
      </p:sp>
      <p:sp>
        <p:nvSpPr>
          <p:cNvPr id="6" name="Shape 4"/>
          <p:cNvSpPr/>
          <p:nvPr/>
        </p:nvSpPr>
        <p:spPr>
          <a:xfrm>
            <a:off x="548640" y="1874520"/>
            <a:ext cx="5394960" cy="594360"/>
          </a:xfrm>
          <a:prstGeom prst="roundRect">
            <a:avLst>
              <a:gd name="adj" fmla="val 12308"/>
            </a:avLst>
          </a:prstGeom>
          <a:solidFill>
            <a:srgbClr val="FFFFFF"/>
          </a:solidFill>
          <a:ln w="9525">
            <a:solidFill>
              <a:srgbClr val="D9C7A3"/>
            </a:solidFill>
            <a:prstDash val="solid"/>
          </a:ln>
        </p:spPr>
      </p:sp>
      <p:sp>
        <p:nvSpPr>
          <p:cNvPr id="7" name="Shape 5"/>
          <p:cNvSpPr/>
          <p:nvPr/>
        </p:nvSpPr>
        <p:spPr>
          <a:xfrm>
            <a:off x="658368" y="1965960"/>
            <a:ext cx="411480" cy="411480"/>
          </a:xfrm>
          <a:prstGeom prst="ellipse">
            <a:avLst/>
          </a:prstGeom>
          <a:solidFill>
            <a:srgbClr val="C8922F"/>
          </a:solidFill>
          <a:ln w="12700">
            <a:solidFill>
              <a:srgbClr val="C8922F"/>
            </a:solidFill>
            <a:prstDash val="solid"/>
          </a:ln>
        </p:spPr>
      </p:sp>
      <p:sp>
        <p:nvSpPr>
          <p:cNvPr id="8" name="Text 6"/>
          <p:cNvSpPr txBox="1"/>
          <p:nvPr/>
        </p:nvSpPr>
        <p:spPr>
          <a:xfrm>
            <a:off x="658368" y="19659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1</a:t>
            </a:r>
            <a:endParaRPr lang="en-US" sz="1200" dirty="0"/>
          </a:p>
        </p:txBody>
      </p:sp>
      <p:sp>
        <p:nvSpPr>
          <p:cNvPr id="9" name="Text 7"/>
          <p:cNvSpPr txBox="1"/>
          <p:nvPr/>
        </p:nvSpPr>
        <p:spPr>
          <a:xfrm>
            <a:off x="1188720" y="18745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Scout</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Finds wholesale prospects and drafts outreach</a:t>
            </a:r>
            <a:endParaRPr lang="en-US" sz="1250" dirty="0"/>
          </a:p>
        </p:txBody>
      </p:sp>
      <p:sp>
        <p:nvSpPr>
          <p:cNvPr id="10" name="Text 8"/>
          <p:cNvSpPr txBox="1"/>
          <p:nvPr/>
        </p:nvSpPr>
        <p:spPr>
          <a:xfrm>
            <a:off x="4663440" y="18745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Wholesale</a:t>
            </a:r>
            <a:endParaRPr lang="en-US" sz="1100" dirty="0"/>
          </a:p>
        </p:txBody>
      </p:sp>
      <p:sp>
        <p:nvSpPr>
          <p:cNvPr id="11" name="Shape 9"/>
          <p:cNvSpPr/>
          <p:nvPr/>
        </p:nvSpPr>
        <p:spPr>
          <a:xfrm>
            <a:off x="548640" y="2560320"/>
            <a:ext cx="5394960" cy="594360"/>
          </a:xfrm>
          <a:prstGeom prst="roundRect">
            <a:avLst>
              <a:gd name="adj" fmla="val 12308"/>
            </a:avLst>
          </a:prstGeom>
          <a:solidFill>
            <a:srgbClr val="FFFFFF"/>
          </a:solidFill>
          <a:ln w="9525">
            <a:solidFill>
              <a:srgbClr val="D9C7A3"/>
            </a:solidFill>
            <a:prstDash val="solid"/>
          </a:ln>
        </p:spPr>
      </p:sp>
      <p:sp>
        <p:nvSpPr>
          <p:cNvPr id="12" name="Shape 10"/>
          <p:cNvSpPr/>
          <p:nvPr/>
        </p:nvSpPr>
        <p:spPr>
          <a:xfrm>
            <a:off x="658368" y="2651760"/>
            <a:ext cx="411480" cy="411480"/>
          </a:xfrm>
          <a:prstGeom prst="ellipse">
            <a:avLst/>
          </a:prstGeom>
          <a:solidFill>
            <a:srgbClr val="C8922F"/>
          </a:solidFill>
          <a:ln w="12700">
            <a:solidFill>
              <a:srgbClr val="C8922F"/>
            </a:solidFill>
            <a:prstDash val="solid"/>
          </a:ln>
        </p:spPr>
      </p:sp>
      <p:sp>
        <p:nvSpPr>
          <p:cNvPr id="13" name="Text 11"/>
          <p:cNvSpPr txBox="1"/>
          <p:nvPr/>
        </p:nvSpPr>
        <p:spPr>
          <a:xfrm>
            <a:off x="658368" y="26517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188720" y="25603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Inspector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Checks how Kenyon's shows up in Google and AI answers</a:t>
            </a:r>
            <a:endParaRPr lang="en-US" sz="1250" dirty="0"/>
          </a:p>
        </p:txBody>
      </p:sp>
      <p:sp>
        <p:nvSpPr>
          <p:cNvPr id="15" name="Text 13"/>
          <p:cNvSpPr txBox="1"/>
          <p:nvPr/>
        </p:nvSpPr>
        <p:spPr>
          <a:xfrm>
            <a:off x="4663440" y="25603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Marketing</a:t>
            </a:r>
            <a:endParaRPr lang="en-US" sz="1100" dirty="0"/>
          </a:p>
        </p:txBody>
      </p:sp>
      <p:sp>
        <p:nvSpPr>
          <p:cNvPr id="16" name="Shape 14"/>
          <p:cNvSpPr/>
          <p:nvPr/>
        </p:nvSpPr>
        <p:spPr>
          <a:xfrm>
            <a:off x="548640" y="3246120"/>
            <a:ext cx="5394960" cy="594360"/>
          </a:xfrm>
          <a:prstGeom prst="roundRect">
            <a:avLst>
              <a:gd name="adj" fmla="val 12308"/>
            </a:avLst>
          </a:prstGeom>
          <a:solidFill>
            <a:srgbClr val="FFFFFF"/>
          </a:solidFill>
          <a:ln w="9525">
            <a:solidFill>
              <a:srgbClr val="D9C7A3"/>
            </a:solidFill>
            <a:prstDash val="solid"/>
          </a:ln>
        </p:spPr>
      </p:sp>
      <p:sp>
        <p:nvSpPr>
          <p:cNvPr id="17" name="Shape 15"/>
          <p:cNvSpPr/>
          <p:nvPr/>
        </p:nvSpPr>
        <p:spPr>
          <a:xfrm>
            <a:off x="658368" y="3337560"/>
            <a:ext cx="411480" cy="411480"/>
          </a:xfrm>
          <a:prstGeom prst="ellipse">
            <a:avLst/>
          </a:prstGeom>
          <a:solidFill>
            <a:srgbClr val="C8922F"/>
          </a:solidFill>
          <a:ln w="12700">
            <a:solidFill>
              <a:srgbClr val="C8922F"/>
            </a:solidFill>
            <a:prstDash val="solid"/>
          </a:ln>
        </p:spPr>
      </p:sp>
      <p:sp>
        <p:nvSpPr>
          <p:cNvPr id="18" name="Text 16"/>
          <p:cNvSpPr txBox="1"/>
          <p:nvPr/>
        </p:nvSpPr>
        <p:spPr>
          <a:xfrm>
            <a:off x="658368" y="33375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3</a:t>
            </a:r>
            <a:endParaRPr lang="en-US" sz="1200" dirty="0"/>
          </a:p>
        </p:txBody>
      </p:sp>
      <p:sp>
        <p:nvSpPr>
          <p:cNvPr id="19" name="Text 17"/>
          <p:cNvSpPr txBox="1"/>
          <p:nvPr/>
        </p:nvSpPr>
        <p:spPr>
          <a:xfrm>
            <a:off x="1188720" y="32461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Fixer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Prepares website and technical fixes</a:t>
            </a:r>
            <a:endParaRPr lang="en-US" sz="1250" dirty="0"/>
          </a:p>
        </p:txBody>
      </p:sp>
      <p:sp>
        <p:nvSpPr>
          <p:cNvPr id="20" name="Text 18"/>
          <p:cNvSpPr txBox="1"/>
          <p:nvPr/>
        </p:nvSpPr>
        <p:spPr>
          <a:xfrm>
            <a:off x="4663440" y="32461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E-commerce</a:t>
            </a:r>
            <a:endParaRPr lang="en-US" sz="1100" dirty="0"/>
          </a:p>
        </p:txBody>
      </p:sp>
      <p:sp>
        <p:nvSpPr>
          <p:cNvPr id="21" name="Shape 19"/>
          <p:cNvSpPr/>
          <p:nvPr/>
        </p:nvSpPr>
        <p:spPr>
          <a:xfrm>
            <a:off x="548640" y="3931920"/>
            <a:ext cx="5394960" cy="594360"/>
          </a:xfrm>
          <a:prstGeom prst="roundRect">
            <a:avLst>
              <a:gd name="adj" fmla="val 12308"/>
            </a:avLst>
          </a:prstGeom>
          <a:solidFill>
            <a:srgbClr val="FFFFFF"/>
          </a:solidFill>
          <a:ln w="9525">
            <a:solidFill>
              <a:srgbClr val="D9C7A3"/>
            </a:solidFill>
            <a:prstDash val="solid"/>
          </a:ln>
        </p:spPr>
      </p:sp>
      <p:sp>
        <p:nvSpPr>
          <p:cNvPr id="22" name="Shape 20"/>
          <p:cNvSpPr/>
          <p:nvPr/>
        </p:nvSpPr>
        <p:spPr>
          <a:xfrm>
            <a:off x="658368" y="4023360"/>
            <a:ext cx="411480" cy="411480"/>
          </a:xfrm>
          <a:prstGeom prst="ellipse">
            <a:avLst/>
          </a:prstGeom>
          <a:solidFill>
            <a:srgbClr val="C8922F"/>
          </a:solidFill>
          <a:ln w="12700">
            <a:solidFill>
              <a:srgbClr val="C8922F"/>
            </a:solidFill>
            <a:prstDash val="solid"/>
          </a:ln>
        </p:spPr>
      </p:sp>
      <p:sp>
        <p:nvSpPr>
          <p:cNvPr id="23" name="Text 21"/>
          <p:cNvSpPr txBox="1"/>
          <p:nvPr/>
        </p:nvSpPr>
        <p:spPr>
          <a:xfrm>
            <a:off x="658368" y="40233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4</a:t>
            </a:r>
            <a:endParaRPr lang="en-US" sz="1200" dirty="0"/>
          </a:p>
        </p:txBody>
      </p:sp>
      <p:sp>
        <p:nvSpPr>
          <p:cNvPr id="24" name="Text 22"/>
          <p:cNvSpPr txBox="1"/>
          <p:nvPr/>
        </p:nvSpPr>
        <p:spPr>
          <a:xfrm>
            <a:off x="1188720" y="39319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Storyteller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Recipes and heritage stories</a:t>
            </a:r>
            <a:endParaRPr lang="en-US" sz="1250" dirty="0"/>
          </a:p>
        </p:txBody>
      </p:sp>
      <p:sp>
        <p:nvSpPr>
          <p:cNvPr id="25" name="Text 23"/>
          <p:cNvSpPr txBox="1"/>
          <p:nvPr/>
        </p:nvSpPr>
        <p:spPr>
          <a:xfrm>
            <a:off x="4663440" y="39319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Marketing</a:t>
            </a:r>
            <a:endParaRPr lang="en-US" sz="1100" dirty="0"/>
          </a:p>
        </p:txBody>
      </p:sp>
      <p:sp>
        <p:nvSpPr>
          <p:cNvPr id="26" name="Shape 24"/>
          <p:cNvSpPr/>
          <p:nvPr/>
        </p:nvSpPr>
        <p:spPr>
          <a:xfrm>
            <a:off x="548640" y="4617720"/>
            <a:ext cx="5394960" cy="594360"/>
          </a:xfrm>
          <a:prstGeom prst="roundRect">
            <a:avLst>
              <a:gd name="adj" fmla="val 12308"/>
            </a:avLst>
          </a:prstGeom>
          <a:solidFill>
            <a:srgbClr val="FFFFFF"/>
          </a:solidFill>
          <a:ln w="9525">
            <a:solidFill>
              <a:srgbClr val="D9C7A3"/>
            </a:solidFill>
            <a:prstDash val="solid"/>
          </a:ln>
        </p:spPr>
      </p:sp>
      <p:sp>
        <p:nvSpPr>
          <p:cNvPr id="27" name="Shape 25"/>
          <p:cNvSpPr/>
          <p:nvPr/>
        </p:nvSpPr>
        <p:spPr>
          <a:xfrm>
            <a:off x="658368" y="4709160"/>
            <a:ext cx="411480" cy="411480"/>
          </a:xfrm>
          <a:prstGeom prst="ellipse">
            <a:avLst/>
          </a:prstGeom>
          <a:solidFill>
            <a:srgbClr val="C8922F"/>
          </a:solidFill>
          <a:ln w="12700">
            <a:solidFill>
              <a:srgbClr val="C8922F"/>
            </a:solidFill>
            <a:prstDash val="solid"/>
          </a:ln>
        </p:spPr>
      </p:sp>
      <p:sp>
        <p:nvSpPr>
          <p:cNvPr id="28" name="Text 26"/>
          <p:cNvSpPr txBox="1"/>
          <p:nvPr/>
        </p:nvSpPr>
        <p:spPr>
          <a:xfrm>
            <a:off x="658368" y="47091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5</a:t>
            </a:r>
            <a:endParaRPr lang="en-US" sz="1200" dirty="0"/>
          </a:p>
        </p:txBody>
      </p:sp>
      <p:sp>
        <p:nvSpPr>
          <p:cNvPr id="29" name="Text 27"/>
          <p:cNvSpPr txBox="1"/>
          <p:nvPr/>
        </p:nvSpPr>
        <p:spPr>
          <a:xfrm>
            <a:off x="1188720" y="46177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Voice</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Social posts and emails</a:t>
            </a:r>
            <a:endParaRPr lang="en-US" sz="1250" dirty="0"/>
          </a:p>
        </p:txBody>
      </p:sp>
      <p:sp>
        <p:nvSpPr>
          <p:cNvPr id="30" name="Text 28"/>
          <p:cNvSpPr txBox="1"/>
          <p:nvPr/>
        </p:nvSpPr>
        <p:spPr>
          <a:xfrm>
            <a:off x="4663440" y="46177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Marketing</a:t>
            </a:r>
            <a:endParaRPr lang="en-US" sz="1100" dirty="0"/>
          </a:p>
        </p:txBody>
      </p:sp>
      <p:sp>
        <p:nvSpPr>
          <p:cNvPr id="31" name="Shape 29"/>
          <p:cNvSpPr/>
          <p:nvPr/>
        </p:nvSpPr>
        <p:spPr>
          <a:xfrm>
            <a:off x="548640" y="5303520"/>
            <a:ext cx="5394960" cy="594360"/>
          </a:xfrm>
          <a:prstGeom prst="roundRect">
            <a:avLst>
              <a:gd name="adj" fmla="val 12308"/>
            </a:avLst>
          </a:prstGeom>
          <a:solidFill>
            <a:srgbClr val="FFFFFF"/>
          </a:solidFill>
          <a:ln w="9525">
            <a:solidFill>
              <a:srgbClr val="D9C7A3"/>
            </a:solidFill>
            <a:prstDash val="solid"/>
          </a:ln>
        </p:spPr>
      </p:sp>
      <p:sp>
        <p:nvSpPr>
          <p:cNvPr id="32" name="Shape 30"/>
          <p:cNvSpPr/>
          <p:nvPr/>
        </p:nvSpPr>
        <p:spPr>
          <a:xfrm>
            <a:off x="658368" y="5394960"/>
            <a:ext cx="411480" cy="411480"/>
          </a:xfrm>
          <a:prstGeom prst="ellipse">
            <a:avLst/>
          </a:prstGeom>
          <a:solidFill>
            <a:srgbClr val="C8922F"/>
          </a:solidFill>
          <a:ln w="12700">
            <a:solidFill>
              <a:srgbClr val="C8922F"/>
            </a:solidFill>
            <a:prstDash val="solid"/>
          </a:ln>
        </p:spPr>
      </p:sp>
      <p:sp>
        <p:nvSpPr>
          <p:cNvPr id="33" name="Text 31"/>
          <p:cNvSpPr txBox="1"/>
          <p:nvPr/>
        </p:nvSpPr>
        <p:spPr>
          <a:xfrm>
            <a:off x="658368" y="539496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6</a:t>
            </a:r>
            <a:endParaRPr lang="en-US" sz="1200" dirty="0"/>
          </a:p>
        </p:txBody>
      </p:sp>
      <p:sp>
        <p:nvSpPr>
          <p:cNvPr id="34" name="Text 32"/>
          <p:cNvSpPr txBox="1"/>
          <p:nvPr/>
        </p:nvSpPr>
        <p:spPr>
          <a:xfrm>
            <a:off x="1188720" y="5303520"/>
            <a:ext cx="34290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The Survey-Taker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Customer feedback, QR surveys, fix lists</a:t>
            </a:r>
            <a:endParaRPr lang="en-US" sz="1250" dirty="0"/>
          </a:p>
        </p:txBody>
      </p:sp>
      <p:sp>
        <p:nvSpPr>
          <p:cNvPr id="35" name="Text 33"/>
          <p:cNvSpPr txBox="1"/>
          <p:nvPr/>
        </p:nvSpPr>
        <p:spPr>
          <a:xfrm>
            <a:off x="4663440" y="5303520"/>
            <a:ext cx="1188720" cy="594360"/>
          </a:xfrm>
          <a:prstGeom prst="rect">
            <a:avLst/>
          </a:prstGeom>
          <a:noFill/>
          <a:ln/>
        </p:spPr>
        <p:txBody>
          <a:bodyPr wrap="square" lIns="0" tIns="0" rIns="0" bIns="0" rtlCol="0" anchor="ctr"/>
          <a:lstStyle/>
          <a:p>
            <a:pPr algn="r" indent="0" marL="0">
              <a:buNone/>
            </a:pPr>
            <a:r>
              <a:rPr lang="en-US" sz="1100" b="1" dirty="0">
                <a:solidFill>
                  <a:srgbClr val="2E4057"/>
                </a:solidFill>
                <a:latin typeface="Calibri" pitchFamily="34" charset="0"/>
                <a:ea typeface="Calibri" pitchFamily="34" charset="-122"/>
                <a:cs typeface="Calibri" pitchFamily="34" charset="-120"/>
              </a:rPr>
              <a:t>Visitor Exp.</a:t>
            </a:r>
            <a:endParaRPr lang="en-US" sz="1100" dirty="0"/>
          </a:p>
        </p:txBody>
      </p:sp>
      <p:sp>
        <p:nvSpPr>
          <p:cNvPr id="36" name="Text 34"/>
          <p:cNvSpPr txBox="1"/>
          <p:nvPr/>
        </p:nvSpPr>
        <p:spPr>
          <a:xfrm>
            <a:off x="6263640" y="1554480"/>
            <a:ext cx="5394960" cy="274320"/>
          </a:xfrm>
          <a:prstGeom prst="rect">
            <a:avLst/>
          </a:prstGeom>
          <a:noFill/>
          <a:ln/>
        </p:spPr>
        <p:txBody>
          <a:bodyPr wrap="square" lIns="0" tIns="0" rIns="0" bIns="0" rtlCol="0" anchor="ctr"/>
          <a:lstStyle/>
          <a:p>
            <a:pPr indent="0" marL="0">
              <a:buNone/>
            </a:pPr>
            <a:r>
              <a:rPr lang="en-US" sz="1100" b="1" spc="200" kern="0" dirty="0">
                <a:solidFill>
                  <a:srgbClr val="8A6115"/>
                </a:solidFill>
                <a:latin typeface="Calibri" pitchFamily="34" charset="0"/>
                <a:ea typeface="Calibri" pitchFamily="34" charset="-122"/>
                <a:cs typeface="Calibri" pitchFamily="34" charset="-120"/>
              </a:rPr>
              <a:t>NEXT TO ADD</a:t>
            </a:r>
            <a:endParaRPr lang="en-US" sz="1100" dirty="0"/>
          </a:p>
        </p:txBody>
      </p:sp>
      <p:sp>
        <p:nvSpPr>
          <p:cNvPr id="37" name="Shape 35"/>
          <p:cNvSpPr/>
          <p:nvPr/>
        </p:nvSpPr>
        <p:spPr>
          <a:xfrm>
            <a:off x="6263640" y="1874520"/>
            <a:ext cx="5349240" cy="594360"/>
          </a:xfrm>
          <a:prstGeom prst="roundRect">
            <a:avLst>
              <a:gd name="adj" fmla="val 12308"/>
            </a:avLst>
          </a:prstGeom>
          <a:solidFill>
            <a:srgbClr val="F5F3EE"/>
          </a:solidFill>
          <a:ln w="9525">
            <a:solidFill>
              <a:srgbClr val="6E6A63"/>
            </a:solidFill>
            <a:prstDash val="dash"/>
          </a:ln>
        </p:spPr>
      </p:sp>
      <p:sp>
        <p:nvSpPr>
          <p:cNvPr id="38" name="Text 36"/>
          <p:cNvSpPr txBox="1"/>
          <p:nvPr/>
        </p:nvSpPr>
        <p:spPr>
          <a:xfrm>
            <a:off x="6373368" y="1984248"/>
            <a:ext cx="868680" cy="374904"/>
          </a:xfrm>
          <a:prstGeom prst="rect">
            <a:avLst/>
          </a:prstGeom>
          <a:solidFill>
            <a:srgbClr val="2E4057"/>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1</a:t>
            </a:r>
            <a:endParaRPr lang="en-US" sz="1050" dirty="0"/>
          </a:p>
        </p:txBody>
      </p:sp>
      <p:sp>
        <p:nvSpPr>
          <p:cNvPr id="39" name="Text 37"/>
          <p:cNvSpPr txBox="1"/>
          <p:nvPr/>
        </p:nvSpPr>
        <p:spPr>
          <a:xfrm>
            <a:off x="7360920" y="1874520"/>
            <a:ext cx="2743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Service assistant</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Replies drafted from a knowledge base; site chat</a:t>
            </a:r>
            <a:endParaRPr lang="en-US" sz="1250" dirty="0"/>
          </a:p>
        </p:txBody>
      </p:sp>
      <p:sp>
        <p:nvSpPr>
          <p:cNvPr id="40" name="Text 38"/>
          <p:cNvSpPr txBox="1"/>
          <p:nvPr/>
        </p:nvSpPr>
        <p:spPr>
          <a:xfrm>
            <a:off x="10104120" y="1874520"/>
            <a:ext cx="1371600" cy="594360"/>
          </a:xfrm>
          <a:prstGeom prst="rect">
            <a:avLst/>
          </a:prstGeom>
          <a:noFill/>
          <a:ln/>
        </p:spPr>
        <p:txBody>
          <a:bodyPr wrap="square" lIns="0" tIns="0" rIns="0" bIns="0" rtlCol="0" anchor="ctr"/>
          <a:lstStyle/>
          <a:p>
            <a:pPr algn="r" indent="0" marL="0">
              <a:buNone/>
            </a:pPr>
            <a:r>
              <a:rPr lang="en-US" sz="1050" b="1" dirty="0">
                <a:solidFill>
                  <a:srgbClr val="2E4057"/>
                </a:solidFill>
                <a:latin typeface="Calibri" pitchFamily="34" charset="0"/>
                <a:ea typeface="Calibri" pitchFamily="34" charset="-122"/>
                <a:cs typeface="Calibri" pitchFamily="34" charset="-120"/>
              </a:rPr>
              <a:t>Customer Service</a:t>
            </a:r>
            <a:endParaRPr lang="en-US" sz="1050" dirty="0"/>
          </a:p>
        </p:txBody>
      </p:sp>
      <p:sp>
        <p:nvSpPr>
          <p:cNvPr id="41" name="Shape 39"/>
          <p:cNvSpPr/>
          <p:nvPr/>
        </p:nvSpPr>
        <p:spPr>
          <a:xfrm>
            <a:off x="6263640" y="2560320"/>
            <a:ext cx="5349240" cy="594360"/>
          </a:xfrm>
          <a:prstGeom prst="roundRect">
            <a:avLst>
              <a:gd name="adj" fmla="val 12308"/>
            </a:avLst>
          </a:prstGeom>
          <a:solidFill>
            <a:srgbClr val="F5F3EE"/>
          </a:solidFill>
          <a:ln w="9525">
            <a:solidFill>
              <a:srgbClr val="6E6A63"/>
            </a:solidFill>
            <a:prstDash val="dash"/>
          </a:ln>
        </p:spPr>
      </p:sp>
      <p:sp>
        <p:nvSpPr>
          <p:cNvPr id="42" name="Text 40"/>
          <p:cNvSpPr txBox="1"/>
          <p:nvPr/>
        </p:nvSpPr>
        <p:spPr>
          <a:xfrm>
            <a:off x="6373368" y="2670048"/>
            <a:ext cx="868680" cy="374904"/>
          </a:xfrm>
          <a:prstGeom prst="rect">
            <a:avLst/>
          </a:prstGeom>
          <a:solidFill>
            <a:srgbClr val="2E4057"/>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2</a:t>
            </a:r>
            <a:endParaRPr lang="en-US" sz="1050" dirty="0"/>
          </a:p>
        </p:txBody>
      </p:sp>
      <p:sp>
        <p:nvSpPr>
          <p:cNvPr id="43" name="Text 41"/>
          <p:cNvSpPr txBox="1"/>
          <p:nvPr/>
        </p:nvSpPr>
        <p:spPr>
          <a:xfrm>
            <a:off x="7360920" y="2560320"/>
            <a:ext cx="2743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Books helper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Bank rules, receipt capture, close checklist</a:t>
            </a:r>
            <a:endParaRPr lang="en-US" sz="1250" dirty="0"/>
          </a:p>
        </p:txBody>
      </p:sp>
      <p:sp>
        <p:nvSpPr>
          <p:cNvPr id="44" name="Text 42"/>
          <p:cNvSpPr txBox="1"/>
          <p:nvPr/>
        </p:nvSpPr>
        <p:spPr>
          <a:xfrm>
            <a:off x="10104120" y="2560320"/>
            <a:ext cx="1371600" cy="594360"/>
          </a:xfrm>
          <a:prstGeom prst="rect">
            <a:avLst/>
          </a:prstGeom>
          <a:noFill/>
          <a:ln/>
        </p:spPr>
        <p:txBody>
          <a:bodyPr wrap="square" lIns="0" tIns="0" rIns="0" bIns="0" rtlCol="0" anchor="ctr"/>
          <a:lstStyle/>
          <a:p>
            <a:pPr algn="r" indent="0" marL="0">
              <a:buNone/>
            </a:pPr>
            <a:r>
              <a:rPr lang="en-US" sz="1050" b="1" dirty="0">
                <a:solidFill>
                  <a:srgbClr val="2E4057"/>
                </a:solidFill>
                <a:latin typeface="Calibri" pitchFamily="34" charset="0"/>
                <a:ea typeface="Calibri" pitchFamily="34" charset="-122"/>
                <a:cs typeface="Calibri" pitchFamily="34" charset="-120"/>
              </a:rPr>
              <a:t>Finance</a:t>
            </a:r>
            <a:endParaRPr lang="en-US" sz="1050" dirty="0"/>
          </a:p>
        </p:txBody>
      </p:sp>
      <p:sp>
        <p:nvSpPr>
          <p:cNvPr id="45" name="Shape 43"/>
          <p:cNvSpPr/>
          <p:nvPr/>
        </p:nvSpPr>
        <p:spPr>
          <a:xfrm>
            <a:off x="6263640" y="3246120"/>
            <a:ext cx="5349240" cy="594360"/>
          </a:xfrm>
          <a:prstGeom prst="roundRect">
            <a:avLst>
              <a:gd name="adj" fmla="val 12308"/>
            </a:avLst>
          </a:prstGeom>
          <a:solidFill>
            <a:srgbClr val="F5F3EE"/>
          </a:solidFill>
          <a:ln w="9525">
            <a:solidFill>
              <a:srgbClr val="6E6A63"/>
            </a:solidFill>
            <a:prstDash val="dash"/>
          </a:ln>
        </p:spPr>
      </p:sp>
      <p:sp>
        <p:nvSpPr>
          <p:cNvPr id="46" name="Text 44"/>
          <p:cNvSpPr txBox="1"/>
          <p:nvPr/>
        </p:nvSpPr>
        <p:spPr>
          <a:xfrm>
            <a:off x="6373368" y="3355848"/>
            <a:ext cx="868680" cy="374904"/>
          </a:xfrm>
          <a:prstGeom prst="rect">
            <a:avLst/>
          </a:prstGeom>
          <a:solidFill>
            <a:srgbClr val="2E4057"/>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3</a:t>
            </a:r>
            <a:endParaRPr lang="en-US" sz="1050" dirty="0"/>
          </a:p>
        </p:txBody>
      </p:sp>
      <p:sp>
        <p:nvSpPr>
          <p:cNvPr id="47" name="Text 45"/>
          <p:cNvSpPr txBox="1"/>
          <p:nvPr/>
        </p:nvSpPr>
        <p:spPr>
          <a:xfrm>
            <a:off x="7360920" y="3246120"/>
            <a:ext cx="2743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Dashboard &amp; booking</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Weekly reporting; tour and event bookings</a:t>
            </a:r>
            <a:endParaRPr lang="en-US" sz="1250" dirty="0"/>
          </a:p>
        </p:txBody>
      </p:sp>
      <p:sp>
        <p:nvSpPr>
          <p:cNvPr id="48" name="Text 46"/>
          <p:cNvSpPr txBox="1"/>
          <p:nvPr/>
        </p:nvSpPr>
        <p:spPr>
          <a:xfrm>
            <a:off x="10104120" y="3246120"/>
            <a:ext cx="1371600" cy="594360"/>
          </a:xfrm>
          <a:prstGeom prst="rect">
            <a:avLst/>
          </a:prstGeom>
          <a:noFill/>
          <a:ln/>
        </p:spPr>
        <p:txBody>
          <a:bodyPr wrap="square" lIns="0" tIns="0" rIns="0" bIns="0" rtlCol="0" anchor="ctr"/>
          <a:lstStyle/>
          <a:p>
            <a:pPr algn="r" indent="0" marL="0">
              <a:buNone/>
            </a:pPr>
            <a:r>
              <a:rPr lang="en-US" sz="1050" b="1" dirty="0">
                <a:solidFill>
                  <a:srgbClr val="2E4057"/>
                </a:solidFill>
                <a:latin typeface="Calibri" pitchFamily="34" charset="0"/>
                <a:ea typeface="Calibri" pitchFamily="34" charset="-122"/>
                <a:cs typeface="Calibri" pitchFamily="34" charset="-120"/>
              </a:rPr>
              <a:t>Owners · Visitor Exp.</a:t>
            </a:r>
            <a:endParaRPr lang="en-US" sz="1050" dirty="0"/>
          </a:p>
        </p:txBody>
      </p:sp>
      <p:sp>
        <p:nvSpPr>
          <p:cNvPr id="49" name="Shape 47"/>
          <p:cNvSpPr/>
          <p:nvPr/>
        </p:nvSpPr>
        <p:spPr>
          <a:xfrm>
            <a:off x="6263640" y="3931920"/>
            <a:ext cx="5349240" cy="594360"/>
          </a:xfrm>
          <a:prstGeom prst="roundRect">
            <a:avLst>
              <a:gd name="adj" fmla="val 12308"/>
            </a:avLst>
          </a:prstGeom>
          <a:solidFill>
            <a:srgbClr val="F5F3EE"/>
          </a:solidFill>
          <a:ln w="9525">
            <a:solidFill>
              <a:srgbClr val="6E6A63"/>
            </a:solidFill>
            <a:prstDash val="dash"/>
          </a:ln>
        </p:spPr>
      </p:sp>
      <p:sp>
        <p:nvSpPr>
          <p:cNvPr id="50" name="Text 48"/>
          <p:cNvSpPr txBox="1"/>
          <p:nvPr/>
        </p:nvSpPr>
        <p:spPr>
          <a:xfrm>
            <a:off x="6373368" y="4041648"/>
            <a:ext cx="868680" cy="374904"/>
          </a:xfrm>
          <a:prstGeom prst="rect">
            <a:avLst/>
          </a:prstGeom>
          <a:solidFill>
            <a:srgbClr val="2E4057"/>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4</a:t>
            </a:r>
            <a:endParaRPr lang="en-US" sz="1050" dirty="0"/>
          </a:p>
        </p:txBody>
      </p:sp>
      <p:sp>
        <p:nvSpPr>
          <p:cNvPr id="51" name="Text 49"/>
          <p:cNvSpPr txBox="1"/>
          <p:nvPr/>
        </p:nvSpPr>
        <p:spPr>
          <a:xfrm>
            <a:off x="7360920" y="3931920"/>
            <a:ext cx="2743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Reviews &amp; stock alerts</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Review requests; low-stock reorder prompts</a:t>
            </a:r>
            <a:endParaRPr lang="en-US" sz="1250" dirty="0"/>
          </a:p>
        </p:txBody>
      </p:sp>
      <p:sp>
        <p:nvSpPr>
          <p:cNvPr id="52" name="Text 50"/>
          <p:cNvSpPr txBox="1"/>
          <p:nvPr/>
        </p:nvSpPr>
        <p:spPr>
          <a:xfrm>
            <a:off x="10104120" y="3931920"/>
            <a:ext cx="1371600" cy="594360"/>
          </a:xfrm>
          <a:prstGeom prst="rect">
            <a:avLst/>
          </a:prstGeom>
          <a:noFill/>
          <a:ln/>
        </p:spPr>
        <p:txBody>
          <a:bodyPr wrap="square" lIns="0" tIns="0" rIns="0" bIns="0" rtlCol="0" anchor="ctr"/>
          <a:lstStyle/>
          <a:p>
            <a:pPr algn="r" indent="0" marL="0">
              <a:buNone/>
            </a:pPr>
            <a:r>
              <a:rPr lang="en-US" sz="1050" b="1" dirty="0">
                <a:solidFill>
                  <a:srgbClr val="2E4057"/>
                </a:solidFill>
                <a:latin typeface="Calibri" pitchFamily="34" charset="0"/>
                <a:ea typeface="Calibri" pitchFamily="34" charset="-122"/>
                <a:cs typeface="Calibri" pitchFamily="34" charset="-120"/>
              </a:rPr>
              <a:t>CS · Production</a:t>
            </a:r>
            <a:endParaRPr lang="en-US" sz="1050" dirty="0"/>
          </a:p>
        </p:txBody>
      </p:sp>
      <p:sp>
        <p:nvSpPr>
          <p:cNvPr id="53" name="Shape 51"/>
          <p:cNvSpPr/>
          <p:nvPr/>
        </p:nvSpPr>
        <p:spPr>
          <a:xfrm>
            <a:off x="6263640" y="4617720"/>
            <a:ext cx="5349240" cy="594360"/>
          </a:xfrm>
          <a:prstGeom prst="roundRect">
            <a:avLst>
              <a:gd name="adj" fmla="val 12308"/>
            </a:avLst>
          </a:prstGeom>
          <a:solidFill>
            <a:srgbClr val="F5F3EE"/>
          </a:solidFill>
          <a:ln w="9525">
            <a:solidFill>
              <a:srgbClr val="6E6A63"/>
            </a:solidFill>
            <a:prstDash val="dash"/>
          </a:ln>
        </p:spPr>
      </p:sp>
      <p:sp>
        <p:nvSpPr>
          <p:cNvPr id="54" name="Text 52"/>
          <p:cNvSpPr txBox="1"/>
          <p:nvPr/>
        </p:nvSpPr>
        <p:spPr>
          <a:xfrm>
            <a:off x="6373368" y="4727448"/>
            <a:ext cx="868680" cy="374904"/>
          </a:xfrm>
          <a:prstGeom prst="rect">
            <a:avLst/>
          </a:prstGeom>
          <a:solidFill>
            <a:srgbClr val="2E4057"/>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p>
        </p:txBody>
      </p:sp>
      <p:sp>
        <p:nvSpPr>
          <p:cNvPr id="55" name="Text 53"/>
          <p:cNvSpPr txBox="1"/>
          <p:nvPr/>
        </p:nvSpPr>
        <p:spPr>
          <a:xfrm>
            <a:off x="7360920" y="4617720"/>
            <a:ext cx="2743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Forecast &amp; grants</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12-week grind schedule; grant drafts</a:t>
            </a:r>
            <a:endParaRPr lang="en-US" sz="1250" dirty="0"/>
          </a:p>
        </p:txBody>
      </p:sp>
      <p:sp>
        <p:nvSpPr>
          <p:cNvPr id="56" name="Text 54"/>
          <p:cNvSpPr txBox="1"/>
          <p:nvPr/>
        </p:nvSpPr>
        <p:spPr>
          <a:xfrm>
            <a:off x="10104120" y="4617720"/>
            <a:ext cx="1371600" cy="594360"/>
          </a:xfrm>
          <a:prstGeom prst="rect">
            <a:avLst/>
          </a:prstGeom>
          <a:noFill/>
          <a:ln/>
        </p:spPr>
        <p:txBody>
          <a:bodyPr wrap="square" lIns="0" tIns="0" rIns="0" bIns="0" rtlCol="0" anchor="ctr"/>
          <a:lstStyle/>
          <a:p>
            <a:pPr algn="r" indent="0" marL="0">
              <a:buNone/>
            </a:pPr>
            <a:r>
              <a:rPr lang="en-US" sz="1050" b="1" dirty="0">
                <a:solidFill>
                  <a:srgbClr val="2E4057"/>
                </a:solidFill>
                <a:latin typeface="Calibri" pitchFamily="34" charset="0"/>
                <a:ea typeface="Calibri" pitchFamily="34" charset="-122"/>
                <a:cs typeface="Calibri" pitchFamily="34" charset="-120"/>
              </a:rPr>
              <a:t>Production · Grants</a:t>
            </a:r>
            <a:endParaRPr lang="en-US" sz="1050" dirty="0"/>
          </a:p>
        </p:txBody>
      </p:sp>
      <p:sp>
        <p:nvSpPr>
          <p:cNvPr id="57" name="Shape 55"/>
          <p:cNvSpPr/>
          <p:nvPr/>
        </p:nvSpPr>
        <p:spPr>
          <a:xfrm>
            <a:off x="6263640" y="5349240"/>
            <a:ext cx="5349240" cy="594360"/>
          </a:xfrm>
          <a:prstGeom prst="roundRect">
            <a:avLst>
              <a:gd name="adj" fmla="val 12308"/>
            </a:avLst>
          </a:prstGeom>
          <a:solidFill>
            <a:srgbClr val="F0E3C4"/>
          </a:solidFill>
          <a:ln w="12700">
            <a:solidFill>
              <a:srgbClr val="F0E3C4"/>
            </a:solidFill>
            <a:prstDash val="solid"/>
          </a:ln>
        </p:spPr>
      </p:sp>
      <p:sp>
        <p:nvSpPr>
          <p:cNvPr id="58" name="Text 56"/>
          <p:cNvSpPr txBox="1"/>
          <p:nvPr/>
        </p:nvSpPr>
        <p:spPr>
          <a:xfrm>
            <a:off x="6446520" y="5349240"/>
            <a:ext cx="5029200" cy="59436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Target: 15–20 hrs a week back by month 12. Roughly $350–500 a month in tools.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21</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BUILD SEQUENCE</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People, Digital and AI added in step, with a gate between phases</a:t>
            </a:r>
            <a:endParaRPr lang="en-US" sz="3000" dirty="0"/>
          </a:p>
        </p:txBody>
      </p:sp>
      <p:sp>
        <p:nvSpPr>
          <p:cNvPr id="5" name="Shape 3"/>
          <p:cNvSpPr/>
          <p:nvPr/>
        </p:nvSpPr>
        <p:spPr>
          <a:xfrm>
            <a:off x="548640" y="1554480"/>
            <a:ext cx="2606040" cy="777240"/>
          </a:xfrm>
          <a:prstGeom prst="roundRect">
            <a:avLst>
              <a:gd name="adj" fmla="val 9412"/>
            </a:avLst>
          </a:prstGeom>
          <a:solidFill>
            <a:srgbClr val="2B2A28"/>
          </a:solidFill>
          <a:ln w="12700">
            <a:solidFill>
              <a:srgbClr val="2B2A28"/>
            </a:solidFill>
            <a:prstDash val="solid"/>
          </a:ln>
        </p:spPr>
      </p:sp>
      <p:sp>
        <p:nvSpPr>
          <p:cNvPr id="6" name="Text 4"/>
          <p:cNvSpPr txBox="1"/>
          <p:nvPr/>
        </p:nvSpPr>
        <p:spPr>
          <a:xfrm>
            <a:off x="731520" y="1554480"/>
            <a:ext cx="2331720" cy="77724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OCT–DEC 2026 · MONTHS 0–3</a:t>
            </a:r>
            <a:endParaRPr lang="en-US" sz="950" dirty="0"/>
          </a:p>
          <a:p>
            <a:pPr indent="0" marL="0">
              <a:buNone/>
            </a:pPr>
            <a:r>
              <a:rPr lang="en-US" sz="1800" b="1" dirty="0">
                <a:solidFill>
                  <a:srgbClr val="EDE7D8"/>
                </a:solidFill>
                <a:latin typeface="Cambria" pitchFamily="34" charset="0"/>
                <a:ea typeface="Cambria" pitchFamily="34" charset="-122"/>
                <a:cs typeface="Cambria" pitchFamily="34" charset="-120"/>
              </a:rPr>
              <a:t>Stabilize</a:t>
            </a:r>
            <a:endParaRPr lang="en-US" sz="950" dirty="0"/>
          </a:p>
        </p:txBody>
      </p:sp>
      <p:sp>
        <p:nvSpPr>
          <p:cNvPr id="7" name="Shape 5"/>
          <p:cNvSpPr/>
          <p:nvPr/>
        </p:nvSpPr>
        <p:spPr>
          <a:xfrm>
            <a:off x="548640" y="2468880"/>
            <a:ext cx="2606040" cy="1828800"/>
          </a:xfrm>
          <a:prstGeom prst="roundRect">
            <a:avLst>
              <a:gd name="adj" fmla="val 4000"/>
            </a:avLst>
          </a:prstGeom>
          <a:solidFill>
            <a:srgbClr val="FFFFFF"/>
          </a:solidFill>
          <a:ln w="9525">
            <a:solidFill>
              <a:srgbClr val="D9C7A3"/>
            </a:solidFill>
            <a:prstDash val="solid"/>
          </a:ln>
        </p:spPr>
      </p:sp>
      <p:sp>
        <p:nvSpPr>
          <p:cNvPr id="8" name="Text 6"/>
          <p:cNvSpPr txBox="1"/>
          <p:nvPr/>
        </p:nvSpPr>
        <p:spPr>
          <a:xfrm>
            <a:off x="731520" y="2578608"/>
            <a:ext cx="2240280" cy="256032"/>
          </a:xfrm>
          <a:prstGeom prst="rect">
            <a:avLst/>
          </a:prstGeom>
          <a:noFill/>
          <a:ln/>
        </p:spPr>
        <p:txBody>
          <a:bodyPr wrap="square" lIns="0" tIns="0" rIns="0" bIns="0" rtlCol="0" anchor="ctr"/>
          <a:lstStyle/>
          <a:p>
            <a:pPr indent="0" marL="0">
              <a:buNone/>
            </a:pPr>
            <a:r>
              <a:rPr lang="en-US" sz="1050" b="1" spc="200" kern="0" dirty="0">
                <a:solidFill>
                  <a:srgbClr val="6E6A63"/>
                </a:solidFill>
                <a:latin typeface="Calibri" pitchFamily="34" charset="0"/>
                <a:ea typeface="Calibri" pitchFamily="34" charset="-122"/>
                <a:cs typeface="Calibri" pitchFamily="34" charset="-120"/>
              </a:rPr>
              <a:t>PEOPLE &amp; MAINTENANCE</a:t>
            </a:r>
            <a:endParaRPr lang="en-US" sz="1050" dirty="0"/>
          </a:p>
        </p:txBody>
      </p:sp>
      <p:sp>
        <p:nvSpPr>
          <p:cNvPr id="9" name="Text 7"/>
          <p:cNvSpPr txBox="1"/>
          <p:nvPr/>
        </p:nvSpPr>
        <p:spPr>
          <a:xfrm>
            <a:off x="731520" y="2852928"/>
            <a:ext cx="2286000" cy="13716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Time log and role cards, all staff</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Bookkeeper signed; SAM.gov started</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Lean Q4 pack crew this year</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Asset walk-through and repair quotes</a:t>
            </a:r>
            <a:endParaRPr lang="en-US" sz="1150" dirty="0"/>
          </a:p>
        </p:txBody>
      </p:sp>
      <p:sp>
        <p:nvSpPr>
          <p:cNvPr id="10" name="Shape 8"/>
          <p:cNvSpPr/>
          <p:nvPr/>
        </p:nvSpPr>
        <p:spPr>
          <a:xfrm>
            <a:off x="548640" y="4434840"/>
            <a:ext cx="2606040" cy="1325880"/>
          </a:xfrm>
          <a:prstGeom prst="roundRect">
            <a:avLst>
              <a:gd name="adj" fmla="val 5517"/>
            </a:avLst>
          </a:prstGeom>
          <a:solidFill>
            <a:srgbClr val="F0E3C4"/>
          </a:solidFill>
          <a:ln w="12700">
            <a:solidFill>
              <a:srgbClr val="F0E3C4"/>
            </a:solidFill>
            <a:prstDash val="solid"/>
          </a:ln>
        </p:spPr>
      </p:sp>
      <p:sp>
        <p:nvSpPr>
          <p:cNvPr id="11" name="Text 9"/>
          <p:cNvSpPr txBox="1"/>
          <p:nvPr/>
        </p:nvSpPr>
        <p:spPr>
          <a:xfrm>
            <a:off x="731520" y="4544568"/>
            <a:ext cx="22402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DIGITAL &amp; AI</a:t>
            </a:r>
            <a:endParaRPr lang="en-US" sz="1050" dirty="0"/>
          </a:p>
        </p:txBody>
      </p:sp>
      <p:sp>
        <p:nvSpPr>
          <p:cNvPr id="12" name="Text 10"/>
          <p:cNvSpPr txBox="1"/>
          <p:nvPr/>
        </p:nvSpPr>
        <p:spPr>
          <a:xfrm>
            <a:off x="731520" y="4818888"/>
            <a:ext cx="2286000" cy="9144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Accounts and Digital Lead set up</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Help desk and reply drafts live</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New site built on staging</a:t>
            </a:r>
            <a:endParaRPr lang="en-US" sz="1150" dirty="0"/>
          </a:p>
        </p:txBody>
      </p:sp>
      <p:sp>
        <p:nvSpPr>
          <p:cNvPr id="13" name="Shape 11"/>
          <p:cNvSpPr/>
          <p:nvPr/>
        </p:nvSpPr>
        <p:spPr>
          <a:xfrm>
            <a:off x="3367735" y="1554480"/>
            <a:ext cx="2606040" cy="777240"/>
          </a:xfrm>
          <a:prstGeom prst="roundRect">
            <a:avLst>
              <a:gd name="adj" fmla="val 9412"/>
            </a:avLst>
          </a:prstGeom>
          <a:solidFill>
            <a:srgbClr val="2B2A28"/>
          </a:solidFill>
          <a:ln w="12700">
            <a:solidFill>
              <a:srgbClr val="2B2A28"/>
            </a:solidFill>
            <a:prstDash val="solid"/>
          </a:ln>
        </p:spPr>
      </p:sp>
      <p:sp>
        <p:nvSpPr>
          <p:cNvPr id="14" name="Text 12"/>
          <p:cNvSpPr txBox="1"/>
          <p:nvPr/>
        </p:nvSpPr>
        <p:spPr>
          <a:xfrm>
            <a:off x="3550615" y="1554480"/>
            <a:ext cx="2331720" cy="77724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JAN–MAR 2027 · MONTHS 3–6</a:t>
            </a:r>
            <a:endParaRPr lang="en-US" sz="950" dirty="0"/>
          </a:p>
          <a:p>
            <a:pPr indent="0" marL="0">
              <a:buNone/>
            </a:pPr>
            <a:r>
              <a:rPr lang="en-US" sz="1800" b="1" dirty="0">
                <a:solidFill>
                  <a:srgbClr val="EDE7D8"/>
                </a:solidFill>
                <a:latin typeface="Cambria" pitchFamily="34" charset="0"/>
                <a:ea typeface="Cambria" pitchFamily="34" charset="-122"/>
                <a:cs typeface="Cambria" pitchFamily="34" charset="-120"/>
              </a:rPr>
              <a:t>Optimize</a:t>
            </a:r>
            <a:endParaRPr lang="en-US" sz="950" dirty="0"/>
          </a:p>
        </p:txBody>
      </p:sp>
      <p:sp>
        <p:nvSpPr>
          <p:cNvPr id="15" name="Shape 13"/>
          <p:cNvSpPr/>
          <p:nvPr/>
        </p:nvSpPr>
        <p:spPr>
          <a:xfrm>
            <a:off x="3367735" y="2468880"/>
            <a:ext cx="2606040" cy="1828800"/>
          </a:xfrm>
          <a:prstGeom prst="roundRect">
            <a:avLst>
              <a:gd name="adj" fmla="val 4000"/>
            </a:avLst>
          </a:prstGeom>
          <a:solidFill>
            <a:srgbClr val="FFFFFF"/>
          </a:solidFill>
          <a:ln w="9525">
            <a:solidFill>
              <a:srgbClr val="D9C7A3"/>
            </a:solidFill>
            <a:prstDash val="solid"/>
          </a:ln>
        </p:spPr>
      </p:sp>
      <p:sp>
        <p:nvSpPr>
          <p:cNvPr id="16" name="Text 14"/>
          <p:cNvSpPr txBox="1"/>
          <p:nvPr/>
        </p:nvSpPr>
        <p:spPr>
          <a:xfrm>
            <a:off x="3550615" y="2578608"/>
            <a:ext cx="2240280" cy="256032"/>
          </a:xfrm>
          <a:prstGeom prst="rect">
            <a:avLst/>
          </a:prstGeom>
          <a:noFill/>
          <a:ln/>
        </p:spPr>
        <p:txBody>
          <a:bodyPr wrap="square" lIns="0" tIns="0" rIns="0" bIns="0" rtlCol="0" anchor="ctr"/>
          <a:lstStyle/>
          <a:p>
            <a:pPr indent="0" marL="0">
              <a:buNone/>
            </a:pPr>
            <a:r>
              <a:rPr lang="en-US" sz="1050" b="1" spc="200" kern="0" dirty="0">
                <a:solidFill>
                  <a:srgbClr val="6E6A63"/>
                </a:solidFill>
                <a:latin typeface="Calibri" pitchFamily="34" charset="0"/>
                <a:ea typeface="Calibri" pitchFamily="34" charset="-122"/>
                <a:cs typeface="Calibri" pitchFamily="34" charset="-120"/>
              </a:rPr>
              <a:t>PEOPLE &amp; MAINTENANCE</a:t>
            </a:r>
            <a:endParaRPr lang="en-US" sz="1050" dirty="0"/>
          </a:p>
        </p:txBody>
      </p:sp>
      <p:sp>
        <p:nvSpPr>
          <p:cNvPr id="17" name="Text 15"/>
          <p:cNvSpPr txBox="1"/>
          <p:nvPr/>
        </p:nvSpPr>
        <p:spPr>
          <a:xfrm>
            <a:off x="3550615" y="2852928"/>
            <a:ext cx="2286000" cy="13716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Part-time wholesale rep</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Grant writer on first federal application</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Major works scheduled, grant-funded</a:t>
            </a:r>
            <a:endParaRPr lang="en-US" sz="1150" dirty="0"/>
          </a:p>
        </p:txBody>
      </p:sp>
      <p:sp>
        <p:nvSpPr>
          <p:cNvPr id="18" name="Shape 16"/>
          <p:cNvSpPr/>
          <p:nvPr/>
        </p:nvSpPr>
        <p:spPr>
          <a:xfrm>
            <a:off x="3367735" y="4434840"/>
            <a:ext cx="2606040" cy="1325880"/>
          </a:xfrm>
          <a:prstGeom prst="roundRect">
            <a:avLst>
              <a:gd name="adj" fmla="val 5517"/>
            </a:avLst>
          </a:prstGeom>
          <a:solidFill>
            <a:srgbClr val="F0E3C4"/>
          </a:solidFill>
          <a:ln w="12700">
            <a:solidFill>
              <a:srgbClr val="F0E3C4"/>
            </a:solidFill>
            <a:prstDash val="solid"/>
          </a:ln>
        </p:spPr>
      </p:sp>
      <p:sp>
        <p:nvSpPr>
          <p:cNvPr id="19" name="Text 17"/>
          <p:cNvSpPr txBox="1"/>
          <p:nvPr/>
        </p:nvSpPr>
        <p:spPr>
          <a:xfrm>
            <a:off x="3550615" y="4544568"/>
            <a:ext cx="22402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DIGITAL &amp; AI</a:t>
            </a:r>
            <a:endParaRPr lang="en-US" sz="1050" dirty="0"/>
          </a:p>
        </p:txBody>
      </p:sp>
      <p:sp>
        <p:nvSpPr>
          <p:cNvPr id="20" name="Text 18"/>
          <p:cNvSpPr txBox="1"/>
          <p:nvPr/>
        </p:nvSpPr>
        <p:spPr>
          <a:xfrm>
            <a:off x="3550615" y="4818888"/>
            <a:ext cx="2286000" cy="9144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New site launches in January</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Fractional marketer, web retainer</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Dashboard live; Scout outreach</a:t>
            </a:r>
            <a:endParaRPr lang="en-US" sz="1150" dirty="0"/>
          </a:p>
        </p:txBody>
      </p:sp>
      <p:sp>
        <p:nvSpPr>
          <p:cNvPr id="21" name="Shape 19"/>
          <p:cNvSpPr/>
          <p:nvPr/>
        </p:nvSpPr>
        <p:spPr>
          <a:xfrm>
            <a:off x="6186830" y="1554480"/>
            <a:ext cx="2606040" cy="777240"/>
          </a:xfrm>
          <a:prstGeom prst="roundRect">
            <a:avLst>
              <a:gd name="adj" fmla="val 9412"/>
            </a:avLst>
          </a:prstGeom>
          <a:solidFill>
            <a:srgbClr val="2B2A28"/>
          </a:solidFill>
          <a:ln w="12700">
            <a:solidFill>
              <a:srgbClr val="2B2A28"/>
            </a:solidFill>
            <a:prstDash val="solid"/>
          </a:ln>
        </p:spPr>
      </p:sp>
      <p:sp>
        <p:nvSpPr>
          <p:cNvPr id="22" name="Text 20"/>
          <p:cNvSpPr txBox="1"/>
          <p:nvPr/>
        </p:nvSpPr>
        <p:spPr>
          <a:xfrm>
            <a:off x="6369710" y="1554480"/>
            <a:ext cx="2331720" cy="77724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APR–SEP 2027 · MONTHS 6–12</a:t>
            </a:r>
            <a:endParaRPr lang="en-US" sz="950" dirty="0"/>
          </a:p>
          <a:p>
            <a:pPr indent="0" marL="0">
              <a:buNone/>
            </a:pPr>
            <a:r>
              <a:rPr lang="en-US" sz="1800" b="1" dirty="0">
                <a:solidFill>
                  <a:srgbClr val="EDE7D8"/>
                </a:solidFill>
                <a:latin typeface="Cambria" pitchFamily="34" charset="0"/>
                <a:ea typeface="Cambria" pitchFamily="34" charset="-122"/>
                <a:cs typeface="Cambria" pitchFamily="34" charset="-120"/>
              </a:rPr>
              <a:t>Scale</a:t>
            </a:r>
            <a:endParaRPr lang="en-US" sz="950" dirty="0"/>
          </a:p>
        </p:txBody>
      </p:sp>
      <p:sp>
        <p:nvSpPr>
          <p:cNvPr id="23" name="Shape 21"/>
          <p:cNvSpPr/>
          <p:nvPr/>
        </p:nvSpPr>
        <p:spPr>
          <a:xfrm>
            <a:off x="6186830" y="2468880"/>
            <a:ext cx="2606040" cy="1828800"/>
          </a:xfrm>
          <a:prstGeom prst="roundRect">
            <a:avLst>
              <a:gd name="adj" fmla="val 4000"/>
            </a:avLst>
          </a:prstGeom>
          <a:solidFill>
            <a:srgbClr val="FFFFFF"/>
          </a:solidFill>
          <a:ln w="9525">
            <a:solidFill>
              <a:srgbClr val="D9C7A3"/>
            </a:solidFill>
            <a:prstDash val="solid"/>
          </a:ln>
        </p:spPr>
      </p:sp>
      <p:sp>
        <p:nvSpPr>
          <p:cNvPr id="24" name="Text 22"/>
          <p:cNvSpPr txBox="1"/>
          <p:nvPr/>
        </p:nvSpPr>
        <p:spPr>
          <a:xfrm>
            <a:off x="6369710" y="2578608"/>
            <a:ext cx="2240280" cy="256032"/>
          </a:xfrm>
          <a:prstGeom prst="rect">
            <a:avLst/>
          </a:prstGeom>
          <a:noFill/>
          <a:ln/>
        </p:spPr>
        <p:txBody>
          <a:bodyPr wrap="square" lIns="0" tIns="0" rIns="0" bIns="0" rtlCol="0" anchor="ctr"/>
          <a:lstStyle/>
          <a:p>
            <a:pPr indent="0" marL="0">
              <a:buNone/>
            </a:pPr>
            <a:r>
              <a:rPr lang="en-US" sz="1050" b="1" spc="200" kern="0" dirty="0">
                <a:solidFill>
                  <a:srgbClr val="6E6A63"/>
                </a:solidFill>
                <a:latin typeface="Calibri" pitchFamily="34" charset="0"/>
                <a:ea typeface="Calibri" pitchFamily="34" charset="-122"/>
                <a:cs typeface="Calibri" pitchFamily="34" charset="-120"/>
              </a:rPr>
              <a:t>PEOPLE &amp; MAINTENANCE</a:t>
            </a:r>
            <a:endParaRPr lang="en-US" sz="1050" dirty="0"/>
          </a:p>
        </p:txBody>
      </p:sp>
      <p:sp>
        <p:nvSpPr>
          <p:cNvPr id="25" name="Text 23"/>
          <p:cNvSpPr txBox="1"/>
          <p:nvPr/>
        </p:nvSpPr>
        <p:spPr>
          <a:xfrm>
            <a:off x="6369710" y="2852928"/>
            <a:ext cx="2286000" cy="13716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Part-time maintenance lead</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Apprentice or backup miller</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Written procedure for every recurring task</a:t>
            </a:r>
            <a:endParaRPr lang="en-US" sz="1150" dirty="0"/>
          </a:p>
        </p:txBody>
      </p:sp>
      <p:sp>
        <p:nvSpPr>
          <p:cNvPr id="26" name="Shape 24"/>
          <p:cNvSpPr/>
          <p:nvPr/>
        </p:nvSpPr>
        <p:spPr>
          <a:xfrm>
            <a:off x="6186830" y="4434840"/>
            <a:ext cx="2606040" cy="1325880"/>
          </a:xfrm>
          <a:prstGeom prst="roundRect">
            <a:avLst>
              <a:gd name="adj" fmla="val 5517"/>
            </a:avLst>
          </a:prstGeom>
          <a:solidFill>
            <a:srgbClr val="F0E3C4"/>
          </a:solidFill>
          <a:ln w="12700">
            <a:solidFill>
              <a:srgbClr val="F0E3C4"/>
            </a:solidFill>
            <a:prstDash val="solid"/>
          </a:ln>
        </p:spPr>
      </p:sp>
      <p:sp>
        <p:nvSpPr>
          <p:cNvPr id="27" name="Text 25"/>
          <p:cNvSpPr txBox="1"/>
          <p:nvPr/>
        </p:nvSpPr>
        <p:spPr>
          <a:xfrm>
            <a:off x="6369710" y="4544568"/>
            <a:ext cx="22402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DIGITAL &amp; AI</a:t>
            </a:r>
            <a:endParaRPr lang="en-US" sz="1050" dirty="0"/>
          </a:p>
        </p:txBody>
      </p:sp>
      <p:sp>
        <p:nvSpPr>
          <p:cNvPr id="28" name="Text 26"/>
          <p:cNvSpPr txBox="1"/>
          <p:nvPr/>
        </p:nvSpPr>
        <p:spPr>
          <a:xfrm>
            <a:off x="6369710" y="4818888"/>
            <a:ext cx="2286000" cy="9144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URI digital intern</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SEO content and AEO tracking</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Grind forecast, stock alerts</a:t>
            </a:r>
            <a:endParaRPr lang="en-US" sz="1150" dirty="0"/>
          </a:p>
        </p:txBody>
      </p:sp>
      <p:sp>
        <p:nvSpPr>
          <p:cNvPr id="29" name="Shape 27"/>
          <p:cNvSpPr/>
          <p:nvPr/>
        </p:nvSpPr>
        <p:spPr>
          <a:xfrm>
            <a:off x="9005926" y="1554480"/>
            <a:ext cx="2606040" cy="777240"/>
          </a:xfrm>
          <a:prstGeom prst="roundRect">
            <a:avLst>
              <a:gd name="adj" fmla="val 9412"/>
            </a:avLst>
          </a:prstGeom>
          <a:solidFill>
            <a:srgbClr val="2B2A28"/>
          </a:solidFill>
          <a:ln w="12700">
            <a:solidFill>
              <a:srgbClr val="2B2A28"/>
            </a:solidFill>
            <a:prstDash val="solid"/>
          </a:ln>
        </p:spPr>
      </p:sp>
      <p:sp>
        <p:nvSpPr>
          <p:cNvPr id="30" name="Text 28"/>
          <p:cNvSpPr txBox="1"/>
          <p:nvPr/>
        </p:nvSpPr>
        <p:spPr>
          <a:xfrm>
            <a:off x="9188806" y="1554480"/>
            <a:ext cx="2331720" cy="77724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OCT 2027 ON · YEARS 2–3</a:t>
            </a:r>
            <a:endParaRPr lang="en-US" sz="950" dirty="0"/>
          </a:p>
          <a:p>
            <a:pPr indent="0" marL="0">
              <a:buNone/>
            </a:pPr>
            <a:r>
              <a:rPr lang="en-US" sz="1800" b="1" dirty="0">
                <a:solidFill>
                  <a:srgbClr val="EDE7D8"/>
                </a:solidFill>
                <a:latin typeface="Cambria" pitchFamily="34" charset="0"/>
                <a:ea typeface="Cambria" pitchFamily="34" charset="-122"/>
                <a:cs typeface="Cambria" pitchFamily="34" charset="-120"/>
              </a:rPr>
              <a:t>Diversify</a:t>
            </a:r>
            <a:endParaRPr lang="en-US" sz="950" dirty="0"/>
          </a:p>
        </p:txBody>
      </p:sp>
      <p:sp>
        <p:nvSpPr>
          <p:cNvPr id="31" name="Shape 29"/>
          <p:cNvSpPr/>
          <p:nvPr/>
        </p:nvSpPr>
        <p:spPr>
          <a:xfrm>
            <a:off x="9005926" y="2468880"/>
            <a:ext cx="2606040" cy="1828800"/>
          </a:xfrm>
          <a:prstGeom prst="roundRect">
            <a:avLst>
              <a:gd name="adj" fmla="val 4000"/>
            </a:avLst>
          </a:prstGeom>
          <a:solidFill>
            <a:srgbClr val="FFFFFF"/>
          </a:solidFill>
          <a:ln w="9525">
            <a:solidFill>
              <a:srgbClr val="D9C7A3"/>
            </a:solidFill>
            <a:prstDash val="solid"/>
          </a:ln>
        </p:spPr>
      </p:sp>
      <p:sp>
        <p:nvSpPr>
          <p:cNvPr id="32" name="Text 30"/>
          <p:cNvSpPr txBox="1"/>
          <p:nvPr/>
        </p:nvSpPr>
        <p:spPr>
          <a:xfrm>
            <a:off x="9188806" y="2578608"/>
            <a:ext cx="2240280" cy="256032"/>
          </a:xfrm>
          <a:prstGeom prst="rect">
            <a:avLst/>
          </a:prstGeom>
          <a:noFill/>
          <a:ln/>
        </p:spPr>
        <p:txBody>
          <a:bodyPr wrap="square" lIns="0" tIns="0" rIns="0" bIns="0" rtlCol="0" anchor="ctr"/>
          <a:lstStyle/>
          <a:p>
            <a:pPr indent="0" marL="0">
              <a:buNone/>
            </a:pPr>
            <a:r>
              <a:rPr lang="en-US" sz="1050" b="1" spc="200" kern="0" dirty="0">
                <a:solidFill>
                  <a:srgbClr val="6E6A63"/>
                </a:solidFill>
                <a:latin typeface="Calibri" pitchFamily="34" charset="0"/>
                <a:ea typeface="Calibri" pitchFamily="34" charset="-122"/>
                <a:cs typeface="Calibri" pitchFamily="34" charset="-120"/>
              </a:rPr>
              <a:t>PEOPLE &amp; MAINTENANCE</a:t>
            </a:r>
            <a:endParaRPr lang="en-US" sz="1050" dirty="0"/>
          </a:p>
        </p:txBody>
      </p:sp>
      <p:sp>
        <p:nvSpPr>
          <p:cNvPr id="33" name="Text 31"/>
          <p:cNvSpPr txBox="1"/>
          <p:nvPr/>
        </p:nvSpPr>
        <p:spPr>
          <a:xfrm>
            <a:off x="9188806" y="2852928"/>
            <a:ext cx="2286000" cy="13716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Operations Manager, part-time first</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Dedicated roles only if the trigger test passes</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Advisory group seated</a:t>
            </a:r>
            <a:endParaRPr lang="en-US" sz="1150" dirty="0"/>
          </a:p>
        </p:txBody>
      </p:sp>
      <p:sp>
        <p:nvSpPr>
          <p:cNvPr id="34" name="Shape 32"/>
          <p:cNvSpPr/>
          <p:nvPr/>
        </p:nvSpPr>
        <p:spPr>
          <a:xfrm>
            <a:off x="9005926" y="4434840"/>
            <a:ext cx="2606040" cy="1325880"/>
          </a:xfrm>
          <a:prstGeom prst="roundRect">
            <a:avLst>
              <a:gd name="adj" fmla="val 5517"/>
            </a:avLst>
          </a:prstGeom>
          <a:solidFill>
            <a:srgbClr val="F0E3C4"/>
          </a:solidFill>
          <a:ln w="12700">
            <a:solidFill>
              <a:srgbClr val="F0E3C4"/>
            </a:solidFill>
            <a:prstDash val="solid"/>
          </a:ln>
        </p:spPr>
      </p:sp>
      <p:sp>
        <p:nvSpPr>
          <p:cNvPr id="35" name="Text 33"/>
          <p:cNvSpPr txBox="1"/>
          <p:nvPr/>
        </p:nvSpPr>
        <p:spPr>
          <a:xfrm>
            <a:off x="9188806" y="4544568"/>
            <a:ext cx="2240280" cy="256032"/>
          </a:xfrm>
          <a:prstGeom prst="rect">
            <a:avLst/>
          </a:prstGeom>
          <a:noFill/>
          <a:ln/>
        </p:spPr>
        <p:txBody>
          <a:bodyPr wrap="square" lIns="0" tIns="0" rIns="0" bIns="0" rtlCol="0" anchor="ctr"/>
          <a:lstStyle/>
          <a:p>
            <a:pPr indent="0" marL="0">
              <a:buNone/>
            </a:pPr>
            <a:r>
              <a:rPr lang="en-US" sz="1050" b="1" spc="200" kern="0" dirty="0">
                <a:solidFill>
                  <a:srgbClr val="8A6115"/>
                </a:solidFill>
                <a:latin typeface="Calibri" pitchFamily="34" charset="0"/>
                <a:ea typeface="Calibri" pitchFamily="34" charset="-122"/>
                <a:cs typeface="Calibri" pitchFamily="34" charset="-120"/>
              </a:rPr>
              <a:t>DIGITAL &amp; AI</a:t>
            </a:r>
            <a:endParaRPr lang="en-US" sz="1050" dirty="0"/>
          </a:p>
        </p:txBody>
      </p:sp>
      <p:sp>
        <p:nvSpPr>
          <p:cNvPr id="36" name="Text 34"/>
          <p:cNvSpPr txBox="1"/>
          <p:nvPr/>
        </p:nvSpPr>
        <p:spPr>
          <a:xfrm>
            <a:off x="9188806" y="4818888"/>
            <a:ext cx="2286000" cy="91440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One customer database</a:t>
            </a:r>
            <a:endParaRPr lang="en-US" sz="1150" dirty="0"/>
          </a:p>
          <a:p>
            <a:pPr marL="342900" indent="-342900">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Automated financial reporting</a:t>
            </a:r>
            <a:endParaRPr lang="en-US" sz="1150" dirty="0"/>
          </a:p>
        </p:txBody>
      </p:sp>
      <p:sp>
        <p:nvSpPr>
          <p:cNvPr id="37" name="Text 35"/>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250" b="1" i="1" dirty="0">
                <a:solidFill>
                  <a:srgbClr val="2E4057"/>
                </a:solidFill>
                <a:latin typeface="Calibri" pitchFamily="34" charset="0"/>
                <a:ea typeface="Calibri" pitchFamily="34" charset="-122"/>
                <a:cs typeface="Calibri" pitchFamily="34" charset="-120"/>
              </a:rPr>
              <a:t>The gate: each phase has written exit criteria. The next hire waits until the last one has met them.</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22</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INVESTMENT REQUIRED</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Built in four waves: about $73k–132k a year at full build</a:t>
            </a:r>
            <a:endParaRPr lang="en-US" sz="3000" dirty="0"/>
          </a:p>
        </p:txBody>
      </p:sp>
      <p:sp>
        <p:nvSpPr>
          <p:cNvPr id="5" name="Shape 3"/>
          <p:cNvSpPr/>
          <p:nvPr/>
        </p:nvSpPr>
        <p:spPr>
          <a:xfrm>
            <a:off x="548640" y="1554480"/>
            <a:ext cx="2606040" cy="731520"/>
          </a:xfrm>
          <a:prstGeom prst="roundRect">
            <a:avLst>
              <a:gd name="adj" fmla="val 10000"/>
            </a:avLst>
          </a:prstGeom>
          <a:solidFill>
            <a:srgbClr val="2B2A28"/>
          </a:solidFill>
          <a:ln w="12700">
            <a:solidFill>
              <a:srgbClr val="2B2A28"/>
            </a:solidFill>
            <a:prstDash val="solid"/>
          </a:ln>
        </p:spPr>
      </p:sp>
      <p:sp>
        <p:nvSpPr>
          <p:cNvPr id="6" name="Text 4"/>
          <p:cNvSpPr txBox="1"/>
          <p:nvPr/>
        </p:nvSpPr>
        <p:spPr>
          <a:xfrm>
            <a:off x="731520" y="1554480"/>
            <a:ext cx="2331720" cy="73152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WAVE 1 · OCT–DEC 2026</a:t>
            </a:r>
            <a:endParaRPr lang="en-US" sz="950" dirty="0"/>
          </a:p>
          <a:p>
            <a:pPr indent="0" marL="0">
              <a:buNone/>
            </a:pPr>
            <a:r>
              <a:rPr lang="en-US" sz="1600" b="1" dirty="0">
                <a:solidFill>
                  <a:srgbClr val="EDE7D8"/>
                </a:solidFill>
                <a:latin typeface="Cambria" pitchFamily="34" charset="0"/>
                <a:ea typeface="Cambria" pitchFamily="34" charset="-122"/>
                <a:cs typeface="Cambria" pitchFamily="34" charset="-120"/>
              </a:rPr>
              <a:t>Stabilize</a:t>
            </a:r>
            <a:endParaRPr lang="en-US" sz="950" dirty="0"/>
          </a:p>
        </p:txBody>
      </p:sp>
      <p:sp>
        <p:nvSpPr>
          <p:cNvPr id="7" name="Shape 5"/>
          <p:cNvSpPr/>
          <p:nvPr/>
        </p:nvSpPr>
        <p:spPr>
          <a:xfrm>
            <a:off x="548640" y="2395728"/>
            <a:ext cx="2606040" cy="2011680"/>
          </a:xfrm>
          <a:prstGeom prst="roundRect">
            <a:avLst>
              <a:gd name="adj" fmla="val 3636"/>
            </a:avLst>
          </a:prstGeom>
          <a:solidFill>
            <a:srgbClr val="FFFFFF"/>
          </a:solidFill>
          <a:ln w="9525">
            <a:solidFill>
              <a:srgbClr val="D9C7A3"/>
            </a:solidFill>
            <a:prstDash val="solid"/>
          </a:ln>
        </p:spPr>
      </p:sp>
      <p:sp>
        <p:nvSpPr>
          <p:cNvPr id="8" name="Text 6"/>
          <p:cNvSpPr txBox="1"/>
          <p:nvPr/>
        </p:nvSpPr>
        <p:spPr>
          <a:xfrm>
            <a:off x="731520" y="25146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Tool stack</a:t>
            </a:r>
            <a:endParaRPr lang="en-US" sz="1150" dirty="0"/>
          </a:p>
        </p:txBody>
      </p:sp>
      <p:sp>
        <p:nvSpPr>
          <p:cNvPr id="9" name="Text 7"/>
          <p:cNvSpPr txBox="1"/>
          <p:nvPr/>
        </p:nvSpPr>
        <p:spPr>
          <a:xfrm>
            <a:off x="2103120" y="25146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$4.2k–6.0k</a:t>
            </a:r>
            <a:endParaRPr lang="en-US" sz="1150" dirty="0"/>
          </a:p>
        </p:txBody>
      </p:sp>
      <p:sp>
        <p:nvSpPr>
          <p:cNvPr id="10" name="Text 8"/>
          <p:cNvSpPr txBox="1"/>
          <p:nvPr/>
        </p:nvSpPr>
        <p:spPr>
          <a:xfrm>
            <a:off x="731520" y="29718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Contract bookkeeper</a:t>
            </a:r>
            <a:endParaRPr lang="en-US" sz="1150" dirty="0"/>
          </a:p>
        </p:txBody>
      </p:sp>
      <p:sp>
        <p:nvSpPr>
          <p:cNvPr id="11" name="Text 9"/>
          <p:cNvSpPr txBox="1"/>
          <p:nvPr/>
        </p:nvSpPr>
        <p:spPr>
          <a:xfrm>
            <a:off x="2103120" y="29718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$3.0k–7.2k</a:t>
            </a:r>
            <a:endParaRPr lang="en-US" sz="1150" dirty="0"/>
          </a:p>
        </p:txBody>
      </p:sp>
      <p:sp>
        <p:nvSpPr>
          <p:cNvPr id="12" name="Text 10"/>
          <p:cNvSpPr txBox="1"/>
          <p:nvPr/>
        </p:nvSpPr>
        <p:spPr>
          <a:xfrm>
            <a:off x="731520" y="34290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Maintenance reserve</a:t>
            </a:r>
            <a:endParaRPr lang="en-US" sz="1150" dirty="0"/>
          </a:p>
        </p:txBody>
      </p:sp>
      <p:sp>
        <p:nvSpPr>
          <p:cNvPr id="13" name="Text 11"/>
          <p:cNvSpPr txBox="1"/>
          <p:nvPr/>
        </p:nvSpPr>
        <p:spPr>
          <a:xfrm>
            <a:off x="2103120" y="34290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$10k–15k</a:t>
            </a:r>
            <a:endParaRPr lang="en-US" sz="1150" dirty="0"/>
          </a:p>
        </p:txBody>
      </p:sp>
      <p:sp>
        <p:nvSpPr>
          <p:cNvPr id="14" name="Text 12"/>
          <p:cNvSpPr txBox="1"/>
          <p:nvPr/>
        </p:nvSpPr>
        <p:spPr>
          <a:xfrm>
            <a:off x="731520" y="38862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Q4 pack crew</a:t>
            </a:r>
            <a:endParaRPr lang="en-US" sz="1150" dirty="0"/>
          </a:p>
        </p:txBody>
      </p:sp>
      <p:sp>
        <p:nvSpPr>
          <p:cNvPr id="15" name="Text 13"/>
          <p:cNvSpPr txBox="1"/>
          <p:nvPr/>
        </p:nvSpPr>
        <p:spPr>
          <a:xfrm>
            <a:off x="2103120" y="38862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$5.4k–8.6k</a:t>
            </a:r>
            <a:endParaRPr lang="en-US" sz="1150" dirty="0"/>
          </a:p>
        </p:txBody>
      </p:sp>
      <p:sp>
        <p:nvSpPr>
          <p:cNvPr id="16" name="Shape 14"/>
          <p:cNvSpPr/>
          <p:nvPr/>
        </p:nvSpPr>
        <p:spPr>
          <a:xfrm>
            <a:off x="548640" y="4526280"/>
            <a:ext cx="2606040" cy="868680"/>
          </a:xfrm>
          <a:prstGeom prst="roundRect">
            <a:avLst>
              <a:gd name="adj" fmla="val 8421"/>
            </a:avLst>
          </a:prstGeom>
          <a:solidFill>
            <a:srgbClr val="F0E3C4"/>
          </a:solidFill>
          <a:ln w="12700">
            <a:solidFill>
              <a:srgbClr val="F0E3C4"/>
            </a:solidFill>
            <a:prstDash val="solid"/>
          </a:ln>
        </p:spPr>
      </p:sp>
      <p:sp>
        <p:nvSpPr>
          <p:cNvPr id="17" name="Text 15"/>
          <p:cNvSpPr txBox="1"/>
          <p:nvPr/>
        </p:nvSpPr>
        <p:spPr>
          <a:xfrm>
            <a:off x="731520" y="4526280"/>
            <a:ext cx="2240280" cy="868680"/>
          </a:xfrm>
          <a:prstGeom prst="rect">
            <a:avLst/>
          </a:prstGeom>
          <a:noFill/>
          <a:ln/>
        </p:spPr>
        <p:txBody>
          <a:bodyPr wrap="square" lIns="0" tIns="0" rIns="0" bIns="0" rtlCol="0" anchor="ctr"/>
          <a:lstStyle/>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Adds  </a:t>
            </a:r>
            <a:pPr indent="0" marL="0">
              <a:spcAft>
                <a:spcPts val="400"/>
              </a:spcAft>
              <a:buNone/>
            </a:pPr>
            <a:r>
              <a:rPr lang="en-US" sz="1300" b="1" dirty="0">
                <a:solidFill>
                  <a:srgbClr val="2B2A28"/>
                </a:solidFill>
                <a:latin typeface="Calibri" pitchFamily="34" charset="0"/>
                <a:ea typeface="Calibri" pitchFamily="34" charset="-122"/>
                <a:cs typeface="Calibri" pitchFamily="34" charset="-120"/>
              </a:rPr>
              <a:t>$22.6k–36.8k a year</a:t>
            </a:r>
            <a:endParaRPr lang="en-US" sz="1100" dirty="0"/>
          </a:p>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Running total  </a:t>
            </a:r>
            <a:pPr indent="0" marL="0">
              <a:spcAft>
                <a:spcPts val="400"/>
              </a:spcAft>
              <a:buNone/>
            </a:pPr>
            <a:r>
              <a:rPr lang="en-US" sz="1300" b="1" dirty="0">
                <a:solidFill>
                  <a:srgbClr val="8A6115"/>
                </a:solidFill>
                <a:latin typeface="Calibri" pitchFamily="34" charset="0"/>
                <a:ea typeface="Calibri" pitchFamily="34" charset="-122"/>
                <a:cs typeface="Calibri" pitchFamily="34" charset="-120"/>
              </a:rPr>
              <a:t>$22.6k–36.8k</a:t>
            </a:r>
            <a:endParaRPr lang="en-US" sz="1100" dirty="0"/>
          </a:p>
        </p:txBody>
      </p:sp>
      <p:sp>
        <p:nvSpPr>
          <p:cNvPr id="18" name="Shape 16"/>
          <p:cNvSpPr/>
          <p:nvPr/>
        </p:nvSpPr>
        <p:spPr>
          <a:xfrm>
            <a:off x="3367735" y="1554480"/>
            <a:ext cx="2606040" cy="731520"/>
          </a:xfrm>
          <a:prstGeom prst="roundRect">
            <a:avLst>
              <a:gd name="adj" fmla="val 10000"/>
            </a:avLst>
          </a:prstGeom>
          <a:solidFill>
            <a:srgbClr val="2B2A28"/>
          </a:solidFill>
          <a:ln w="12700">
            <a:solidFill>
              <a:srgbClr val="2B2A28"/>
            </a:solidFill>
            <a:prstDash val="solid"/>
          </a:ln>
        </p:spPr>
      </p:sp>
      <p:sp>
        <p:nvSpPr>
          <p:cNvPr id="19" name="Text 17"/>
          <p:cNvSpPr txBox="1"/>
          <p:nvPr/>
        </p:nvSpPr>
        <p:spPr>
          <a:xfrm>
            <a:off x="3550615" y="1554480"/>
            <a:ext cx="2331720" cy="73152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WAVE 2 · JAN–MAR 2027</a:t>
            </a:r>
            <a:endParaRPr lang="en-US" sz="950" dirty="0"/>
          </a:p>
          <a:p>
            <a:pPr indent="0" marL="0">
              <a:buNone/>
            </a:pPr>
            <a:r>
              <a:rPr lang="en-US" sz="1600" b="1" dirty="0">
                <a:solidFill>
                  <a:srgbClr val="EDE7D8"/>
                </a:solidFill>
                <a:latin typeface="Cambria" pitchFamily="34" charset="0"/>
                <a:ea typeface="Cambria" pitchFamily="34" charset="-122"/>
                <a:cs typeface="Cambria" pitchFamily="34" charset="-120"/>
              </a:rPr>
              <a:t>Launch and fund</a:t>
            </a:r>
            <a:endParaRPr lang="en-US" sz="950" dirty="0"/>
          </a:p>
        </p:txBody>
      </p:sp>
      <p:sp>
        <p:nvSpPr>
          <p:cNvPr id="20" name="Shape 18"/>
          <p:cNvSpPr/>
          <p:nvPr/>
        </p:nvSpPr>
        <p:spPr>
          <a:xfrm>
            <a:off x="3367735" y="2395728"/>
            <a:ext cx="2606040" cy="2011680"/>
          </a:xfrm>
          <a:prstGeom prst="roundRect">
            <a:avLst>
              <a:gd name="adj" fmla="val 3636"/>
            </a:avLst>
          </a:prstGeom>
          <a:solidFill>
            <a:srgbClr val="FFFFFF"/>
          </a:solidFill>
          <a:ln w="9525">
            <a:solidFill>
              <a:srgbClr val="D9C7A3"/>
            </a:solidFill>
            <a:prstDash val="solid"/>
          </a:ln>
        </p:spPr>
      </p:sp>
      <p:sp>
        <p:nvSpPr>
          <p:cNvPr id="21" name="Text 19"/>
          <p:cNvSpPr txBox="1"/>
          <p:nvPr/>
        </p:nvSpPr>
        <p:spPr>
          <a:xfrm>
            <a:off x="3550615" y="25146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Web retainer</a:t>
            </a:r>
            <a:endParaRPr lang="en-US" sz="1150" dirty="0"/>
          </a:p>
        </p:txBody>
      </p:sp>
      <p:sp>
        <p:nvSpPr>
          <p:cNvPr id="22" name="Text 20"/>
          <p:cNvSpPr txBox="1"/>
          <p:nvPr/>
        </p:nvSpPr>
        <p:spPr>
          <a:xfrm>
            <a:off x="4922215" y="25146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$1.6k–6.2k</a:t>
            </a:r>
            <a:endParaRPr lang="en-US" sz="1150" dirty="0"/>
          </a:p>
        </p:txBody>
      </p:sp>
      <p:sp>
        <p:nvSpPr>
          <p:cNvPr id="23" name="Text 21"/>
          <p:cNvSpPr txBox="1"/>
          <p:nvPr/>
        </p:nvSpPr>
        <p:spPr>
          <a:xfrm>
            <a:off x="3550615" y="29718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Fractional marketer</a:t>
            </a:r>
            <a:endParaRPr lang="en-US" sz="1150" dirty="0"/>
          </a:p>
        </p:txBody>
      </p:sp>
      <p:sp>
        <p:nvSpPr>
          <p:cNvPr id="24" name="Text 22"/>
          <p:cNvSpPr txBox="1"/>
          <p:nvPr/>
        </p:nvSpPr>
        <p:spPr>
          <a:xfrm>
            <a:off x="4922215" y="29718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$6.0k–18.0k</a:t>
            </a:r>
            <a:endParaRPr lang="en-US" sz="1150" dirty="0"/>
          </a:p>
        </p:txBody>
      </p:sp>
      <p:sp>
        <p:nvSpPr>
          <p:cNvPr id="25" name="Text 23"/>
          <p:cNvSpPr txBox="1"/>
          <p:nvPr/>
        </p:nvSpPr>
        <p:spPr>
          <a:xfrm>
            <a:off x="3550615" y="34290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Grant writer</a:t>
            </a:r>
            <a:endParaRPr lang="en-US" sz="1150" dirty="0"/>
          </a:p>
        </p:txBody>
      </p:sp>
      <p:sp>
        <p:nvSpPr>
          <p:cNvPr id="26" name="Text 24"/>
          <p:cNvSpPr txBox="1"/>
          <p:nvPr/>
        </p:nvSpPr>
        <p:spPr>
          <a:xfrm>
            <a:off x="4922215" y="34290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$3.0k–15.0k</a:t>
            </a:r>
            <a:endParaRPr lang="en-US" sz="1150" dirty="0"/>
          </a:p>
        </p:txBody>
      </p:sp>
      <p:sp>
        <p:nvSpPr>
          <p:cNvPr id="27" name="Text 25"/>
          <p:cNvSpPr txBox="1"/>
          <p:nvPr/>
        </p:nvSpPr>
        <p:spPr>
          <a:xfrm>
            <a:off x="3550615" y="38862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Wholesale rep</a:t>
            </a:r>
            <a:endParaRPr lang="en-US" sz="1150" dirty="0"/>
          </a:p>
        </p:txBody>
      </p:sp>
      <p:sp>
        <p:nvSpPr>
          <p:cNvPr id="28" name="Text 26"/>
          <p:cNvSpPr txBox="1"/>
          <p:nvPr/>
        </p:nvSpPr>
        <p:spPr>
          <a:xfrm>
            <a:off x="4922215" y="3886200"/>
            <a:ext cx="868680" cy="411480"/>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Commission</a:t>
            </a:r>
            <a:endParaRPr lang="en-US" sz="1150" dirty="0"/>
          </a:p>
        </p:txBody>
      </p:sp>
      <p:sp>
        <p:nvSpPr>
          <p:cNvPr id="29" name="Shape 27"/>
          <p:cNvSpPr/>
          <p:nvPr/>
        </p:nvSpPr>
        <p:spPr>
          <a:xfrm>
            <a:off x="3367735" y="4526280"/>
            <a:ext cx="2606040" cy="868680"/>
          </a:xfrm>
          <a:prstGeom prst="roundRect">
            <a:avLst>
              <a:gd name="adj" fmla="val 8421"/>
            </a:avLst>
          </a:prstGeom>
          <a:solidFill>
            <a:srgbClr val="F0E3C4"/>
          </a:solidFill>
          <a:ln w="12700">
            <a:solidFill>
              <a:srgbClr val="F0E3C4"/>
            </a:solidFill>
            <a:prstDash val="solid"/>
          </a:ln>
        </p:spPr>
      </p:sp>
      <p:sp>
        <p:nvSpPr>
          <p:cNvPr id="30" name="Text 28"/>
          <p:cNvSpPr txBox="1"/>
          <p:nvPr/>
        </p:nvSpPr>
        <p:spPr>
          <a:xfrm>
            <a:off x="3550615" y="4526280"/>
            <a:ext cx="2240280" cy="868680"/>
          </a:xfrm>
          <a:prstGeom prst="rect">
            <a:avLst/>
          </a:prstGeom>
          <a:noFill/>
          <a:ln/>
        </p:spPr>
        <p:txBody>
          <a:bodyPr wrap="square" lIns="0" tIns="0" rIns="0" bIns="0" rtlCol="0" anchor="ctr"/>
          <a:lstStyle/>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Adds  </a:t>
            </a:r>
            <a:pPr indent="0" marL="0">
              <a:spcAft>
                <a:spcPts val="400"/>
              </a:spcAft>
              <a:buNone/>
            </a:pPr>
            <a:r>
              <a:rPr lang="en-US" sz="1300" b="1" dirty="0">
                <a:solidFill>
                  <a:srgbClr val="2B2A28"/>
                </a:solidFill>
                <a:latin typeface="Calibri" pitchFamily="34" charset="0"/>
                <a:ea typeface="Calibri" pitchFamily="34" charset="-122"/>
                <a:cs typeface="Calibri" pitchFamily="34" charset="-120"/>
              </a:rPr>
              <a:t>$10.6k–39.2k a year</a:t>
            </a:r>
            <a:endParaRPr lang="en-US" sz="1100" dirty="0"/>
          </a:p>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Running total  </a:t>
            </a:r>
            <a:pPr indent="0" marL="0">
              <a:spcAft>
                <a:spcPts val="400"/>
              </a:spcAft>
              <a:buNone/>
            </a:pPr>
            <a:r>
              <a:rPr lang="en-US" sz="1300" b="1" dirty="0">
                <a:solidFill>
                  <a:srgbClr val="8A6115"/>
                </a:solidFill>
                <a:latin typeface="Calibri" pitchFamily="34" charset="0"/>
                <a:ea typeface="Calibri" pitchFamily="34" charset="-122"/>
                <a:cs typeface="Calibri" pitchFamily="34" charset="-120"/>
              </a:rPr>
              <a:t>$33.2k–76.0k</a:t>
            </a:r>
            <a:endParaRPr lang="en-US" sz="1100" dirty="0"/>
          </a:p>
        </p:txBody>
      </p:sp>
      <p:sp>
        <p:nvSpPr>
          <p:cNvPr id="31" name="Shape 29"/>
          <p:cNvSpPr/>
          <p:nvPr/>
        </p:nvSpPr>
        <p:spPr>
          <a:xfrm>
            <a:off x="6186830" y="1554480"/>
            <a:ext cx="2606040" cy="731520"/>
          </a:xfrm>
          <a:prstGeom prst="roundRect">
            <a:avLst>
              <a:gd name="adj" fmla="val 10000"/>
            </a:avLst>
          </a:prstGeom>
          <a:solidFill>
            <a:srgbClr val="2B2A28"/>
          </a:solidFill>
          <a:ln w="12700">
            <a:solidFill>
              <a:srgbClr val="2B2A28"/>
            </a:solidFill>
            <a:prstDash val="solid"/>
          </a:ln>
        </p:spPr>
      </p:sp>
      <p:sp>
        <p:nvSpPr>
          <p:cNvPr id="32" name="Text 30"/>
          <p:cNvSpPr txBox="1"/>
          <p:nvPr/>
        </p:nvSpPr>
        <p:spPr>
          <a:xfrm>
            <a:off x="6369710" y="1554480"/>
            <a:ext cx="2331720" cy="73152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WAVE 3 · APR–SEP 2027</a:t>
            </a:r>
            <a:endParaRPr lang="en-US" sz="950" dirty="0"/>
          </a:p>
          <a:p>
            <a:pPr indent="0" marL="0">
              <a:buNone/>
            </a:pPr>
            <a:r>
              <a:rPr lang="en-US" sz="1600" b="1" dirty="0">
                <a:solidFill>
                  <a:srgbClr val="EDE7D8"/>
                </a:solidFill>
                <a:latin typeface="Cambria" pitchFamily="34" charset="0"/>
                <a:ea typeface="Cambria" pitchFamily="34" charset="-122"/>
                <a:cs typeface="Cambria" pitchFamily="34" charset="-120"/>
              </a:rPr>
              <a:t>Cover the gaps</a:t>
            </a:r>
            <a:endParaRPr lang="en-US" sz="950" dirty="0"/>
          </a:p>
        </p:txBody>
      </p:sp>
      <p:sp>
        <p:nvSpPr>
          <p:cNvPr id="33" name="Shape 31"/>
          <p:cNvSpPr/>
          <p:nvPr/>
        </p:nvSpPr>
        <p:spPr>
          <a:xfrm>
            <a:off x="6186830" y="2395728"/>
            <a:ext cx="2606040" cy="2011680"/>
          </a:xfrm>
          <a:prstGeom prst="roundRect">
            <a:avLst>
              <a:gd name="adj" fmla="val 3636"/>
            </a:avLst>
          </a:prstGeom>
          <a:solidFill>
            <a:srgbClr val="FFFFFF"/>
          </a:solidFill>
          <a:ln w="9525">
            <a:solidFill>
              <a:srgbClr val="D9C7A3"/>
            </a:solidFill>
            <a:prstDash val="solid"/>
          </a:ln>
        </p:spPr>
      </p:sp>
      <p:sp>
        <p:nvSpPr>
          <p:cNvPr id="34" name="Text 32"/>
          <p:cNvSpPr txBox="1"/>
          <p:nvPr/>
        </p:nvSpPr>
        <p:spPr>
          <a:xfrm>
            <a:off x="6369710" y="25146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Maintenance lead</a:t>
            </a:r>
            <a:endParaRPr lang="en-US" sz="1150" dirty="0"/>
          </a:p>
        </p:txBody>
      </p:sp>
      <p:sp>
        <p:nvSpPr>
          <p:cNvPr id="35" name="Text 33"/>
          <p:cNvSpPr txBox="1"/>
          <p:nvPr/>
        </p:nvSpPr>
        <p:spPr>
          <a:xfrm>
            <a:off x="7741310" y="25146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$9.2k–17.5k</a:t>
            </a:r>
            <a:endParaRPr lang="en-US" sz="1150" dirty="0"/>
          </a:p>
        </p:txBody>
      </p:sp>
      <p:sp>
        <p:nvSpPr>
          <p:cNvPr id="36" name="Text 34"/>
          <p:cNvSpPr txBox="1"/>
          <p:nvPr/>
        </p:nvSpPr>
        <p:spPr>
          <a:xfrm>
            <a:off x="6369710" y="29718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URI digital intern</a:t>
            </a:r>
            <a:endParaRPr lang="en-US" sz="1150" dirty="0"/>
          </a:p>
        </p:txBody>
      </p:sp>
      <p:sp>
        <p:nvSpPr>
          <p:cNvPr id="37" name="Text 35"/>
          <p:cNvSpPr txBox="1"/>
          <p:nvPr/>
        </p:nvSpPr>
        <p:spPr>
          <a:xfrm>
            <a:off x="7741310" y="29718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$5.1k–6.0k</a:t>
            </a:r>
            <a:endParaRPr lang="en-US" sz="1150" dirty="0"/>
          </a:p>
        </p:txBody>
      </p:sp>
      <p:sp>
        <p:nvSpPr>
          <p:cNvPr id="38" name="Text 36"/>
          <p:cNvSpPr txBox="1"/>
          <p:nvPr/>
        </p:nvSpPr>
        <p:spPr>
          <a:xfrm>
            <a:off x="6369710" y="34290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Apprentice miller</a:t>
            </a:r>
            <a:endParaRPr lang="en-US" sz="1150" dirty="0"/>
          </a:p>
        </p:txBody>
      </p:sp>
      <p:sp>
        <p:nvSpPr>
          <p:cNvPr id="39" name="Text 37"/>
          <p:cNvSpPr txBox="1"/>
          <p:nvPr/>
        </p:nvSpPr>
        <p:spPr>
          <a:xfrm>
            <a:off x="7741310" y="3429000"/>
            <a:ext cx="868680" cy="411480"/>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Via state programs</a:t>
            </a:r>
            <a:endParaRPr lang="en-US" sz="1150" dirty="0"/>
          </a:p>
        </p:txBody>
      </p:sp>
      <p:sp>
        <p:nvSpPr>
          <p:cNvPr id="40" name="Shape 38"/>
          <p:cNvSpPr/>
          <p:nvPr/>
        </p:nvSpPr>
        <p:spPr>
          <a:xfrm>
            <a:off x="6186830" y="4526280"/>
            <a:ext cx="2606040" cy="868680"/>
          </a:xfrm>
          <a:prstGeom prst="roundRect">
            <a:avLst>
              <a:gd name="adj" fmla="val 8421"/>
            </a:avLst>
          </a:prstGeom>
          <a:solidFill>
            <a:srgbClr val="F0E3C4"/>
          </a:solidFill>
          <a:ln w="12700">
            <a:solidFill>
              <a:srgbClr val="F0E3C4"/>
            </a:solidFill>
            <a:prstDash val="solid"/>
          </a:ln>
        </p:spPr>
      </p:sp>
      <p:sp>
        <p:nvSpPr>
          <p:cNvPr id="41" name="Text 39"/>
          <p:cNvSpPr txBox="1"/>
          <p:nvPr/>
        </p:nvSpPr>
        <p:spPr>
          <a:xfrm>
            <a:off x="6369710" y="4526280"/>
            <a:ext cx="2240280" cy="868680"/>
          </a:xfrm>
          <a:prstGeom prst="rect">
            <a:avLst/>
          </a:prstGeom>
          <a:noFill/>
          <a:ln/>
        </p:spPr>
        <p:txBody>
          <a:bodyPr wrap="square" lIns="0" tIns="0" rIns="0" bIns="0" rtlCol="0" anchor="ctr"/>
          <a:lstStyle/>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Adds  </a:t>
            </a:r>
            <a:pPr indent="0" marL="0">
              <a:spcAft>
                <a:spcPts val="400"/>
              </a:spcAft>
              <a:buNone/>
            </a:pPr>
            <a:r>
              <a:rPr lang="en-US" sz="1300" b="1" dirty="0">
                <a:solidFill>
                  <a:srgbClr val="2B2A28"/>
                </a:solidFill>
                <a:latin typeface="Calibri" pitchFamily="34" charset="0"/>
                <a:ea typeface="Calibri" pitchFamily="34" charset="-122"/>
                <a:cs typeface="Calibri" pitchFamily="34" charset="-120"/>
              </a:rPr>
              <a:t>$14.3k–23.5k a year</a:t>
            </a:r>
            <a:endParaRPr lang="en-US" sz="1100" dirty="0"/>
          </a:p>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Running total  </a:t>
            </a:r>
            <a:pPr indent="0" marL="0">
              <a:spcAft>
                <a:spcPts val="400"/>
              </a:spcAft>
              <a:buNone/>
            </a:pPr>
            <a:r>
              <a:rPr lang="en-US" sz="1300" b="1" dirty="0">
                <a:solidFill>
                  <a:srgbClr val="8A6115"/>
                </a:solidFill>
                <a:latin typeface="Calibri" pitchFamily="34" charset="0"/>
                <a:ea typeface="Calibri" pitchFamily="34" charset="-122"/>
                <a:cs typeface="Calibri" pitchFamily="34" charset="-120"/>
              </a:rPr>
              <a:t>$47.5k–99.5k</a:t>
            </a:r>
            <a:endParaRPr lang="en-US" sz="1100" dirty="0"/>
          </a:p>
        </p:txBody>
      </p:sp>
      <p:sp>
        <p:nvSpPr>
          <p:cNvPr id="42" name="Shape 40"/>
          <p:cNvSpPr/>
          <p:nvPr/>
        </p:nvSpPr>
        <p:spPr>
          <a:xfrm>
            <a:off x="9005926" y="1554480"/>
            <a:ext cx="2606040" cy="731520"/>
          </a:xfrm>
          <a:prstGeom prst="roundRect">
            <a:avLst>
              <a:gd name="adj" fmla="val 10000"/>
            </a:avLst>
          </a:prstGeom>
          <a:solidFill>
            <a:srgbClr val="2B2A28"/>
          </a:solidFill>
          <a:ln w="12700">
            <a:solidFill>
              <a:srgbClr val="2B2A28"/>
            </a:solidFill>
            <a:prstDash val="solid"/>
          </a:ln>
        </p:spPr>
      </p:sp>
      <p:sp>
        <p:nvSpPr>
          <p:cNvPr id="43" name="Text 41"/>
          <p:cNvSpPr txBox="1"/>
          <p:nvPr/>
        </p:nvSpPr>
        <p:spPr>
          <a:xfrm>
            <a:off x="9188806" y="1554480"/>
            <a:ext cx="2331720" cy="731520"/>
          </a:xfrm>
          <a:prstGeom prst="rect">
            <a:avLst/>
          </a:prstGeom>
          <a:noFill/>
          <a:ln/>
        </p:spPr>
        <p:txBody>
          <a:bodyPr wrap="square" lIns="0" tIns="0" rIns="0" bIns="0" rtlCol="0" anchor="ctr"/>
          <a:lstStyle/>
          <a:p>
            <a:pPr indent="0" marL="0">
              <a:buNone/>
            </a:pPr>
            <a:r>
              <a:rPr lang="en-US" sz="950" b="1" spc="100" kern="0" dirty="0">
                <a:solidFill>
                  <a:srgbClr val="C8922F"/>
                </a:solidFill>
                <a:latin typeface="Calibri" pitchFamily="34" charset="0"/>
                <a:ea typeface="Calibri" pitchFamily="34" charset="-122"/>
                <a:cs typeface="Calibri" pitchFamily="34" charset="-120"/>
              </a:rPr>
              <a:t>WAVE 4 · YEAR 2</a:t>
            </a:r>
            <a:endParaRPr lang="en-US" sz="950" dirty="0"/>
          </a:p>
          <a:p>
            <a:pPr indent="0" marL="0">
              <a:buNone/>
            </a:pPr>
            <a:r>
              <a:rPr lang="en-US" sz="1600" b="1" dirty="0">
                <a:solidFill>
                  <a:srgbClr val="EDE7D8"/>
                </a:solidFill>
                <a:latin typeface="Cambria" pitchFamily="34" charset="0"/>
                <a:ea typeface="Cambria" pitchFamily="34" charset="-122"/>
                <a:cs typeface="Cambria" pitchFamily="34" charset="-120"/>
              </a:rPr>
              <a:t>Second in command</a:t>
            </a:r>
            <a:endParaRPr lang="en-US" sz="950" dirty="0"/>
          </a:p>
        </p:txBody>
      </p:sp>
      <p:sp>
        <p:nvSpPr>
          <p:cNvPr id="44" name="Shape 42"/>
          <p:cNvSpPr/>
          <p:nvPr/>
        </p:nvSpPr>
        <p:spPr>
          <a:xfrm>
            <a:off x="9005926" y="2395728"/>
            <a:ext cx="2606040" cy="2011680"/>
          </a:xfrm>
          <a:prstGeom prst="roundRect">
            <a:avLst>
              <a:gd name="adj" fmla="val 3636"/>
            </a:avLst>
          </a:prstGeom>
          <a:solidFill>
            <a:srgbClr val="FFFFFF"/>
          </a:solidFill>
          <a:ln w="9525">
            <a:solidFill>
              <a:srgbClr val="D9C7A3"/>
            </a:solidFill>
            <a:prstDash val="solid"/>
          </a:ln>
        </p:spPr>
      </p:sp>
      <p:sp>
        <p:nvSpPr>
          <p:cNvPr id="45" name="Text 43"/>
          <p:cNvSpPr txBox="1"/>
          <p:nvPr/>
        </p:nvSpPr>
        <p:spPr>
          <a:xfrm>
            <a:off x="9188806" y="2514600"/>
            <a:ext cx="1417320" cy="411480"/>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Operations Manager, part-time</a:t>
            </a:r>
            <a:endParaRPr lang="en-US" sz="1150" dirty="0"/>
          </a:p>
        </p:txBody>
      </p:sp>
      <p:sp>
        <p:nvSpPr>
          <p:cNvPr id="46" name="Text 44"/>
          <p:cNvSpPr txBox="1"/>
          <p:nvPr/>
        </p:nvSpPr>
        <p:spPr>
          <a:xfrm>
            <a:off x="10560406" y="2514600"/>
            <a:ext cx="868680" cy="411480"/>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$25k–32k</a:t>
            </a:r>
            <a:endParaRPr lang="en-US" sz="1150" dirty="0"/>
          </a:p>
        </p:txBody>
      </p:sp>
      <p:sp>
        <p:nvSpPr>
          <p:cNvPr id="47" name="Shape 45"/>
          <p:cNvSpPr/>
          <p:nvPr/>
        </p:nvSpPr>
        <p:spPr>
          <a:xfrm>
            <a:off x="9005926" y="4526280"/>
            <a:ext cx="2606040" cy="868680"/>
          </a:xfrm>
          <a:prstGeom prst="roundRect">
            <a:avLst>
              <a:gd name="adj" fmla="val 8421"/>
            </a:avLst>
          </a:prstGeom>
          <a:solidFill>
            <a:srgbClr val="F0E3C4"/>
          </a:solidFill>
          <a:ln w="12700">
            <a:solidFill>
              <a:srgbClr val="F0E3C4"/>
            </a:solidFill>
            <a:prstDash val="solid"/>
          </a:ln>
        </p:spPr>
      </p:sp>
      <p:sp>
        <p:nvSpPr>
          <p:cNvPr id="48" name="Text 46"/>
          <p:cNvSpPr txBox="1"/>
          <p:nvPr/>
        </p:nvSpPr>
        <p:spPr>
          <a:xfrm>
            <a:off x="9188806" y="4526280"/>
            <a:ext cx="2240280" cy="868680"/>
          </a:xfrm>
          <a:prstGeom prst="rect">
            <a:avLst/>
          </a:prstGeom>
          <a:noFill/>
          <a:ln/>
        </p:spPr>
        <p:txBody>
          <a:bodyPr wrap="square" lIns="0" tIns="0" rIns="0" bIns="0" rtlCol="0" anchor="ctr"/>
          <a:lstStyle/>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Adds  </a:t>
            </a:r>
            <a:pPr indent="0" marL="0">
              <a:spcAft>
                <a:spcPts val="400"/>
              </a:spcAft>
              <a:buNone/>
            </a:pPr>
            <a:r>
              <a:rPr lang="en-US" sz="1300" b="1" dirty="0">
                <a:solidFill>
                  <a:srgbClr val="2B2A28"/>
                </a:solidFill>
                <a:latin typeface="Calibri" pitchFamily="34" charset="0"/>
                <a:ea typeface="Calibri" pitchFamily="34" charset="-122"/>
                <a:cs typeface="Calibri" pitchFamily="34" charset="-120"/>
              </a:rPr>
              <a:t>$25.0k–32.0k a year</a:t>
            </a:r>
            <a:endParaRPr lang="en-US" sz="1100" dirty="0"/>
          </a:p>
          <a:p>
            <a:pPr indent="0" marL="0">
              <a:spcAft>
                <a:spcPts val="400"/>
              </a:spcAft>
              <a:buNone/>
            </a:pPr>
            <a:r>
              <a:rPr lang="en-US" sz="1100" dirty="0">
                <a:solidFill>
                  <a:srgbClr val="4A5359"/>
                </a:solidFill>
                <a:latin typeface="Calibri" pitchFamily="34" charset="0"/>
                <a:ea typeface="Calibri" pitchFamily="34" charset="-122"/>
                <a:cs typeface="Calibri" pitchFamily="34" charset="-120"/>
              </a:rPr>
              <a:t>Running total  </a:t>
            </a:r>
            <a:pPr indent="0" marL="0">
              <a:spcAft>
                <a:spcPts val="400"/>
              </a:spcAft>
              <a:buNone/>
            </a:pPr>
            <a:r>
              <a:rPr lang="en-US" sz="1300" b="1" dirty="0">
                <a:solidFill>
                  <a:srgbClr val="8A6115"/>
                </a:solidFill>
                <a:latin typeface="Calibri" pitchFamily="34" charset="0"/>
                <a:ea typeface="Calibri" pitchFamily="34" charset="-122"/>
                <a:cs typeface="Calibri" pitchFamily="34" charset="-120"/>
              </a:rPr>
              <a:t>$72.5k–131.5k</a:t>
            </a:r>
            <a:endParaRPr lang="en-US" sz="1100" dirty="0"/>
          </a:p>
        </p:txBody>
      </p:sp>
      <p:sp>
        <p:nvSpPr>
          <p:cNvPr id="49" name="Shape 47"/>
          <p:cNvSpPr/>
          <p:nvPr/>
        </p:nvSpPr>
        <p:spPr>
          <a:xfrm>
            <a:off x="548640" y="5532120"/>
            <a:ext cx="11064240" cy="777240"/>
          </a:xfrm>
          <a:prstGeom prst="roundRect">
            <a:avLst>
              <a:gd name="adj" fmla="val 9412"/>
            </a:avLst>
          </a:prstGeom>
          <a:solidFill>
            <a:srgbClr val="2E4057"/>
          </a:solidFill>
          <a:ln w="12700">
            <a:solidFill>
              <a:srgbClr val="2E4057"/>
            </a:solidFill>
            <a:prstDash val="solid"/>
          </a:ln>
        </p:spPr>
      </p:sp>
      <p:sp>
        <p:nvSpPr>
          <p:cNvPr id="50" name="Text 48"/>
          <p:cNvSpPr txBox="1"/>
          <p:nvPr/>
        </p:nvSpPr>
        <p:spPr>
          <a:xfrm>
            <a:off x="822960" y="5532120"/>
            <a:ext cx="10515600" cy="777240"/>
          </a:xfrm>
          <a:prstGeom prst="rect">
            <a:avLst/>
          </a:prstGeom>
          <a:noFill/>
          <a:ln/>
        </p:spPr>
        <p:txBody>
          <a:bodyPr wrap="square" lIns="0" tIns="0" rIns="0" bIns="0" rtlCol="0" anchor="ctr"/>
          <a:lstStyle/>
          <a:p>
            <a:pPr indent="0" marL="0">
              <a:buNone/>
            </a:pPr>
            <a:r>
              <a:rPr lang="en-US" sz="1100" b="1" dirty="0">
                <a:solidFill>
                  <a:srgbClr val="C8922F"/>
                </a:solidFill>
                <a:latin typeface="Calibri" pitchFamily="34" charset="0"/>
                <a:ea typeface="Calibri" pitchFamily="34" charset="-122"/>
                <a:cs typeface="Calibri" pitchFamily="34" charset="-120"/>
              </a:rPr>
              <a:t>Full build is 22–40% of 2024 revenue ($325,868), so each wave waits for its gate.  </a:t>
            </a:r>
            <a:pPr indent="0" marL="0">
              <a:buNone/>
            </a:pPr>
            <a:r>
              <a:rPr lang="en-US" sz="1100" dirty="0">
                <a:solidFill>
                  <a:srgbClr val="EDE7D8"/>
                </a:solidFill>
                <a:latin typeface="Calibri" pitchFamily="34" charset="0"/>
                <a:ea typeface="Calibri" pitchFamily="34" charset="-122"/>
                <a:cs typeface="Calibri" pitchFamily="34" charset="-120"/>
              </a:rPr>
              <a:t>Not included: the one-time web build ($6.2k–17.4k, see Part Four), major repairs (quotes needed, grant-funded), and costs that scale with sales (5–8% wholesale commission, seasonal hosts, card and booking fees).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23</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TIME REQUIRED</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Owners put in 5 hrs a week up front and get 12–15 back</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040880" cy="914400"/>
        </p:xfrm>
        <a:graphic>
          <a:graphicData uri="http://schemas.openxmlformats.org/drawingml/2006/table">
            <a:tbl>
              <a:tblPr/>
              <a:tblGrid>
                <a:gridCol w="1051560"/>
                <a:gridCol w="2423160"/>
                <a:gridCol w="1920240"/>
                <a:gridCol w="1645920"/>
              </a:tblGrid>
              <a:tr h="384048">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Owners put in</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Staff put in</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Owner time back</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841248">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Months 0–3</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4–6 hrs/wk: time log review, role cards, web build decisions, first workflows</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2–3 hrs each for the time log and role card; product data sheet</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2–4 hrs/wk (service reply drafts)</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Months 3–6</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3–5 hrs/wk: a daily approval window, site launch, onboarding the marketer</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Launch testing; 1–2 hrs per written procedure</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5–6 hrs/wk (admin down 25%)</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Months 6–12</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2–3 hrs/wk: approvals become spot checks; hiring</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Digital Lead 5 hrs/wk; procedures continue</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9–11 hrs/wk (down 45%)</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Years 2–3</a:t>
                      </a:r>
                      <a:endParaRPr lang="en-US" sz="12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2B2A28"/>
                          </a:solidFill>
                          <a:latin typeface="Calibri" pitchFamily="34" charset="0"/>
                          <a:ea typeface="Calibri" pitchFamily="34" charset="-122"/>
                          <a:cs typeface="Calibri" pitchFamily="34" charset="-120"/>
                        </a:rPr>
                        <a:t>About 2 hrs/wk, plus the meeting rhythm</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Cross-training; apprentice learning the method</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12–15 hrs/wk (down 60%)</a:t>
                      </a:r>
                      <a:endParaRPr lang="en-US" sz="1100" dirty="0">
                        <a:latin typeface="Calibri" charset="0"/>
                        <a:ea typeface="Calibri" charset="0"/>
                        <a:cs typeface="Calibri" charset="0"/>
                      </a:endParaRPr>
                    </a:p>
                  </a:txBody>
                  <a:tcPr marL="73152" marR="73152" marT="73152" marB="73152"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7818120" y="1463040"/>
          <a:ext cx="3840480" cy="38404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48640" y="5532120"/>
            <a:ext cx="11064240" cy="685800"/>
          </a:xfrm>
          <a:prstGeom prst="roundRect">
            <a:avLst>
              <a:gd name="adj" fmla="val 10667"/>
            </a:avLst>
          </a:prstGeom>
          <a:solidFill>
            <a:srgbClr val="F0E3C4"/>
          </a:solidFill>
          <a:ln w="12700">
            <a:solidFill>
              <a:srgbClr val="F0E3C4"/>
            </a:solidFill>
            <a:prstDash val="solid"/>
          </a:ln>
        </p:spPr>
      </p:sp>
      <p:sp>
        <p:nvSpPr>
          <p:cNvPr id="8" name="Text 4"/>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200" b="1" dirty="0">
                <a:solidFill>
                  <a:srgbClr val="8A6115"/>
                </a:solidFill>
                <a:latin typeface="Calibri" pitchFamily="34" charset="0"/>
                <a:ea typeface="Calibri" pitchFamily="34" charset="-122"/>
                <a:cs typeface="Calibri" pitchFamily="34" charset="-120"/>
              </a:rPr>
              <a:t>Standing time:  </a:t>
            </a:r>
            <a:pPr indent="0" marL="0">
              <a:buNone/>
            </a:pPr>
            <a:r>
              <a:rPr lang="en-US" sz="1200" dirty="0">
                <a:solidFill>
                  <a:srgbClr val="2B2A28"/>
                </a:solidFill>
                <a:latin typeface="Calibri" pitchFamily="34" charset="0"/>
                <a:ea typeface="Calibri" pitchFamily="34" charset="-122"/>
                <a:cs typeface="Calibri" pitchFamily="34" charset="-120"/>
              </a:rPr>
              <a:t>daily 10 min · weekly 30 min · monthly 90 min · quarterly half day · annual full day. Hours back come from the Growth Plan's owner-admin targets.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D9C7A3"/>
                </a:solidFill>
                <a:latin typeface="Calibri" pitchFamily="34" charset="0"/>
                <a:ea typeface="Calibri" pitchFamily="34" charset="-122"/>
                <a:cs typeface="Calibri" pitchFamily="34" charset="-120"/>
              </a:rPr>
              <a:t>Kenyon's Grist Mill  ·  Roles, Structure &amp; AI  ·  24</a:t>
            </a:r>
            <a:endParaRPr lang="en-US" sz="900" dirty="0"/>
          </a:p>
        </p:txBody>
      </p:sp>
      <p:sp>
        <p:nvSpPr>
          <p:cNvPr id="3" name="Text 1"/>
          <p:cNvSpPr txBox="1"/>
          <p:nvPr/>
        </p:nvSpPr>
        <p:spPr>
          <a:xfrm>
            <a:off x="548640" y="2194560"/>
            <a:ext cx="7315200" cy="365760"/>
          </a:xfrm>
          <a:prstGeom prst="rect">
            <a:avLst/>
          </a:prstGeom>
          <a:noFill/>
          <a:ln/>
        </p:spPr>
        <p:txBody>
          <a:bodyPr wrap="square" lIns="0" tIns="0" rIns="0" bIns="0" rtlCol="0" anchor="ctr"/>
          <a:lstStyle/>
          <a:p>
            <a:pPr indent="0" marL="0">
              <a:buNone/>
            </a:pPr>
            <a:r>
              <a:rPr lang="en-US" sz="1400" b="1" spc="400" kern="0" dirty="0">
                <a:solidFill>
                  <a:srgbClr val="C8922F"/>
                </a:solidFill>
                <a:latin typeface="Calibri" pitchFamily="34" charset="0"/>
                <a:ea typeface="Calibri" pitchFamily="34" charset="-122"/>
                <a:cs typeface="Calibri" pitchFamily="34" charset="-120"/>
              </a:rPr>
              <a:t>PART THREE</a:t>
            </a:r>
            <a:endParaRPr lang="en-US" sz="1400" dirty="0"/>
          </a:p>
        </p:txBody>
      </p:sp>
      <p:sp>
        <p:nvSpPr>
          <p:cNvPr id="4" name="Text 2"/>
          <p:cNvSpPr txBox="1"/>
          <p:nvPr/>
        </p:nvSpPr>
        <p:spPr>
          <a:xfrm>
            <a:off x="548640" y="2606040"/>
            <a:ext cx="10515600" cy="914400"/>
          </a:xfrm>
          <a:prstGeom prst="rect">
            <a:avLst/>
          </a:prstGeom>
          <a:noFill/>
          <a:ln/>
        </p:spPr>
        <p:txBody>
          <a:bodyPr wrap="square" lIns="0" tIns="0" rIns="0" bIns="0" rtlCol="0" anchor="ctr"/>
          <a:lstStyle/>
          <a:p>
            <a:pPr indent="0" marL="0">
              <a:buNone/>
            </a:pPr>
            <a:r>
              <a:rPr lang="en-US" sz="4000" b="1" dirty="0">
                <a:solidFill>
                  <a:srgbClr val="EDE7D8"/>
                </a:solidFill>
                <a:latin typeface="Cambria" pitchFamily="34" charset="0"/>
                <a:ea typeface="Cambria" pitchFamily="34" charset="-122"/>
                <a:cs typeface="Cambria" pitchFamily="34" charset="-120"/>
              </a:rPr>
              <a:t>Customer Service &amp; Digital, in detail</a:t>
            </a:r>
            <a:endParaRPr lang="en-US" sz="4000" dirty="0"/>
          </a:p>
        </p:txBody>
      </p:sp>
      <p:sp>
        <p:nvSpPr>
          <p:cNvPr id="5" name="Text 3"/>
          <p:cNvSpPr txBox="1"/>
          <p:nvPr/>
        </p:nvSpPr>
        <p:spPr>
          <a:xfrm>
            <a:off x="548640" y="3611880"/>
            <a:ext cx="8778240" cy="822960"/>
          </a:xfrm>
          <a:prstGeom prst="rect">
            <a:avLst/>
          </a:prstGeom>
          <a:noFill/>
          <a:ln/>
        </p:spPr>
        <p:txBody>
          <a:bodyPr wrap="square" lIns="0" tIns="0" rIns="0" bIns="0" rtlCol="0" anchor="t"/>
          <a:lstStyle/>
          <a:p>
            <a:pPr indent="0" marL="0">
              <a:buNone/>
            </a:pPr>
            <a:r>
              <a:rPr lang="en-US" sz="1800" dirty="0">
                <a:solidFill>
                  <a:srgbClr val="D9C7A3"/>
                </a:solidFill>
                <a:latin typeface="Calibri" pitchFamily="34" charset="0"/>
                <a:ea typeface="Calibri" pitchFamily="34" charset="-122"/>
                <a:cs typeface="Calibri" pitchFamily="34" charset="-120"/>
              </a:rPr>
              <a:t>Everything the two teams will do, the roles they need, and the tools they'll use.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25</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CUSTOMER SERVICE · WHAT THE TEAM DOES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Every question: one inbox, one standard</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06040"/>
                <a:gridCol w="2011680"/>
                <a:gridCol w="2651760"/>
                <a:gridCol w="2148840"/>
                <a:gridCol w="1645920"/>
              </a:tblGrid>
              <a:tr h="329184">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Request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AI does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A person does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Where's my order?</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Email, chat, phone</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Answers from Shopify order data</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Handles exceptions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1 business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Damaged, lost or wrong item</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Email, phone</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Drafts apology and fix per policy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Approves refund or reship</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1 business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Product, recipe, storage questions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Chat, email, social</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Answers from the knowledge base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Spot checks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Same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Allergen, gluten, food safety</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Any</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Flags and routes. Never answers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8C3A2B"/>
                          </a:solidFill>
                          <a:latin typeface="Calibri" pitchFamily="34" charset="0"/>
                          <a:ea typeface="Calibri" pitchFamily="34" charset="-122"/>
                          <a:cs typeface="Calibri" pitchFamily="34" charset="-120"/>
                        </a:rPr>
                        <a:t>Owner answers personally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Same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Wholesale inquiries and reorders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Email, form, phone</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Sorts, logs, sends reorder reminders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Rep sets pricing and terms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1 business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Tours, events, kayak bookings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Booking page, phone</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Confirmations, reminders, deposits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Custom and group events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Automatic</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Gift and corporate orders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Email, phone</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Drafts quotes from the price list</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Confirms and ships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1 business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Reviews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Google, Yelp, Facebook, TripAdvisor</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Drafts replies per the playbook</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Approves and posts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24 hrs neg. · 72 hrs other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Returns and refunds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Email</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Drafts per policy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Approves every refund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1 business day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Feedback and surveys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00" dirty="0">
                          <a:solidFill>
                            <a:srgbClr val="4A5359"/>
                          </a:solidFill>
                          <a:latin typeface="Calibri" pitchFamily="34" charset="0"/>
                          <a:ea typeface="Calibri" pitchFamily="34" charset="-122"/>
                          <a:cs typeface="Calibri" pitchFamily="34" charset="-120"/>
                        </a:rPr>
                        <a:t>QR card, email</a:t>
                      </a:r>
                      <a:endParaRPr lang="en-US" sz="10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Collects and sums up themes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b="1" dirty="0">
                          <a:solidFill>
                            <a:srgbClr val="8C3A2B"/>
                          </a:solidFill>
                          <a:latin typeface="Calibri" pitchFamily="34" charset="0"/>
                          <a:ea typeface="Calibri" pitchFamily="34" charset="-122"/>
                          <a:cs typeface="Calibri" pitchFamily="34" charset="-120"/>
                        </a:rPr>
                        <a:t>Owners act on a monthly list</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b="1" dirty="0">
                          <a:solidFill>
                            <a:srgbClr val="2E4057"/>
                          </a:solidFill>
                          <a:latin typeface="Calibri" pitchFamily="34" charset="0"/>
                          <a:ea typeface="Calibri" pitchFamily="34" charset="-122"/>
                          <a:cs typeface="Calibri" pitchFamily="34" charset="-120"/>
                        </a:rPr>
                        <a:t>Monthly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50" i="1" dirty="0">
                <a:solidFill>
                  <a:srgbClr val="4A5359"/>
                </a:solidFill>
                <a:latin typeface="Calibri" pitchFamily="34" charset="0"/>
                <a:ea typeface="Calibri" pitchFamily="34" charset="-122"/>
                <a:cs typeface="Calibri" pitchFamily="34" charset="-120"/>
              </a:rPr>
              <a:t>Channels: email, phone (401.783.4054), website chat, Facebook and Instagram messages, Google Business Profile, and the shop counter. All in one help desk.</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26</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CUSTOMER SERVICE · ROLES AND TOOLS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A part-time lead, a clear playbook, and six tools</a:t>
            </a:r>
            <a:endParaRPr lang="en-US" sz="3000" dirty="0"/>
          </a:p>
        </p:txBody>
      </p:sp>
      <p:sp>
        <p:nvSpPr>
          <p:cNvPr id="5" name="Shape 3"/>
          <p:cNvSpPr/>
          <p:nvPr/>
        </p:nvSpPr>
        <p:spPr>
          <a:xfrm>
            <a:off x="548640" y="1554480"/>
            <a:ext cx="4206240" cy="868680"/>
          </a:xfrm>
          <a:prstGeom prst="roundRect">
            <a:avLst>
              <a:gd name="adj" fmla="val 8421"/>
            </a:avLst>
          </a:prstGeom>
          <a:solidFill>
            <a:srgbClr val="FFFFFF"/>
          </a:solidFill>
          <a:ln w="9525">
            <a:solidFill>
              <a:srgbClr val="D9C7A3"/>
            </a:solidFill>
            <a:prstDash val="solid"/>
          </a:ln>
        </p:spPr>
      </p:sp>
      <p:sp>
        <p:nvSpPr>
          <p:cNvPr id="6" name="Shape 4"/>
          <p:cNvSpPr/>
          <p:nvPr/>
        </p:nvSpPr>
        <p:spPr>
          <a:xfrm>
            <a:off x="685800" y="1783080"/>
            <a:ext cx="411480" cy="411480"/>
          </a:xfrm>
          <a:prstGeom prst="ellipse">
            <a:avLst/>
          </a:prstGeom>
          <a:solidFill>
            <a:srgbClr val="2E4057"/>
          </a:solidFill>
          <a:ln w="12700">
            <a:solidFill>
              <a:srgbClr val="2E4057"/>
            </a:solidFill>
            <a:prstDash val="solid"/>
          </a:ln>
        </p:spPr>
      </p:sp>
      <p:sp>
        <p:nvSpPr>
          <p:cNvPr id="7" name="Text 5"/>
          <p:cNvSpPr txBox="1"/>
          <p:nvPr/>
        </p:nvSpPr>
        <p:spPr>
          <a:xfrm>
            <a:off x="68580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234440" y="1600200"/>
            <a:ext cx="3429000" cy="77724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Customer Service Lead</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Existing staff, reassigned 8–10 hrs/wk (more in Q4). Owns the inbox, phone and chat; approves AI drafts; writes the weekly service note.</a:t>
            </a:r>
            <a:endParaRPr lang="en-US" sz="1250" dirty="0"/>
          </a:p>
        </p:txBody>
      </p:sp>
      <p:sp>
        <p:nvSpPr>
          <p:cNvPr id="9" name="Shape 7"/>
          <p:cNvSpPr/>
          <p:nvPr/>
        </p:nvSpPr>
        <p:spPr>
          <a:xfrm>
            <a:off x="548640" y="2514600"/>
            <a:ext cx="4206240" cy="868680"/>
          </a:xfrm>
          <a:prstGeom prst="roundRect">
            <a:avLst>
              <a:gd name="adj" fmla="val 8421"/>
            </a:avLst>
          </a:prstGeom>
          <a:solidFill>
            <a:srgbClr val="FFFFFF"/>
          </a:solidFill>
          <a:ln w="9525">
            <a:solidFill>
              <a:srgbClr val="D9C7A3"/>
            </a:solidFill>
            <a:prstDash val="solid"/>
          </a:ln>
        </p:spPr>
      </p:sp>
      <p:sp>
        <p:nvSpPr>
          <p:cNvPr id="10" name="Shape 8"/>
          <p:cNvSpPr/>
          <p:nvPr/>
        </p:nvSpPr>
        <p:spPr>
          <a:xfrm>
            <a:off x="685800" y="2743200"/>
            <a:ext cx="411480" cy="411480"/>
          </a:xfrm>
          <a:prstGeom prst="ellipse">
            <a:avLst/>
          </a:prstGeom>
          <a:solidFill>
            <a:srgbClr val="6E6A63"/>
          </a:solidFill>
          <a:ln w="12700">
            <a:solidFill>
              <a:srgbClr val="6E6A63"/>
            </a:solidFill>
            <a:prstDash val="solid"/>
          </a:ln>
        </p:spPr>
      </p:sp>
      <p:sp>
        <p:nvSpPr>
          <p:cNvPr id="11" name="Text 9"/>
          <p:cNvSpPr txBox="1"/>
          <p:nvPr/>
        </p:nvSpPr>
        <p:spPr>
          <a:xfrm>
            <a:off x="685800" y="27432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234440" y="2560320"/>
            <a:ext cx="3429000" cy="77724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Backup</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One Q4 crew member and shop staff, trained on the saved replies.</a:t>
            </a:r>
            <a:endParaRPr lang="en-US" sz="1250" dirty="0"/>
          </a:p>
        </p:txBody>
      </p:sp>
      <p:sp>
        <p:nvSpPr>
          <p:cNvPr id="13" name="Shape 11"/>
          <p:cNvSpPr/>
          <p:nvPr/>
        </p:nvSpPr>
        <p:spPr>
          <a:xfrm>
            <a:off x="548640" y="3474720"/>
            <a:ext cx="4206240" cy="868680"/>
          </a:xfrm>
          <a:prstGeom prst="roundRect">
            <a:avLst>
              <a:gd name="adj" fmla="val 8421"/>
            </a:avLst>
          </a:prstGeom>
          <a:solidFill>
            <a:srgbClr val="FFFFFF"/>
          </a:solidFill>
          <a:ln w="9525">
            <a:solidFill>
              <a:srgbClr val="D9C7A3"/>
            </a:solidFill>
            <a:prstDash val="solid"/>
          </a:ln>
        </p:spPr>
      </p:sp>
      <p:sp>
        <p:nvSpPr>
          <p:cNvPr id="14" name="Shape 12"/>
          <p:cNvSpPr/>
          <p:nvPr/>
        </p:nvSpPr>
        <p:spPr>
          <a:xfrm>
            <a:off x="685800" y="3703320"/>
            <a:ext cx="411480" cy="411480"/>
          </a:xfrm>
          <a:prstGeom prst="ellipse">
            <a:avLst/>
          </a:prstGeom>
          <a:solidFill>
            <a:srgbClr val="2B2A28"/>
          </a:solidFill>
          <a:ln w="12700">
            <a:solidFill>
              <a:srgbClr val="2B2A28"/>
            </a:solidFill>
            <a:prstDash val="solid"/>
          </a:ln>
        </p:spPr>
      </p:sp>
      <p:sp>
        <p:nvSpPr>
          <p:cNvPr id="15" name="Text 13"/>
          <p:cNvSpPr txBox="1"/>
          <p:nvPr/>
        </p:nvSpPr>
        <p:spPr>
          <a:xfrm>
            <a:off x="685800" y="37033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234440" y="3520440"/>
            <a:ext cx="3429000" cy="77724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Escalation</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Owners: food safety, legal threats, refunds above a set limit, viral complaints.</a:t>
            </a:r>
            <a:endParaRPr lang="en-US" sz="1250" dirty="0"/>
          </a:p>
        </p:txBody>
      </p:sp>
      <p:sp>
        <p:nvSpPr>
          <p:cNvPr id="17" name="Shape 15"/>
          <p:cNvSpPr/>
          <p:nvPr/>
        </p:nvSpPr>
        <p:spPr>
          <a:xfrm>
            <a:off x="548640" y="4434840"/>
            <a:ext cx="4206240" cy="868680"/>
          </a:xfrm>
          <a:prstGeom prst="roundRect">
            <a:avLst>
              <a:gd name="adj" fmla="val 8421"/>
            </a:avLst>
          </a:prstGeom>
          <a:solidFill>
            <a:srgbClr val="FFFFFF"/>
          </a:solidFill>
          <a:ln w="9525">
            <a:solidFill>
              <a:srgbClr val="D9C7A3"/>
            </a:solidFill>
            <a:prstDash val="solid"/>
          </a:ln>
        </p:spPr>
      </p:sp>
      <p:sp>
        <p:nvSpPr>
          <p:cNvPr id="18" name="Shape 16"/>
          <p:cNvSpPr/>
          <p:nvPr/>
        </p:nvSpPr>
        <p:spPr>
          <a:xfrm>
            <a:off x="685800" y="4663440"/>
            <a:ext cx="411480" cy="411480"/>
          </a:xfrm>
          <a:prstGeom prst="ellipse">
            <a:avLst/>
          </a:prstGeom>
          <a:solidFill>
            <a:srgbClr val="C8922F"/>
          </a:solidFill>
          <a:ln w="12700">
            <a:solidFill>
              <a:srgbClr val="C8922F"/>
            </a:solidFill>
            <a:prstDash val="solid"/>
          </a:ln>
        </p:spPr>
      </p:sp>
      <p:sp>
        <p:nvSpPr>
          <p:cNvPr id="19" name="Text 17"/>
          <p:cNvSpPr txBox="1"/>
          <p:nvPr/>
        </p:nvSpPr>
        <p:spPr>
          <a:xfrm>
            <a:off x="685800" y="466344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234440" y="4480560"/>
            <a:ext cx="3429000" cy="777240"/>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Knowledge keeper</a:t>
            </a:r>
            <a:endParaRPr lang="en-US" sz="1250" dirty="0"/>
          </a:p>
          <a:p>
            <a:pPr indent="0" marL="0">
              <a:buNone/>
            </a:pPr>
            <a:r>
              <a:rPr lang="en-US" sz="1050" dirty="0">
                <a:solidFill>
                  <a:srgbClr val="4A5359"/>
                </a:solidFill>
                <a:latin typeface="Calibri" pitchFamily="34" charset="0"/>
                <a:ea typeface="Calibri" pitchFamily="34" charset="-122"/>
                <a:cs typeface="Calibri" pitchFamily="34" charset="-120"/>
              </a:rPr>
              <a:t>The Digital Lead keeps the FAQ and AI answers current as products and policies change.</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983480" y="1554480"/>
          <a:ext cx="6629400" cy="914400"/>
        </p:xfrm>
        <a:graphic>
          <a:graphicData uri="http://schemas.openxmlformats.org/drawingml/2006/table">
            <a:tbl>
              <a:tblPr/>
              <a:tblGrid>
                <a:gridCol w="1188720"/>
                <a:gridCol w="1691640"/>
                <a:gridCol w="2651760"/>
                <a:gridCol w="1097280"/>
              </a:tblGrid>
              <a:tr h="329184">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Pick</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Job</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Per month</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Help desk</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Gorgias Starter → Basic</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One inbox for email, chat and social, tied to Shopify orders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$10–60</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Website chat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Shopify Inbox</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Live chat and instant answers on the site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Free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Business phone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Quo, 2 users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Shared number, voicemail transcripts, texting</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$30–46</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Reviews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Judge.me + Google Business Profile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Ask for, show and answer reviews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Bookings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FareHarbor or Xola</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Tours, events and kayak bookings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$0 + booking fee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AI drafts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Claude + knowledge base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Drafts replies and weekly summaries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2E4057"/>
                          </a:solidFill>
                          <a:latin typeface="Calibri" pitchFamily="34" charset="0"/>
                          <a:ea typeface="Calibri" pitchFamily="34" charset="-122"/>
                          <a:cs typeface="Calibri" pitchFamily="34" charset="-120"/>
                        </a:rPr>
                        <a:t>$20/user</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22" name="Shape 19"/>
          <p:cNvSpPr/>
          <p:nvPr/>
        </p:nvSpPr>
        <p:spPr>
          <a:xfrm>
            <a:off x="4983480" y="4754880"/>
            <a:ext cx="6629400" cy="868680"/>
          </a:xfrm>
          <a:prstGeom prst="roundRect">
            <a:avLst>
              <a:gd name="adj" fmla="val 8421"/>
            </a:avLst>
          </a:prstGeom>
          <a:solidFill>
            <a:srgbClr val="F0E3C4"/>
          </a:solidFill>
          <a:ln w="12700">
            <a:solidFill>
              <a:srgbClr val="F0E3C4"/>
            </a:solidFill>
            <a:prstDash val="solid"/>
          </a:ln>
        </p:spPr>
      </p:sp>
      <p:sp>
        <p:nvSpPr>
          <p:cNvPr id="23" name="Text 20"/>
          <p:cNvSpPr txBox="1"/>
          <p:nvPr/>
        </p:nvSpPr>
        <p:spPr>
          <a:xfrm>
            <a:off x="5212080" y="4754880"/>
            <a:ext cx="6217920" cy="868680"/>
          </a:xfrm>
          <a:prstGeom prst="rect">
            <a:avLst/>
          </a:prstGeom>
          <a:noFill/>
          <a:ln/>
        </p:spPr>
        <p:txBody>
          <a:bodyPr wrap="square" lIns="0" tIns="0" rIns="0" bIns="0" rtlCol="0" anchor="ctr"/>
          <a:lstStyle/>
          <a:p>
            <a:pPr indent="0" marL="0">
              <a:buNone/>
            </a:pPr>
            <a:r>
              <a:rPr lang="en-US" sz="1200" b="1" dirty="0">
                <a:solidFill>
                  <a:srgbClr val="8A6115"/>
                </a:solidFill>
                <a:latin typeface="Calibri" pitchFamily="34" charset="0"/>
                <a:ea typeface="Calibri" pitchFamily="34" charset="-122"/>
                <a:cs typeface="Calibri" pitchFamily="34" charset="-120"/>
              </a:rPr>
              <a:t>Tracked weekly:  </a:t>
            </a:r>
            <a:pPr indent="0" marL="0">
              <a:buNone/>
            </a:pPr>
            <a:r>
              <a:rPr lang="en-US" sz="1200" dirty="0">
                <a:solidFill>
                  <a:srgbClr val="2B2A28"/>
                </a:solidFill>
                <a:latin typeface="Calibri" pitchFamily="34" charset="0"/>
                <a:ea typeface="Calibri" pitchFamily="34" charset="-122"/>
                <a:cs typeface="Calibri" pitchFamily="34" charset="-120"/>
              </a:rPr>
              <a:t>first-response time · tickets by reason · share of AI drafts sent unedited · review response rate (target 100%) · survey score</a:t>
            </a:r>
            <a:endParaRPr lang="en-US" sz="1200" dirty="0"/>
          </a:p>
        </p:txBody>
      </p:sp>
      <p:sp>
        <p:nvSpPr>
          <p:cNvPr id="24" name="Text 21"/>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200" b="1" i="1" dirty="0">
                <a:solidFill>
                  <a:srgbClr val="2E4057"/>
                </a:solidFill>
                <a:latin typeface="Calibri" pitchFamily="34" charset="0"/>
                <a:ea typeface="Calibri" pitchFamily="34" charset="-122"/>
                <a:cs typeface="Calibri" pitchFamily="34" charset="-120"/>
              </a:rPr>
              <a:t>Start small: a shared inbox plus Shopify Inbox is enough until volume passes about 50 tickets a month. Then move to a help desk.</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27</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THE DIGITAL TEAM · ROLES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Four roles that run the website, content, search and numbers</a:t>
            </a:r>
            <a:endParaRPr lang="en-US" sz="3000" dirty="0"/>
          </a:p>
        </p:txBody>
      </p:sp>
      <p:sp>
        <p:nvSpPr>
          <p:cNvPr id="5" name="Shape 3"/>
          <p:cNvSpPr/>
          <p:nvPr/>
        </p:nvSpPr>
        <p:spPr>
          <a:xfrm>
            <a:off x="548640" y="1554480"/>
            <a:ext cx="2606040" cy="3794760"/>
          </a:xfrm>
          <a:prstGeom prst="roundRect">
            <a:avLst>
              <a:gd name="adj" fmla="val 2807"/>
            </a:avLst>
          </a:prstGeom>
          <a:solidFill>
            <a:srgbClr val="FFFFFF"/>
          </a:solidFill>
          <a:ln w="9525">
            <a:solidFill>
              <a:srgbClr val="D9C7A3"/>
            </a:solidFill>
            <a:prstDash val="solid"/>
          </a:ln>
        </p:spPr>
      </p:sp>
      <p:sp>
        <p:nvSpPr>
          <p:cNvPr id="6" name="Shape 4"/>
          <p:cNvSpPr/>
          <p:nvPr/>
        </p:nvSpPr>
        <p:spPr>
          <a:xfrm>
            <a:off x="777240" y="1783080"/>
            <a:ext cx="411480" cy="411480"/>
          </a:xfrm>
          <a:prstGeom prst="ellipse">
            <a:avLst/>
          </a:prstGeom>
          <a:solidFill>
            <a:srgbClr val="C8922F"/>
          </a:solidFill>
          <a:ln w="12700">
            <a:solidFill>
              <a:srgbClr val="C8922F"/>
            </a:solidFill>
            <a:prstDash val="solid"/>
          </a:ln>
        </p:spPr>
      </p:sp>
      <p:sp>
        <p:nvSpPr>
          <p:cNvPr id="7" name="Text 5"/>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298448" y="1737360"/>
            <a:ext cx="1691640" cy="502920"/>
          </a:xfrm>
          <a:prstGeom prst="rect">
            <a:avLst/>
          </a:prstGeom>
          <a:noFill/>
          <a:ln/>
        </p:spPr>
        <p:txBody>
          <a:bodyPr wrap="square" lIns="0" tIns="0" rIns="0" bIns="0" rtlCol="0" anchor="ctr"/>
          <a:lstStyle/>
          <a:p>
            <a:pPr indent="0" marL="0">
              <a:buNone/>
            </a:pPr>
            <a:r>
              <a:rPr lang="en-US" sz="1450" b="1" dirty="0">
                <a:solidFill>
                  <a:srgbClr val="2B2A28"/>
                </a:solidFill>
                <a:latin typeface="Cambria" pitchFamily="34" charset="0"/>
                <a:ea typeface="Cambria" pitchFamily="34" charset="-122"/>
                <a:cs typeface="Cambria" pitchFamily="34" charset="-120"/>
              </a:rPr>
              <a:t>Digital Lead</a:t>
            </a:r>
            <a:endParaRPr lang="en-US" sz="1450" dirty="0"/>
          </a:p>
        </p:txBody>
      </p:sp>
      <p:sp>
        <p:nvSpPr>
          <p:cNvPr id="9" name="Text 7"/>
          <p:cNvSpPr txBox="1"/>
          <p:nvPr/>
        </p:nvSpPr>
        <p:spPr>
          <a:xfrm>
            <a:off x="777240" y="2286000"/>
            <a:ext cx="2194560" cy="457200"/>
          </a:xfrm>
          <a:prstGeom prst="rect">
            <a:avLst/>
          </a:prstGeom>
          <a:noFill/>
          <a:ln/>
        </p:spPr>
        <p:txBody>
          <a:bodyPr wrap="square" lIns="0" tIns="0" rIns="0" bIns="0" rtlCol="0" anchor="t"/>
          <a:lstStyle/>
          <a:p>
            <a:pPr indent="0" marL="0">
              <a:buNone/>
            </a:pPr>
            <a:r>
              <a:rPr lang="en-US" sz="1050" i="1" dirty="0">
                <a:solidFill>
                  <a:srgbClr val="4A5359"/>
                </a:solidFill>
                <a:latin typeface="Calibri" pitchFamily="34" charset="0"/>
                <a:ea typeface="Calibri" pitchFamily="34" charset="-122"/>
                <a:cs typeface="Calibri" pitchFamily="34" charset="-120"/>
              </a:rPr>
              <a:t>Existing staff member · 5 hrs/wk (about 10 during the build)</a:t>
            </a:r>
            <a:endParaRPr lang="en-US" sz="1050" dirty="0"/>
          </a:p>
        </p:txBody>
      </p:sp>
      <p:sp>
        <p:nvSpPr>
          <p:cNvPr id="10" name="Text 8"/>
          <p:cNvSpPr txBox="1"/>
          <p:nvPr/>
        </p:nvSpPr>
        <p:spPr>
          <a:xfrm>
            <a:off x="777240" y="278892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DOES</a:t>
            </a:r>
            <a:endParaRPr lang="en-US" sz="1000" dirty="0"/>
          </a:p>
        </p:txBody>
      </p:sp>
      <p:sp>
        <p:nvSpPr>
          <p:cNvPr id="11" name="Text 9"/>
          <p:cNvSpPr txBox="1"/>
          <p:nvPr/>
        </p:nvSpPr>
        <p:spPr>
          <a:xfrm>
            <a:off x="777240" y="3017520"/>
            <a:ext cx="2194560" cy="868680"/>
          </a:xfrm>
          <a:prstGeom prst="rect">
            <a:avLst/>
          </a:prstGeom>
          <a:noFill/>
          <a:ln/>
        </p:spPr>
        <p:txBody>
          <a:bodyPr wrap="square" lIns="0" tIns="0" rIns="0" bIns="0" rtlCol="0" anchor="t"/>
          <a:lstStyle/>
          <a:p>
            <a:pPr indent="0" marL="0">
              <a:buNone/>
            </a:pPr>
            <a:r>
              <a:rPr lang="en-US" sz="1100" dirty="0">
                <a:solidFill>
                  <a:srgbClr val="2B2A28"/>
                </a:solidFill>
                <a:latin typeface="Calibri" pitchFamily="34" charset="0"/>
                <a:ea typeface="Calibri" pitchFamily="34" charset="-122"/>
                <a:cs typeface="Calibri" pitchFamily="34" charset="-120"/>
              </a:rPr>
              <a:t>Owns the digital roadmap, vendors and every account login; clears the AI approval queue; runs the weekly dashboard review</a:t>
            </a:r>
            <a:endParaRPr lang="en-US" sz="1100" dirty="0"/>
          </a:p>
        </p:txBody>
      </p:sp>
      <p:sp>
        <p:nvSpPr>
          <p:cNvPr id="12" name="Text 10"/>
          <p:cNvSpPr txBox="1"/>
          <p:nvPr/>
        </p:nvSpPr>
        <p:spPr>
          <a:xfrm>
            <a:off x="777240" y="388620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TAKES OFF</a:t>
            </a:r>
            <a:endParaRPr lang="en-US" sz="1000" dirty="0"/>
          </a:p>
        </p:txBody>
      </p:sp>
      <p:sp>
        <p:nvSpPr>
          <p:cNvPr id="13" name="Text 11"/>
          <p:cNvSpPr txBox="1"/>
          <p:nvPr/>
        </p:nvSpPr>
        <p:spPr>
          <a:xfrm>
            <a:off x="777240" y="4114800"/>
            <a:ext cx="2194560" cy="457200"/>
          </a:xfrm>
          <a:prstGeom prst="rect">
            <a:avLst/>
          </a:prstGeom>
          <a:noFill/>
          <a:ln/>
        </p:spPr>
        <p:txBody>
          <a:bodyPr wrap="square" lIns="0" tIns="0" rIns="0" bIns="0" rtlCol="0" anchor="t"/>
          <a:lstStyle/>
          <a:p>
            <a:pPr indent="0" marL="0">
              <a:buNone/>
            </a:pPr>
            <a:r>
              <a:rPr lang="en-US" sz="1100" b="1" dirty="0">
                <a:solidFill>
                  <a:srgbClr val="2E4057"/>
                </a:solidFill>
                <a:latin typeface="Calibri" pitchFamily="34" charset="0"/>
                <a:ea typeface="Calibri" pitchFamily="34" charset="-122"/>
                <a:cs typeface="Calibri" pitchFamily="34" charset="-120"/>
              </a:rPr>
              <a:t>Owner follow-ups and approvals</a:t>
            </a:r>
            <a:endParaRPr lang="en-US" sz="1100" dirty="0"/>
          </a:p>
        </p:txBody>
      </p:sp>
      <p:sp>
        <p:nvSpPr>
          <p:cNvPr id="14" name="Text 12"/>
          <p:cNvSpPr txBox="1"/>
          <p:nvPr/>
        </p:nvSpPr>
        <p:spPr>
          <a:xfrm>
            <a:off x="777240" y="4617720"/>
            <a:ext cx="2194560" cy="68580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Time, not cash</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Reassigned hours, plus training</a:t>
            </a:r>
            <a:endParaRPr lang="en-US" sz="1700" dirty="0"/>
          </a:p>
        </p:txBody>
      </p:sp>
      <p:sp>
        <p:nvSpPr>
          <p:cNvPr id="15" name="Shape 13"/>
          <p:cNvSpPr/>
          <p:nvPr/>
        </p:nvSpPr>
        <p:spPr>
          <a:xfrm>
            <a:off x="3367735" y="1554480"/>
            <a:ext cx="2606040" cy="3794760"/>
          </a:xfrm>
          <a:prstGeom prst="roundRect">
            <a:avLst>
              <a:gd name="adj" fmla="val 2807"/>
            </a:avLst>
          </a:prstGeom>
          <a:solidFill>
            <a:srgbClr val="FFFFFF"/>
          </a:solidFill>
          <a:ln w="9525">
            <a:solidFill>
              <a:srgbClr val="D9C7A3"/>
            </a:solidFill>
            <a:prstDash val="solid"/>
          </a:ln>
        </p:spPr>
      </p:sp>
      <p:sp>
        <p:nvSpPr>
          <p:cNvPr id="16" name="Shape 14"/>
          <p:cNvSpPr/>
          <p:nvPr/>
        </p:nvSpPr>
        <p:spPr>
          <a:xfrm>
            <a:off x="3596335" y="1783080"/>
            <a:ext cx="411480" cy="411480"/>
          </a:xfrm>
          <a:prstGeom prst="ellipse">
            <a:avLst/>
          </a:prstGeom>
          <a:solidFill>
            <a:srgbClr val="C8922F"/>
          </a:solidFill>
          <a:ln w="12700">
            <a:solidFill>
              <a:srgbClr val="C8922F"/>
            </a:solidFill>
            <a:prstDash val="solid"/>
          </a:ln>
        </p:spPr>
      </p:sp>
      <p:sp>
        <p:nvSpPr>
          <p:cNvPr id="17" name="Text 15"/>
          <p:cNvSpPr txBox="1"/>
          <p:nvPr/>
        </p:nvSpPr>
        <p:spPr>
          <a:xfrm>
            <a:off x="3596335" y="178308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2</a:t>
            </a:r>
            <a:endParaRPr lang="en-US" sz="1200" dirty="0"/>
          </a:p>
        </p:txBody>
      </p:sp>
      <p:sp>
        <p:nvSpPr>
          <p:cNvPr id="18" name="Text 16"/>
          <p:cNvSpPr txBox="1"/>
          <p:nvPr/>
        </p:nvSpPr>
        <p:spPr>
          <a:xfrm>
            <a:off x="4117543" y="1737360"/>
            <a:ext cx="1691640" cy="502920"/>
          </a:xfrm>
          <a:prstGeom prst="rect">
            <a:avLst/>
          </a:prstGeom>
          <a:noFill/>
          <a:ln/>
        </p:spPr>
        <p:txBody>
          <a:bodyPr wrap="square" lIns="0" tIns="0" rIns="0" bIns="0" rtlCol="0" anchor="ctr"/>
          <a:lstStyle/>
          <a:p>
            <a:pPr indent="0" marL="0">
              <a:buNone/>
            </a:pPr>
            <a:r>
              <a:rPr lang="en-US" sz="1450" b="1" dirty="0">
                <a:solidFill>
                  <a:srgbClr val="2B2A28"/>
                </a:solidFill>
                <a:latin typeface="Cambria" pitchFamily="34" charset="0"/>
                <a:ea typeface="Cambria" pitchFamily="34" charset="-122"/>
                <a:cs typeface="Cambria" pitchFamily="34" charset="-120"/>
              </a:rPr>
              <a:t>Web &amp; E-commerce</a:t>
            </a:r>
            <a:endParaRPr lang="en-US" sz="1450" dirty="0"/>
          </a:p>
        </p:txBody>
      </p:sp>
      <p:sp>
        <p:nvSpPr>
          <p:cNvPr id="19" name="Text 17"/>
          <p:cNvSpPr txBox="1"/>
          <p:nvPr/>
        </p:nvSpPr>
        <p:spPr>
          <a:xfrm>
            <a:off x="3596335" y="2286000"/>
            <a:ext cx="2194560" cy="457200"/>
          </a:xfrm>
          <a:prstGeom prst="rect">
            <a:avLst/>
          </a:prstGeom>
          <a:noFill/>
          <a:ln/>
        </p:spPr>
        <p:txBody>
          <a:bodyPr wrap="square" lIns="0" tIns="0" rIns="0" bIns="0" rtlCol="0" anchor="t"/>
          <a:lstStyle/>
          <a:p>
            <a:pPr indent="0" marL="0">
              <a:buNone/>
            </a:pPr>
            <a:r>
              <a:rPr lang="en-US" sz="1050" i="1" dirty="0">
                <a:solidFill>
                  <a:srgbClr val="4A5359"/>
                </a:solidFill>
                <a:latin typeface="Calibri" pitchFamily="34" charset="0"/>
                <a:ea typeface="Calibri" pitchFamily="34" charset="-122"/>
                <a:cs typeface="Calibri" pitchFamily="34" charset="-120"/>
              </a:rPr>
              <a:t>Freelance Shopify Partner · build, then 2–4 hrs/mo</a:t>
            </a:r>
            <a:endParaRPr lang="en-US" sz="1050" dirty="0"/>
          </a:p>
        </p:txBody>
      </p:sp>
      <p:sp>
        <p:nvSpPr>
          <p:cNvPr id="20" name="Text 18"/>
          <p:cNvSpPr txBox="1"/>
          <p:nvPr/>
        </p:nvSpPr>
        <p:spPr>
          <a:xfrm>
            <a:off x="3596335" y="278892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DOES</a:t>
            </a:r>
            <a:endParaRPr lang="en-US" sz="1000" dirty="0"/>
          </a:p>
        </p:txBody>
      </p:sp>
      <p:sp>
        <p:nvSpPr>
          <p:cNvPr id="21" name="Text 19"/>
          <p:cNvSpPr txBox="1"/>
          <p:nvPr/>
        </p:nvSpPr>
        <p:spPr>
          <a:xfrm>
            <a:off x="3596335" y="3017520"/>
            <a:ext cx="2194560" cy="868680"/>
          </a:xfrm>
          <a:prstGeom prst="rect">
            <a:avLst/>
          </a:prstGeom>
          <a:noFill/>
          <a:ln/>
        </p:spPr>
        <p:txBody>
          <a:bodyPr wrap="square" lIns="0" tIns="0" rIns="0" bIns="0" rtlCol="0" anchor="t"/>
          <a:lstStyle/>
          <a:p>
            <a:pPr indent="0" marL="0">
              <a:buNone/>
            </a:pPr>
            <a:r>
              <a:rPr lang="en-US" sz="1100" dirty="0">
                <a:solidFill>
                  <a:srgbClr val="2B2A28"/>
                </a:solidFill>
                <a:latin typeface="Calibri" pitchFamily="34" charset="0"/>
                <a:ea typeface="Calibri" pitchFamily="34" charset="-122"/>
                <a:cs typeface="Calibri" pitchFamily="34" charset="-120"/>
              </a:rPr>
              <a:t>Builds the new store; keeps shipping rates, wholesale area, bookings and apps working; ships the fixes the Fixer drafts</a:t>
            </a:r>
            <a:endParaRPr lang="en-US" sz="1100" dirty="0"/>
          </a:p>
        </p:txBody>
      </p:sp>
      <p:sp>
        <p:nvSpPr>
          <p:cNvPr id="22" name="Text 20"/>
          <p:cNvSpPr txBox="1"/>
          <p:nvPr/>
        </p:nvSpPr>
        <p:spPr>
          <a:xfrm>
            <a:off x="3596335" y="388620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TAKES OFF</a:t>
            </a:r>
            <a:endParaRPr lang="en-US" sz="1000" dirty="0"/>
          </a:p>
        </p:txBody>
      </p:sp>
      <p:sp>
        <p:nvSpPr>
          <p:cNvPr id="23" name="Text 21"/>
          <p:cNvSpPr txBox="1"/>
          <p:nvPr/>
        </p:nvSpPr>
        <p:spPr>
          <a:xfrm>
            <a:off x="3596335" y="4114800"/>
            <a:ext cx="2194560" cy="457200"/>
          </a:xfrm>
          <a:prstGeom prst="rect">
            <a:avLst/>
          </a:prstGeom>
          <a:noFill/>
          <a:ln/>
        </p:spPr>
        <p:txBody>
          <a:bodyPr wrap="square" lIns="0" tIns="0" rIns="0" bIns="0" rtlCol="0" anchor="t"/>
          <a:lstStyle/>
          <a:p>
            <a:pPr indent="0" marL="0">
              <a:buNone/>
            </a:pPr>
            <a:r>
              <a:rPr lang="en-US" sz="1100" b="1" dirty="0">
                <a:solidFill>
                  <a:srgbClr val="2E4057"/>
                </a:solidFill>
                <a:latin typeface="Calibri" pitchFamily="34" charset="0"/>
                <a:ea typeface="Calibri" pitchFamily="34" charset="-122"/>
                <a:cs typeface="Calibri" pitchFamily="34" charset="-120"/>
              </a:rPr>
              <a:t>Shipping fixes and site problems: 3–4 hrs/wk</a:t>
            </a:r>
            <a:endParaRPr lang="en-US" sz="1100" dirty="0"/>
          </a:p>
        </p:txBody>
      </p:sp>
      <p:sp>
        <p:nvSpPr>
          <p:cNvPr id="24" name="Text 22"/>
          <p:cNvSpPr txBox="1"/>
          <p:nvPr/>
        </p:nvSpPr>
        <p:spPr>
          <a:xfrm>
            <a:off x="3596335" y="4617720"/>
            <a:ext cx="2194560" cy="68580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$3k–8k build</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then $1.6k–6.2k a year at $65–130/hr</a:t>
            </a:r>
            <a:endParaRPr lang="en-US" sz="1700" dirty="0"/>
          </a:p>
        </p:txBody>
      </p:sp>
      <p:sp>
        <p:nvSpPr>
          <p:cNvPr id="25" name="Shape 23"/>
          <p:cNvSpPr/>
          <p:nvPr/>
        </p:nvSpPr>
        <p:spPr>
          <a:xfrm>
            <a:off x="6186830" y="1554480"/>
            <a:ext cx="2606040" cy="3794760"/>
          </a:xfrm>
          <a:prstGeom prst="roundRect">
            <a:avLst>
              <a:gd name="adj" fmla="val 2807"/>
            </a:avLst>
          </a:prstGeom>
          <a:solidFill>
            <a:srgbClr val="FFFFFF"/>
          </a:solidFill>
          <a:ln w="9525">
            <a:solidFill>
              <a:srgbClr val="D9C7A3"/>
            </a:solidFill>
            <a:prstDash val="solid"/>
          </a:ln>
        </p:spPr>
      </p:sp>
      <p:sp>
        <p:nvSpPr>
          <p:cNvPr id="26" name="Shape 24"/>
          <p:cNvSpPr/>
          <p:nvPr/>
        </p:nvSpPr>
        <p:spPr>
          <a:xfrm>
            <a:off x="6415430" y="1783080"/>
            <a:ext cx="411480" cy="411480"/>
          </a:xfrm>
          <a:prstGeom prst="ellipse">
            <a:avLst/>
          </a:prstGeom>
          <a:solidFill>
            <a:srgbClr val="C8922F"/>
          </a:solidFill>
          <a:ln w="12700">
            <a:solidFill>
              <a:srgbClr val="C8922F"/>
            </a:solidFill>
            <a:prstDash val="solid"/>
          </a:ln>
        </p:spPr>
      </p:sp>
      <p:sp>
        <p:nvSpPr>
          <p:cNvPr id="27" name="Text 25"/>
          <p:cNvSpPr txBox="1"/>
          <p:nvPr/>
        </p:nvSpPr>
        <p:spPr>
          <a:xfrm>
            <a:off x="6415430" y="178308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3</a:t>
            </a:r>
            <a:endParaRPr lang="en-US" sz="1200" dirty="0"/>
          </a:p>
        </p:txBody>
      </p:sp>
      <p:sp>
        <p:nvSpPr>
          <p:cNvPr id="28" name="Text 26"/>
          <p:cNvSpPr txBox="1"/>
          <p:nvPr/>
        </p:nvSpPr>
        <p:spPr>
          <a:xfrm>
            <a:off x="6936638" y="1737360"/>
            <a:ext cx="1691640" cy="502920"/>
          </a:xfrm>
          <a:prstGeom prst="rect">
            <a:avLst/>
          </a:prstGeom>
          <a:noFill/>
          <a:ln/>
        </p:spPr>
        <p:txBody>
          <a:bodyPr wrap="square" lIns="0" tIns="0" rIns="0" bIns="0" rtlCol="0" anchor="ctr"/>
          <a:lstStyle/>
          <a:p>
            <a:pPr indent="0" marL="0">
              <a:buNone/>
            </a:pPr>
            <a:r>
              <a:rPr lang="en-US" sz="1450" b="1" dirty="0">
                <a:solidFill>
                  <a:srgbClr val="2B2A28"/>
                </a:solidFill>
                <a:latin typeface="Cambria" pitchFamily="34" charset="0"/>
                <a:ea typeface="Cambria" pitchFamily="34" charset="-122"/>
                <a:cs typeface="Cambria" pitchFamily="34" charset="-120"/>
              </a:rPr>
              <a:t>Content, SEO &amp; AEO</a:t>
            </a:r>
            <a:endParaRPr lang="en-US" sz="1450" dirty="0"/>
          </a:p>
        </p:txBody>
      </p:sp>
      <p:sp>
        <p:nvSpPr>
          <p:cNvPr id="29" name="Text 27"/>
          <p:cNvSpPr txBox="1"/>
          <p:nvPr/>
        </p:nvSpPr>
        <p:spPr>
          <a:xfrm>
            <a:off x="6415430" y="2286000"/>
            <a:ext cx="2194560" cy="457200"/>
          </a:xfrm>
          <a:prstGeom prst="rect">
            <a:avLst/>
          </a:prstGeom>
          <a:noFill/>
          <a:ln/>
        </p:spPr>
        <p:txBody>
          <a:bodyPr wrap="square" lIns="0" tIns="0" rIns="0" bIns="0" rtlCol="0" anchor="t"/>
          <a:lstStyle/>
          <a:p>
            <a:pPr indent="0" marL="0">
              <a:buNone/>
            </a:pPr>
            <a:r>
              <a:rPr lang="en-US" sz="1050" i="1" dirty="0">
                <a:solidFill>
                  <a:srgbClr val="4A5359"/>
                </a:solidFill>
                <a:latin typeface="Calibri" pitchFamily="34" charset="0"/>
                <a:ea typeface="Calibri" pitchFamily="34" charset="-122"/>
                <a:cs typeface="Calibri" pitchFamily="34" charset="-120"/>
              </a:rPr>
              <a:t>Fractional marketer 10–20 hrs/mo + paid URI intern</a:t>
            </a:r>
            <a:endParaRPr lang="en-US" sz="1050" dirty="0"/>
          </a:p>
        </p:txBody>
      </p:sp>
      <p:sp>
        <p:nvSpPr>
          <p:cNvPr id="30" name="Text 28"/>
          <p:cNvSpPr txBox="1"/>
          <p:nvPr/>
        </p:nvSpPr>
        <p:spPr>
          <a:xfrm>
            <a:off x="6415430" y="278892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DOES</a:t>
            </a:r>
            <a:endParaRPr lang="en-US" sz="1000" dirty="0"/>
          </a:p>
        </p:txBody>
      </p:sp>
      <p:sp>
        <p:nvSpPr>
          <p:cNvPr id="31" name="Text 29"/>
          <p:cNvSpPr txBox="1"/>
          <p:nvPr/>
        </p:nvSpPr>
        <p:spPr>
          <a:xfrm>
            <a:off x="6415430" y="3017520"/>
            <a:ext cx="2194560" cy="868680"/>
          </a:xfrm>
          <a:prstGeom prst="rect">
            <a:avLst/>
          </a:prstGeom>
          <a:noFill/>
          <a:ln/>
        </p:spPr>
        <p:txBody>
          <a:bodyPr wrap="square" lIns="0" tIns="0" rIns="0" bIns="0" rtlCol="0" anchor="t"/>
          <a:lstStyle/>
          <a:p>
            <a:pPr indent="0" marL="0">
              <a:buNone/>
            </a:pPr>
            <a:r>
              <a:rPr lang="en-US" sz="1100" dirty="0">
                <a:solidFill>
                  <a:srgbClr val="2B2A28"/>
                </a:solidFill>
                <a:latin typeface="Calibri" pitchFamily="34" charset="0"/>
                <a:ea typeface="Calibri" pitchFamily="34" charset="-122"/>
                <a:cs typeface="Calibri" pitchFamily="34" charset="-120"/>
              </a:rPr>
              <a:t>Content calendar, recipes, product copy, email and social; keyword map and schema checks; monthly AI-answer tracking</a:t>
            </a:r>
            <a:endParaRPr lang="en-US" sz="1100" dirty="0"/>
          </a:p>
        </p:txBody>
      </p:sp>
      <p:sp>
        <p:nvSpPr>
          <p:cNvPr id="32" name="Text 30"/>
          <p:cNvSpPr txBox="1"/>
          <p:nvPr/>
        </p:nvSpPr>
        <p:spPr>
          <a:xfrm>
            <a:off x="6415430" y="388620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TAKES OFF</a:t>
            </a:r>
            <a:endParaRPr lang="en-US" sz="1000" dirty="0"/>
          </a:p>
        </p:txBody>
      </p:sp>
      <p:sp>
        <p:nvSpPr>
          <p:cNvPr id="33" name="Text 31"/>
          <p:cNvSpPr txBox="1"/>
          <p:nvPr/>
        </p:nvSpPr>
        <p:spPr>
          <a:xfrm>
            <a:off x="6415430" y="4114800"/>
            <a:ext cx="2194560" cy="457200"/>
          </a:xfrm>
          <a:prstGeom prst="rect">
            <a:avLst/>
          </a:prstGeom>
          <a:noFill/>
          <a:ln/>
        </p:spPr>
        <p:txBody>
          <a:bodyPr wrap="square" lIns="0" tIns="0" rIns="0" bIns="0" rtlCol="0" anchor="t"/>
          <a:lstStyle/>
          <a:p>
            <a:pPr indent="0" marL="0">
              <a:buNone/>
            </a:pPr>
            <a:r>
              <a:rPr lang="en-US" sz="1100" b="1" dirty="0">
                <a:solidFill>
                  <a:srgbClr val="2E4057"/>
                </a:solidFill>
                <a:latin typeface="Calibri" pitchFamily="34" charset="0"/>
                <a:ea typeface="Calibri" pitchFamily="34" charset="-122"/>
                <a:cs typeface="Calibri" pitchFamily="34" charset="-120"/>
              </a:rPr>
              <a:t>Social, copy and email: 5–7 hrs/wk</a:t>
            </a:r>
            <a:endParaRPr lang="en-US" sz="1100" dirty="0"/>
          </a:p>
        </p:txBody>
      </p:sp>
      <p:sp>
        <p:nvSpPr>
          <p:cNvPr id="34" name="Text 32"/>
          <p:cNvSpPr txBox="1"/>
          <p:nvPr/>
        </p:nvSpPr>
        <p:spPr>
          <a:xfrm>
            <a:off x="6415430" y="4617720"/>
            <a:ext cx="2194560" cy="68580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$11.1k–24.0k</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$6k–18k marketer + $5.1k–6k intern</a:t>
            </a:r>
            <a:endParaRPr lang="en-US" sz="1700" dirty="0"/>
          </a:p>
        </p:txBody>
      </p:sp>
      <p:sp>
        <p:nvSpPr>
          <p:cNvPr id="35" name="Shape 33"/>
          <p:cNvSpPr/>
          <p:nvPr/>
        </p:nvSpPr>
        <p:spPr>
          <a:xfrm>
            <a:off x="9005926" y="1554480"/>
            <a:ext cx="2606040" cy="3794760"/>
          </a:xfrm>
          <a:prstGeom prst="roundRect">
            <a:avLst>
              <a:gd name="adj" fmla="val 2807"/>
            </a:avLst>
          </a:prstGeom>
          <a:solidFill>
            <a:srgbClr val="FFFFFF"/>
          </a:solidFill>
          <a:ln w="9525">
            <a:solidFill>
              <a:srgbClr val="D9C7A3"/>
            </a:solidFill>
            <a:prstDash val="solid"/>
          </a:ln>
        </p:spPr>
      </p:sp>
      <p:sp>
        <p:nvSpPr>
          <p:cNvPr id="36" name="Shape 34"/>
          <p:cNvSpPr/>
          <p:nvPr/>
        </p:nvSpPr>
        <p:spPr>
          <a:xfrm>
            <a:off x="9234526" y="1783080"/>
            <a:ext cx="411480" cy="411480"/>
          </a:xfrm>
          <a:prstGeom prst="ellipse">
            <a:avLst/>
          </a:prstGeom>
          <a:solidFill>
            <a:srgbClr val="C8922F"/>
          </a:solidFill>
          <a:ln w="12700">
            <a:solidFill>
              <a:srgbClr val="C8922F"/>
            </a:solidFill>
            <a:prstDash val="solid"/>
          </a:ln>
        </p:spPr>
      </p:sp>
      <p:sp>
        <p:nvSpPr>
          <p:cNvPr id="37" name="Text 35"/>
          <p:cNvSpPr txBox="1"/>
          <p:nvPr/>
        </p:nvSpPr>
        <p:spPr>
          <a:xfrm>
            <a:off x="9234526" y="1783080"/>
            <a:ext cx="411480" cy="411480"/>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4</a:t>
            </a:r>
            <a:endParaRPr lang="en-US" sz="1200" dirty="0"/>
          </a:p>
        </p:txBody>
      </p:sp>
      <p:sp>
        <p:nvSpPr>
          <p:cNvPr id="38" name="Text 36"/>
          <p:cNvSpPr txBox="1"/>
          <p:nvPr/>
        </p:nvSpPr>
        <p:spPr>
          <a:xfrm>
            <a:off x="9755734" y="1737360"/>
            <a:ext cx="1691640" cy="502920"/>
          </a:xfrm>
          <a:prstGeom prst="rect">
            <a:avLst/>
          </a:prstGeom>
          <a:noFill/>
          <a:ln/>
        </p:spPr>
        <p:txBody>
          <a:bodyPr wrap="square" lIns="0" tIns="0" rIns="0" bIns="0" rtlCol="0" anchor="ctr"/>
          <a:lstStyle/>
          <a:p>
            <a:pPr indent="0" marL="0">
              <a:buNone/>
            </a:pPr>
            <a:r>
              <a:rPr lang="en-US" sz="1450" b="1" dirty="0">
                <a:solidFill>
                  <a:srgbClr val="2B2A28"/>
                </a:solidFill>
                <a:latin typeface="Cambria" pitchFamily="34" charset="0"/>
                <a:ea typeface="Cambria" pitchFamily="34" charset="-122"/>
                <a:cs typeface="Cambria" pitchFamily="34" charset="-120"/>
              </a:rPr>
              <a:t>Analytics &amp; Data</a:t>
            </a:r>
            <a:endParaRPr lang="en-US" sz="1450" dirty="0"/>
          </a:p>
        </p:txBody>
      </p:sp>
      <p:sp>
        <p:nvSpPr>
          <p:cNvPr id="39" name="Text 37"/>
          <p:cNvSpPr txBox="1"/>
          <p:nvPr/>
        </p:nvSpPr>
        <p:spPr>
          <a:xfrm>
            <a:off x="9234526" y="2286000"/>
            <a:ext cx="2194560" cy="457200"/>
          </a:xfrm>
          <a:prstGeom prst="rect">
            <a:avLst/>
          </a:prstGeom>
          <a:noFill/>
          <a:ln/>
        </p:spPr>
        <p:txBody>
          <a:bodyPr wrap="square" lIns="0" tIns="0" rIns="0" bIns="0" rtlCol="0" anchor="t"/>
          <a:lstStyle/>
          <a:p>
            <a:pPr indent="0" marL="0">
              <a:buNone/>
            </a:pPr>
            <a:r>
              <a:rPr lang="en-US" sz="1050" i="1" dirty="0">
                <a:solidFill>
                  <a:srgbClr val="4A5359"/>
                </a:solidFill>
                <a:latin typeface="Calibri" pitchFamily="34" charset="0"/>
                <a:ea typeface="Calibri" pitchFamily="34" charset="-122"/>
                <a:cs typeface="Calibri" pitchFamily="34" charset="-120"/>
              </a:rPr>
              <a:t>Set up by the developer; run by the Digital Lead</a:t>
            </a:r>
            <a:endParaRPr lang="en-US" sz="1050" dirty="0"/>
          </a:p>
        </p:txBody>
      </p:sp>
      <p:sp>
        <p:nvSpPr>
          <p:cNvPr id="40" name="Text 38"/>
          <p:cNvSpPr txBox="1"/>
          <p:nvPr/>
        </p:nvSpPr>
        <p:spPr>
          <a:xfrm>
            <a:off x="9234526" y="278892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DOES</a:t>
            </a:r>
            <a:endParaRPr lang="en-US" sz="1000" dirty="0"/>
          </a:p>
        </p:txBody>
      </p:sp>
      <p:sp>
        <p:nvSpPr>
          <p:cNvPr id="41" name="Text 39"/>
          <p:cNvSpPr txBox="1"/>
          <p:nvPr/>
        </p:nvSpPr>
        <p:spPr>
          <a:xfrm>
            <a:off x="9234526" y="3017520"/>
            <a:ext cx="2194560" cy="868680"/>
          </a:xfrm>
          <a:prstGeom prst="rect">
            <a:avLst/>
          </a:prstGeom>
          <a:noFill/>
          <a:ln/>
        </p:spPr>
        <p:txBody>
          <a:bodyPr wrap="square" lIns="0" tIns="0" rIns="0" bIns="0" rtlCol="0" anchor="t"/>
          <a:lstStyle/>
          <a:p>
            <a:pPr indent="0" marL="0">
              <a:buNone/>
            </a:pPr>
            <a:r>
              <a:rPr lang="en-US" sz="1100" dirty="0">
                <a:solidFill>
                  <a:srgbClr val="2B2A28"/>
                </a:solidFill>
                <a:latin typeface="Calibri" pitchFamily="34" charset="0"/>
                <a:ea typeface="Calibri" pitchFamily="34" charset="-122"/>
                <a:cs typeface="Calibri" pitchFamily="34" charset="-120"/>
              </a:rPr>
              <a:t>Tracking plan, GA4, Tag Manager, Search Console, dashboards; weekly numbers and a monthly written read-out</a:t>
            </a:r>
            <a:endParaRPr lang="en-US" sz="1100" dirty="0"/>
          </a:p>
        </p:txBody>
      </p:sp>
      <p:sp>
        <p:nvSpPr>
          <p:cNvPr id="42" name="Text 40"/>
          <p:cNvSpPr txBox="1"/>
          <p:nvPr/>
        </p:nvSpPr>
        <p:spPr>
          <a:xfrm>
            <a:off x="9234526" y="3886200"/>
            <a:ext cx="2194560" cy="228600"/>
          </a:xfrm>
          <a:prstGeom prst="rect">
            <a:avLst/>
          </a:prstGeom>
          <a:noFill/>
          <a:ln/>
        </p:spPr>
        <p:txBody>
          <a:bodyPr wrap="square" lIns="0" tIns="0" rIns="0" bIns="0" rtlCol="0" anchor="ctr"/>
          <a:lstStyle/>
          <a:p>
            <a:pPr indent="0" marL="0">
              <a:buNone/>
            </a:pPr>
            <a:r>
              <a:rPr lang="en-US" sz="1000" b="1" spc="200" kern="0" dirty="0">
                <a:solidFill>
                  <a:srgbClr val="8A6115"/>
                </a:solidFill>
                <a:latin typeface="Calibri" pitchFamily="34" charset="0"/>
                <a:ea typeface="Calibri" pitchFamily="34" charset="-122"/>
                <a:cs typeface="Calibri" pitchFamily="34" charset="-120"/>
              </a:rPr>
              <a:t>TAKES OFF</a:t>
            </a:r>
            <a:endParaRPr lang="en-US" sz="1000" dirty="0"/>
          </a:p>
        </p:txBody>
      </p:sp>
      <p:sp>
        <p:nvSpPr>
          <p:cNvPr id="43" name="Text 41"/>
          <p:cNvSpPr txBox="1"/>
          <p:nvPr/>
        </p:nvSpPr>
        <p:spPr>
          <a:xfrm>
            <a:off x="9234526" y="4114800"/>
            <a:ext cx="2194560" cy="457200"/>
          </a:xfrm>
          <a:prstGeom prst="rect">
            <a:avLst/>
          </a:prstGeom>
          <a:noFill/>
          <a:ln/>
        </p:spPr>
        <p:txBody>
          <a:bodyPr wrap="square" lIns="0" tIns="0" rIns="0" bIns="0" rtlCol="0" anchor="t"/>
          <a:lstStyle/>
          <a:p>
            <a:pPr indent="0" marL="0">
              <a:buNone/>
            </a:pPr>
            <a:r>
              <a:rPr lang="en-US" sz="1100" b="1" dirty="0">
                <a:solidFill>
                  <a:srgbClr val="2E4057"/>
                </a:solidFill>
                <a:latin typeface="Calibri" pitchFamily="34" charset="0"/>
                <a:ea typeface="Calibri" pitchFamily="34" charset="-122"/>
                <a:cs typeface="Calibri" pitchFamily="34" charset="-120"/>
              </a:rPr>
              <a:t>Report building: about 2 hrs/wk</a:t>
            </a:r>
            <a:endParaRPr lang="en-US" sz="1100" dirty="0"/>
          </a:p>
        </p:txBody>
      </p:sp>
      <p:sp>
        <p:nvSpPr>
          <p:cNvPr id="44" name="Text 42"/>
          <p:cNvSpPr txBox="1"/>
          <p:nvPr/>
        </p:nvSpPr>
        <p:spPr>
          <a:xfrm>
            <a:off x="9234526" y="4617720"/>
            <a:ext cx="2194560" cy="685800"/>
          </a:xfrm>
          <a:prstGeom prst="rect">
            <a:avLst/>
          </a:prstGeom>
          <a:noFill/>
          <a:ln/>
        </p:spPr>
        <p:txBody>
          <a:bodyPr wrap="square" lIns="0" tIns="0" rIns="0" bIns="0" rtlCol="0" anchor="t"/>
          <a:lstStyle/>
          <a:p>
            <a:pPr indent="0" marL="0">
              <a:buNone/>
            </a:pPr>
            <a:r>
              <a:rPr lang="en-US" sz="1700" b="1" dirty="0">
                <a:solidFill>
                  <a:srgbClr val="2B2A28"/>
                </a:solidFill>
                <a:latin typeface="Cambria" pitchFamily="34" charset="0"/>
                <a:ea typeface="Cambria" pitchFamily="34" charset="-122"/>
                <a:cs typeface="Cambria" pitchFamily="34" charset="-120"/>
              </a:rPr>
              <a:t>$0.5k–2.1k</a:t>
            </a:r>
            <a:endParaRPr lang="en-US" sz="1700" dirty="0"/>
          </a:p>
          <a:p>
            <a:pPr indent="0" marL="0">
              <a:buNone/>
            </a:pPr>
            <a:r>
              <a:rPr lang="en-US" sz="1000" dirty="0">
                <a:solidFill>
                  <a:srgbClr val="4A5359"/>
                </a:solidFill>
                <a:latin typeface="Calibri" pitchFamily="34" charset="0"/>
                <a:ea typeface="Calibri" pitchFamily="34" charset="-122"/>
                <a:cs typeface="Calibri" pitchFamily="34" charset="-120"/>
              </a:rPr>
              <a:t>one-time setup (8–16 hrs), then time</a:t>
            </a:r>
            <a:endParaRPr lang="en-US" sz="1700" dirty="0"/>
          </a:p>
        </p:txBody>
      </p:sp>
      <p:sp>
        <p:nvSpPr>
          <p:cNvPr id="45" name="Shape 43"/>
          <p:cNvSpPr/>
          <p:nvPr/>
        </p:nvSpPr>
        <p:spPr>
          <a:xfrm>
            <a:off x="548640" y="5486400"/>
            <a:ext cx="11064240" cy="731520"/>
          </a:xfrm>
          <a:prstGeom prst="roundRect">
            <a:avLst>
              <a:gd name="adj" fmla="val 10000"/>
            </a:avLst>
          </a:prstGeom>
          <a:solidFill>
            <a:srgbClr val="2E4057"/>
          </a:solidFill>
          <a:ln w="12700">
            <a:solidFill>
              <a:srgbClr val="2E4057"/>
            </a:solidFill>
            <a:prstDash val="solid"/>
          </a:ln>
        </p:spPr>
      </p:sp>
      <p:sp>
        <p:nvSpPr>
          <p:cNvPr id="46" name="Text 44"/>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250" b="1" dirty="0">
                <a:solidFill>
                  <a:srgbClr val="C8922F"/>
                </a:solidFill>
                <a:latin typeface="Calibri" pitchFamily="34" charset="0"/>
                <a:ea typeface="Calibri" pitchFamily="34" charset="-122"/>
                <a:cs typeface="Calibri" pitchFamily="34" charset="-120"/>
              </a:rPr>
              <a:t>Together with the AI helpers:  </a:t>
            </a:r>
            <a:pPr indent="0" marL="0">
              <a:buNone/>
            </a:pPr>
            <a:r>
              <a:rPr lang="en-US" sz="1250" dirty="0">
                <a:solidFill>
                  <a:srgbClr val="EDE7D8"/>
                </a:solidFill>
                <a:latin typeface="Calibri" pitchFamily="34" charset="0"/>
                <a:ea typeface="Calibri" pitchFamily="34" charset="-122"/>
                <a:cs typeface="Calibri" pitchFamily="34" charset="-120"/>
              </a:rPr>
              <a:t>10–13 hrs a week off the owners, plus 5–7 hrs of service replies drafted for the CS lead, for 15–20 hrs in all by month 12. About $17k–36k a year including tools, plus the one-time build.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28</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THE DIGITAL TEAM · THE RHYTHM</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What each role does every week, month and quarter</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3200400"/>
                <a:gridCol w="3200400"/>
                <a:gridCol w="2834640"/>
              </a:tblGrid>
              <a:tr h="365760">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868680">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Digital Lead</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Clear the AI approval queue (15–30 min a day) · 30-min dashboard review with owners · log hours saved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Tool and vendor check · pick the next workflow to automate · review the AI-answer report</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Roadmap and budget review · access and password audit</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68680">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Web &amp; E-commerce</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Fixes as they come in from the Fixer and CS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App and theme updates · speed and broken-link check · new products and seasonal collections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Checkout test on real devices · conversion review · holiday and gift set-up by September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68680">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Content, SEO &amp; AEO</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2–3 social posts · 1 email · reply to comments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2–4 recipes or stories · product copy refresh · ranking check · run the AI prompt bank</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Content calendar · press pitch · FAQ and schema refresh</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868680">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Analytics &amp; Data</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Dashboard: sales by channel, conversion, order value, ship time, tickets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Channel profit with the bookkeeper · email and search report with a written read-out</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Phase-gate numbers vs targets · reset the baseline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715000"/>
            <a:ext cx="11064240" cy="502920"/>
          </a:xfrm>
          <a:prstGeom prst="roundRect">
            <a:avLst>
              <a:gd name="adj" fmla="val 14545"/>
            </a:avLst>
          </a:prstGeom>
          <a:solidFill>
            <a:srgbClr val="F0E3C4"/>
          </a:solidFill>
          <a:ln w="12700">
            <a:solidFill>
              <a:srgbClr val="F0E3C4"/>
            </a:solidFill>
            <a:prstDash val="solid"/>
          </a:ln>
        </p:spPr>
      </p:sp>
      <p:sp>
        <p:nvSpPr>
          <p:cNvPr id="7" name="Text 4"/>
          <p:cNvSpPr txBox="1"/>
          <p:nvPr/>
        </p:nvSpPr>
        <p:spPr>
          <a:xfrm>
            <a:off x="822960" y="5715000"/>
            <a:ext cx="10515600" cy="502920"/>
          </a:xfrm>
          <a:prstGeom prst="rect">
            <a:avLst/>
          </a:prstGeom>
          <a:noFill/>
          <a:ln/>
        </p:spPr>
        <p:txBody>
          <a:bodyPr wrap="square" lIns="0" tIns="0" rIns="0" bIns="0" rtlCol="0" anchor="ctr"/>
          <a:lstStyle/>
          <a:p>
            <a:pPr indent="0" marL="0">
              <a:buNone/>
            </a:pPr>
            <a:r>
              <a:rPr lang="en-US" sz="1250" b="1" dirty="0">
                <a:solidFill>
                  <a:srgbClr val="8A6115"/>
                </a:solidFill>
                <a:latin typeface="Calibri" pitchFamily="34" charset="0"/>
                <a:ea typeface="Calibri" pitchFamily="34" charset="-122"/>
                <a:cs typeface="Calibri" pitchFamily="34" charset="-120"/>
              </a:rPr>
              <a:t>The rule that holds it together:  </a:t>
            </a:r>
            <a:pPr indent="0" marL="0">
              <a:buNone/>
            </a:pPr>
            <a:r>
              <a:rPr lang="en-US" sz="1250" dirty="0">
                <a:solidFill>
                  <a:srgbClr val="2B2A28"/>
                </a:solidFill>
                <a:latin typeface="Calibri" pitchFamily="34" charset="0"/>
                <a:ea typeface="Calibri" pitchFamily="34" charset="-122"/>
                <a:cs typeface="Calibri" pitchFamily="34" charset="-120"/>
              </a:rPr>
              <a:t>one workflow at a time. Measure the hours saved before starting the next.</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29</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TOOL STACK · STARTING FROM ZERO</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Everything the mill needs: about $380 a month to start</a:t>
            </a:r>
            <a:endParaRPr lang="en-US" sz="3000" dirty="0"/>
          </a:p>
        </p:txBody>
      </p:sp>
      <p:sp>
        <p:nvSpPr>
          <p:cNvPr id="5" name="Shape 3"/>
          <p:cNvSpPr/>
          <p:nvPr/>
        </p:nvSpPr>
        <p:spPr>
          <a:xfrm>
            <a:off x="548640" y="1508760"/>
            <a:ext cx="3566160" cy="1965960"/>
          </a:xfrm>
          <a:prstGeom prst="roundRect">
            <a:avLst>
              <a:gd name="adj" fmla="val 3721"/>
            </a:avLst>
          </a:prstGeom>
          <a:solidFill>
            <a:srgbClr val="FFFFFF"/>
          </a:solidFill>
          <a:ln w="9525">
            <a:solidFill>
              <a:srgbClr val="D9C7A3"/>
            </a:solidFill>
            <a:prstDash val="solid"/>
          </a:ln>
        </p:spPr>
      </p:sp>
      <p:sp>
        <p:nvSpPr>
          <p:cNvPr id="6" name="Text 4"/>
          <p:cNvSpPr txBox="1"/>
          <p:nvPr/>
        </p:nvSpPr>
        <p:spPr>
          <a:xfrm>
            <a:off x="777240" y="1645920"/>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Commerce</a:t>
            </a:r>
            <a:endParaRPr lang="en-US" sz="1500" dirty="0"/>
          </a:p>
        </p:txBody>
      </p:sp>
      <p:sp>
        <p:nvSpPr>
          <p:cNvPr id="7" name="Text 5"/>
          <p:cNvSpPr txBox="1"/>
          <p:nvPr/>
        </p:nvSpPr>
        <p:spPr>
          <a:xfrm>
            <a:off x="2743200" y="1645920"/>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$99/mo</a:t>
            </a:r>
            <a:endParaRPr lang="en-US" sz="1500" dirty="0"/>
          </a:p>
        </p:txBody>
      </p:sp>
      <p:sp>
        <p:nvSpPr>
          <p:cNvPr id="8" name="Text 6"/>
          <p:cNvSpPr txBox="1"/>
          <p:nvPr/>
        </p:nvSpPr>
        <p:spPr>
          <a:xfrm>
            <a:off x="777240" y="2103120"/>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Shopify Basic</a:t>
            </a:r>
            <a:endParaRPr lang="en-US" sz="1150" dirty="0"/>
          </a:p>
        </p:txBody>
      </p:sp>
      <p:sp>
        <p:nvSpPr>
          <p:cNvPr id="9" name="Text 7"/>
          <p:cNvSpPr txBox="1"/>
          <p:nvPr/>
        </p:nvSpPr>
        <p:spPr>
          <a:xfrm>
            <a:off x="3108960" y="2103120"/>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$39</a:t>
            </a:r>
            <a:endParaRPr lang="en-US" sz="1150" dirty="0"/>
          </a:p>
        </p:txBody>
      </p:sp>
      <p:sp>
        <p:nvSpPr>
          <p:cNvPr id="10" name="Text 8"/>
          <p:cNvSpPr txBox="1"/>
          <p:nvPr/>
        </p:nvSpPr>
        <p:spPr>
          <a:xfrm>
            <a:off x="777240" y="2432304"/>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Wholesale app or Shopify B2B</a:t>
            </a:r>
            <a:endParaRPr lang="en-US" sz="1150" dirty="0"/>
          </a:p>
        </p:txBody>
      </p:sp>
      <p:sp>
        <p:nvSpPr>
          <p:cNvPr id="11" name="Text 9"/>
          <p:cNvSpPr txBox="1"/>
          <p:nvPr/>
        </p:nvSpPr>
        <p:spPr>
          <a:xfrm>
            <a:off x="3108960" y="2432304"/>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$25</a:t>
            </a:r>
            <a:endParaRPr lang="en-US" sz="1150" dirty="0"/>
          </a:p>
        </p:txBody>
      </p:sp>
      <p:sp>
        <p:nvSpPr>
          <p:cNvPr id="12" name="Text 10"/>
          <p:cNvSpPr txBox="1"/>
          <p:nvPr/>
        </p:nvSpPr>
        <p:spPr>
          <a:xfrm>
            <a:off x="777240" y="276148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Judge.me reviews</a:t>
            </a:r>
            <a:endParaRPr lang="en-US" sz="1150" dirty="0"/>
          </a:p>
        </p:txBody>
      </p:sp>
      <p:sp>
        <p:nvSpPr>
          <p:cNvPr id="13" name="Text 11"/>
          <p:cNvSpPr txBox="1"/>
          <p:nvPr/>
        </p:nvSpPr>
        <p:spPr>
          <a:xfrm>
            <a:off x="3108960" y="2761488"/>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$15</a:t>
            </a:r>
            <a:endParaRPr lang="en-US" sz="1150" dirty="0"/>
          </a:p>
        </p:txBody>
      </p:sp>
      <p:sp>
        <p:nvSpPr>
          <p:cNvPr id="14" name="Text 12"/>
          <p:cNvSpPr txBox="1"/>
          <p:nvPr/>
        </p:nvSpPr>
        <p:spPr>
          <a:xfrm>
            <a:off x="777240" y="3090672"/>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Klaviyo email</a:t>
            </a:r>
            <a:endParaRPr lang="en-US" sz="1150" dirty="0"/>
          </a:p>
        </p:txBody>
      </p:sp>
      <p:sp>
        <p:nvSpPr>
          <p:cNvPr id="15" name="Text 13"/>
          <p:cNvSpPr txBox="1"/>
          <p:nvPr/>
        </p:nvSpPr>
        <p:spPr>
          <a:xfrm>
            <a:off x="3108960" y="3090672"/>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$20</a:t>
            </a:r>
            <a:endParaRPr lang="en-US" sz="1150" dirty="0"/>
          </a:p>
        </p:txBody>
      </p:sp>
      <p:sp>
        <p:nvSpPr>
          <p:cNvPr id="16" name="Shape 14"/>
          <p:cNvSpPr/>
          <p:nvPr/>
        </p:nvSpPr>
        <p:spPr>
          <a:xfrm>
            <a:off x="4297680" y="1508760"/>
            <a:ext cx="3566160" cy="1965960"/>
          </a:xfrm>
          <a:prstGeom prst="roundRect">
            <a:avLst>
              <a:gd name="adj" fmla="val 3721"/>
            </a:avLst>
          </a:prstGeom>
          <a:solidFill>
            <a:srgbClr val="FFFFFF"/>
          </a:solidFill>
          <a:ln w="9525">
            <a:solidFill>
              <a:srgbClr val="D9C7A3"/>
            </a:solidFill>
            <a:prstDash val="solid"/>
          </a:ln>
        </p:spPr>
      </p:sp>
      <p:sp>
        <p:nvSpPr>
          <p:cNvPr id="17" name="Text 15"/>
          <p:cNvSpPr txBox="1"/>
          <p:nvPr/>
        </p:nvSpPr>
        <p:spPr>
          <a:xfrm>
            <a:off x="4526280" y="1645920"/>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Customer service</a:t>
            </a:r>
            <a:endParaRPr lang="en-US" sz="1500" dirty="0"/>
          </a:p>
        </p:txBody>
      </p:sp>
      <p:sp>
        <p:nvSpPr>
          <p:cNvPr id="18" name="Text 16"/>
          <p:cNvSpPr txBox="1"/>
          <p:nvPr/>
        </p:nvSpPr>
        <p:spPr>
          <a:xfrm>
            <a:off x="6492240" y="1645920"/>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$40/mo</a:t>
            </a:r>
            <a:endParaRPr lang="en-US" sz="1500" dirty="0"/>
          </a:p>
        </p:txBody>
      </p:sp>
      <p:sp>
        <p:nvSpPr>
          <p:cNvPr id="19" name="Text 17"/>
          <p:cNvSpPr txBox="1"/>
          <p:nvPr/>
        </p:nvSpPr>
        <p:spPr>
          <a:xfrm>
            <a:off x="4526280" y="2103120"/>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Gorgias help desk</a:t>
            </a:r>
            <a:endParaRPr lang="en-US" sz="1150" dirty="0"/>
          </a:p>
        </p:txBody>
      </p:sp>
      <p:sp>
        <p:nvSpPr>
          <p:cNvPr id="20" name="Text 18"/>
          <p:cNvSpPr txBox="1"/>
          <p:nvPr/>
        </p:nvSpPr>
        <p:spPr>
          <a:xfrm>
            <a:off x="6858000" y="2103120"/>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$10</a:t>
            </a:r>
            <a:endParaRPr lang="en-US" sz="1150" dirty="0"/>
          </a:p>
        </p:txBody>
      </p:sp>
      <p:sp>
        <p:nvSpPr>
          <p:cNvPr id="21" name="Text 19"/>
          <p:cNvSpPr txBox="1"/>
          <p:nvPr/>
        </p:nvSpPr>
        <p:spPr>
          <a:xfrm>
            <a:off x="4526280" y="2432304"/>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Shopify Inbox chat</a:t>
            </a:r>
            <a:endParaRPr lang="en-US" sz="1150" dirty="0"/>
          </a:p>
        </p:txBody>
      </p:sp>
      <p:sp>
        <p:nvSpPr>
          <p:cNvPr id="22" name="Text 20"/>
          <p:cNvSpPr txBox="1"/>
          <p:nvPr/>
        </p:nvSpPr>
        <p:spPr>
          <a:xfrm>
            <a:off x="6858000" y="2432304"/>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23" name="Text 21"/>
          <p:cNvSpPr txBox="1"/>
          <p:nvPr/>
        </p:nvSpPr>
        <p:spPr>
          <a:xfrm>
            <a:off x="4526280" y="276148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Quo phone, 2 users</a:t>
            </a:r>
            <a:endParaRPr lang="en-US" sz="1150" dirty="0"/>
          </a:p>
        </p:txBody>
      </p:sp>
      <p:sp>
        <p:nvSpPr>
          <p:cNvPr id="24" name="Text 22"/>
          <p:cNvSpPr txBox="1"/>
          <p:nvPr/>
        </p:nvSpPr>
        <p:spPr>
          <a:xfrm>
            <a:off x="6858000" y="2761488"/>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$30</a:t>
            </a:r>
            <a:endParaRPr lang="en-US" sz="1150" dirty="0"/>
          </a:p>
        </p:txBody>
      </p:sp>
      <p:sp>
        <p:nvSpPr>
          <p:cNvPr id="25" name="Text 23"/>
          <p:cNvSpPr txBox="1"/>
          <p:nvPr/>
        </p:nvSpPr>
        <p:spPr>
          <a:xfrm>
            <a:off x="4526280" y="3090672"/>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FareHarbor / Xola booking</a:t>
            </a:r>
            <a:endParaRPr lang="en-US" sz="1150" dirty="0"/>
          </a:p>
        </p:txBody>
      </p:sp>
      <p:sp>
        <p:nvSpPr>
          <p:cNvPr id="26" name="Text 24"/>
          <p:cNvSpPr txBox="1"/>
          <p:nvPr/>
        </p:nvSpPr>
        <p:spPr>
          <a:xfrm>
            <a:off x="6858000" y="3090672"/>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Fees only</a:t>
            </a:r>
            <a:endParaRPr lang="en-US" sz="1150" dirty="0"/>
          </a:p>
        </p:txBody>
      </p:sp>
      <p:sp>
        <p:nvSpPr>
          <p:cNvPr id="27" name="Shape 25"/>
          <p:cNvSpPr/>
          <p:nvPr/>
        </p:nvSpPr>
        <p:spPr>
          <a:xfrm>
            <a:off x="8046720" y="1508760"/>
            <a:ext cx="3566160" cy="1965960"/>
          </a:xfrm>
          <a:prstGeom prst="roundRect">
            <a:avLst>
              <a:gd name="adj" fmla="val 3721"/>
            </a:avLst>
          </a:prstGeom>
          <a:solidFill>
            <a:srgbClr val="FFFFFF"/>
          </a:solidFill>
          <a:ln w="9525">
            <a:solidFill>
              <a:srgbClr val="D9C7A3"/>
            </a:solidFill>
            <a:prstDash val="solid"/>
          </a:ln>
        </p:spPr>
      </p:sp>
      <p:sp>
        <p:nvSpPr>
          <p:cNvPr id="28" name="Text 26"/>
          <p:cNvSpPr txBox="1"/>
          <p:nvPr/>
        </p:nvSpPr>
        <p:spPr>
          <a:xfrm>
            <a:off x="8275320" y="1645920"/>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Finance &amp; grants</a:t>
            </a:r>
            <a:endParaRPr lang="en-US" sz="1500" dirty="0"/>
          </a:p>
        </p:txBody>
      </p:sp>
      <p:sp>
        <p:nvSpPr>
          <p:cNvPr id="29" name="Text 27"/>
          <p:cNvSpPr txBox="1"/>
          <p:nvPr/>
        </p:nvSpPr>
        <p:spPr>
          <a:xfrm>
            <a:off x="10241280" y="1645920"/>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$38/mo</a:t>
            </a:r>
            <a:endParaRPr lang="en-US" sz="1500" dirty="0"/>
          </a:p>
        </p:txBody>
      </p:sp>
      <p:sp>
        <p:nvSpPr>
          <p:cNvPr id="30" name="Text 28"/>
          <p:cNvSpPr txBox="1"/>
          <p:nvPr/>
        </p:nvSpPr>
        <p:spPr>
          <a:xfrm>
            <a:off x="8275320" y="2103120"/>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QuickBooks Online</a:t>
            </a:r>
            <a:endParaRPr lang="en-US" sz="1150" dirty="0"/>
          </a:p>
        </p:txBody>
      </p:sp>
      <p:sp>
        <p:nvSpPr>
          <p:cNvPr id="31" name="Text 29"/>
          <p:cNvSpPr txBox="1"/>
          <p:nvPr/>
        </p:nvSpPr>
        <p:spPr>
          <a:xfrm>
            <a:off x="10607040" y="2103120"/>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$38</a:t>
            </a:r>
            <a:endParaRPr lang="en-US" sz="1150" dirty="0"/>
          </a:p>
        </p:txBody>
      </p:sp>
      <p:sp>
        <p:nvSpPr>
          <p:cNvPr id="32" name="Text 30"/>
          <p:cNvSpPr txBox="1"/>
          <p:nvPr/>
        </p:nvSpPr>
        <p:spPr>
          <a:xfrm>
            <a:off x="8275320" y="2432304"/>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Grants.gov, SAM.gov</a:t>
            </a:r>
            <a:endParaRPr lang="en-US" sz="1150" dirty="0"/>
          </a:p>
        </p:txBody>
      </p:sp>
      <p:sp>
        <p:nvSpPr>
          <p:cNvPr id="33" name="Text 31"/>
          <p:cNvSpPr txBox="1"/>
          <p:nvPr/>
        </p:nvSpPr>
        <p:spPr>
          <a:xfrm>
            <a:off x="10607040" y="2432304"/>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34" name="Text 32"/>
          <p:cNvSpPr txBox="1"/>
          <p:nvPr/>
        </p:nvSpPr>
        <p:spPr>
          <a:xfrm>
            <a:off x="8275320" y="276148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Grants tracker</a:t>
            </a:r>
            <a:endParaRPr lang="en-US" sz="1150" dirty="0"/>
          </a:p>
        </p:txBody>
      </p:sp>
      <p:sp>
        <p:nvSpPr>
          <p:cNvPr id="35" name="Text 33"/>
          <p:cNvSpPr txBox="1"/>
          <p:nvPr/>
        </p:nvSpPr>
        <p:spPr>
          <a:xfrm>
            <a:off x="10607040" y="2761488"/>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36" name="Shape 34"/>
          <p:cNvSpPr/>
          <p:nvPr/>
        </p:nvSpPr>
        <p:spPr>
          <a:xfrm>
            <a:off x="548640" y="3630168"/>
            <a:ext cx="3566160" cy="1965960"/>
          </a:xfrm>
          <a:prstGeom prst="roundRect">
            <a:avLst>
              <a:gd name="adj" fmla="val 3721"/>
            </a:avLst>
          </a:prstGeom>
          <a:solidFill>
            <a:srgbClr val="FFFFFF"/>
          </a:solidFill>
          <a:ln w="9525">
            <a:solidFill>
              <a:srgbClr val="D9C7A3"/>
            </a:solidFill>
            <a:prstDash val="solid"/>
          </a:ln>
        </p:spPr>
      </p:sp>
      <p:sp>
        <p:nvSpPr>
          <p:cNvPr id="37" name="Text 35"/>
          <p:cNvSpPr txBox="1"/>
          <p:nvPr/>
        </p:nvSpPr>
        <p:spPr>
          <a:xfrm>
            <a:off x="777240" y="3767328"/>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Analytics</a:t>
            </a:r>
            <a:endParaRPr lang="en-US" sz="1500" dirty="0"/>
          </a:p>
        </p:txBody>
      </p:sp>
      <p:sp>
        <p:nvSpPr>
          <p:cNvPr id="38" name="Text 36"/>
          <p:cNvSpPr txBox="1"/>
          <p:nvPr/>
        </p:nvSpPr>
        <p:spPr>
          <a:xfrm>
            <a:off x="2743200" y="3767328"/>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Free</a:t>
            </a:r>
            <a:endParaRPr lang="en-US" sz="1500" dirty="0"/>
          </a:p>
        </p:txBody>
      </p:sp>
      <p:sp>
        <p:nvSpPr>
          <p:cNvPr id="39" name="Text 37"/>
          <p:cNvSpPr txBox="1"/>
          <p:nvPr/>
        </p:nvSpPr>
        <p:spPr>
          <a:xfrm>
            <a:off x="777240" y="422452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GA4 + Tag Manager</a:t>
            </a:r>
            <a:endParaRPr lang="en-US" sz="1150" dirty="0"/>
          </a:p>
        </p:txBody>
      </p:sp>
      <p:sp>
        <p:nvSpPr>
          <p:cNvPr id="40" name="Text 38"/>
          <p:cNvSpPr txBox="1"/>
          <p:nvPr/>
        </p:nvSpPr>
        <p:spPr>
          <a:xfrm>
            <a:off x="3108960" y="4224528"/>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41" name="Text 39"/>
          <p:cNvSpPr txBox="1"/>
          <p:nvPr/>
        </p:nvSpPr>
        <p:spPr>
          <a:xfrm>
            <a:off x="777240" y="4553712"/>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Search Console + Bing</a:t>
            </a:r>
            <a:endParaRPr lang="en-US" sz="1150" dirty="0"/>
          </a:p>
        </p:txBody>
      </p:sp>
      <p:sp>
        <p:nvSpPr>
          <p:cNvPr id="42" name="Text 40"/>
          <p:cNvSpPr txBox="1"/>
          <p:nvPr/>
        </p:nvSpPr>
        <p:spPr>
          <a:xfrm>
            <a:off x="3108960" y="4553712"/>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43" name="Text 41"/>
          <p:cNvSpPr txBox="1"/>
          <p:nvPr/>
        </p:nvSpPr>
        <p:spPr>
          <a:xfrm>
            <a:off x="777240" y="4882896"/>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Microsoft Clarity</a:t>
            </a:r>
            <a:endParaRPr lang="en-US" sz="1150" dirty="0"/>
          </a:p>
        </p:txBody>
      </p:sp>
      <p:sp>
        <p:nvSpPr>
          <p:cNvPr id="44" name="Text 42"/>
          <p:cNvSpPr txBox="1"/>
          <p:nvPr/>
        </p:nvSpPr>
        <p:spPr>
          <a:xfrm>
            <a:off x="3108960" y="4882896"/>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45" name="Text 43"/>
          <p:cNvSpPr txBox="1"/>
          <p:nvPr/>
        </p:nvSpPr>
        <p:spPr>
          <a:xfrm>
            <a:off x="777240" y="5212080"/>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Looker Studio</a:t>
            </a:r>
            <a:endParaRPr lang="en-US" sz="1150" dirty="0"/>
          </a:p>
        </p:txBody>
      </p:sp>
      <p:sp>
        <p:nvSpPr>
          <p:cNvPr id="46" name="Text 44"/>
          <p:cNvSpPr txBox="1"/>
          <p:nvPr/>
        </p:nvSpPr>
        <p:spPr>
          <a:xfrm>
            <a:off x="3108960" y="5212080"/>
            <a:ext cx="777240" cy="292608"/>
          </a:xfrm>
          <a:prstGeom prst="rect">
            <a:avLst/>
          </a:prstGeom>
          <a:noFill/>
          <a:ln/>
        </p:spPr>
        <p:txBody>
          <a:bodyPr wrap="square" lIns="0" tIns="0" rIns="0" bIns="0" rtlCol="0" anchor="ctr"/>
          <a:lstStyle/>
          <a:p>
            <a:pPr algn="r" indent="0" marL="0">
              <a:buNone/>
            </a:pPr>
            <a:r>
              <a:rPr lang="en-US" sz="1150" b="1" dirty="0">
                <a:solidFill>
                  <a:srgbClr val="4A5359"/>
                </a:solidFill>
                <a:latin typeface="Calibri" pitchFamily="34" charset="0"/>
                <a:ea typeface="Calibri" pitchFamily="34" charset="-122"/>
                <a:cs typeface="Calibri" pitchFamily="34" charset="-120"/>
              </a:rPr>
              <a:t>Free</a:t>
            </a:r>
            <a:endParaRPr lang="en-US" sz="1150" dirty="0"/>
          </a:p>
        </p:txBody>
      </p:sp>
      <p:sp>
        <p:nvSpPr>
          <p:cNvPr id="47" name="Shape 45"/>
          <p:cNvSpPr/>
          <p:nvPr/>
        </p:nvSpPr>
        <p:spPr>
          <a:xfrm>
            <a:off x="4297680" y="3630168"/>
            <a:ext cx="3566160" cy="1965960"/>
          </a:xfrm>
          <a:prstGeom prst="roundRect">
            <a:avLst>
              <a:gd name="adj" fmla="val 3721"/>
            </a:avLst>
          </a:prstGeom>
          <a:solidFill>
            <a:srgbClr val="FFFFFF"/>
          </a:solidFill>
          <a:ln w="9525">
            <a:solidFill>
              <a:srgbClr val="D9C7A3"/>
            </a:solidFill>
            <a:prstDash val="solid"/>
          </a:ln>
        </p:spPr>
      </p:sp>
      <p:sp>
        <p:nvSpPr>
          <p:cNvPr id="48" name="Text 46"/>
          <p:cNvSpPr txBox="1"/>
          <p:nvPr/>
        </p:nvSpPr>
        <p:spPr>
          <a:xfrm>
            <a:off x="4526280" y="3767328"/>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SEO &amp; AEO</a:t>
            </a:r>
            <a:endParaRPr lang="en-US" sz="1500" dirty="0"/>
          </a:p>
        </p:txBody>
      </p:sp>
      <p:sp>
        <p:nvSpPr>
          <p:cNvPr id="49" name="Text 47"/>
          <p:cNvSpPr txBox="1"/>
          <p:nvPr/>
        </p:nvSpPr>
        <p:spPr>
          <a:xfrm>
            <a:off x="6492240" y="3767328"/>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$128/mo</a:t>
            </a:r>
            <a:endParaRPr lang="en-US" sz="1500" dirty="0"/>
          </a:p>
        </p:txBody>
      </p:sp>
      <p:sp>
        <p:nvSpPr>
          <p:cNvPr id="50" name="Text 48"/>
          <p:cNvSpPr txBox="1"/>
          <p:nvPr/>
        </p:nvSpPr>
        <p:spPr>
          <a:xfrm>
            <a:off x="4526280" y="422452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Moz / Ahrefs / Semrush</a:t>
            </a:r>
            <a:endParaRPr lang="en-US" sz="1150" dirty="0"/>
          </a:p>
        </p:txBody>
      </p:sp>
      <p:sp>
        <p:nvSpPr>
          <p:cNvPr id="51" name="Text 49"/>
          <p:cNvSpPr txBox="1"/>
          <p:nvPr/>
        </p:nvSpPr>
        <p:spPr>
          <a:xfrm>
            <a:off x="6858000" y="4224528"/>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$99</a:t>
            </a:r>
            <a:endParaRPr lang="en-US" sz="1150" dirty="0"/>
          </a:p>
        </p:txBody>
      </p:sp>
      <p:sp>
        <p:nvSpPr>
          <p:cNvPr id="52" name="Text 50"/>
          <p:cNvSpPr txBox="1"/>
          <p:nvPr/>
        </p:nvSpPr>
        <p:spPr>
          <a:xfrm>
            <a:off x="4526280" y="4553712"/>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Otterly AI tracking</a:t>
            </a:r>
            <a:endParaRPr lang="en-US" sz="1150" dirty="0"/>
          </a:p>
        </p:txBody>
      </p:sp>
      <p:sp>
        <p:nvSpPr>
          <p:cNvPr id="53" name="Text 51"/>
          <p:cNvSpPr txBox="1"/>
          <p:nvPr/>
        </p:nvSpPr>
        <p:spPr>
          <a:xfrm>
            <a:off x="6858000" y="4553712"/>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$29</a:t>
            </a:r>
            <a:endParaRPr lang="en-US" sz="1150" dirty="0"/>
          </a:p>
        </p:txBody>
      </p:sp>
      <p:sp>
        <p:nvSpPr>
          <p:cNvPr id="54" name="Shape 52"/>
          <p:cNvSpPr/>
          <p:nvPr/>
        </p:nvSpPr>
        <p:spPr>
          <a:xfrm>
            <a:off x="8046720" y="3630168"/>
            <a:ext cx="3566160" cy="1965960"/>
          </a:xfrm>
          <a:prstGeom prst="roundRect">
            <a:avLst>
              <a:gd name="adj" fmla="val 3721"/>
            </a:avLst>
          </a:prstGeom>
          <a:solidFill>
            <a:srgbClr val="FFFFFF"/>
          </a:solidFill>
          <a:ln w="9525">
            <a:solidFill>
              <a:srgbClr val="D9C7A3"/>
            </a:solidFill>
            <a:prstDash val="solid"/>
          </a:ln>
        </p:spPr>
      </p:sp>
      <p:sp>
        <p:nvSpPr>
          <p:cNvPr id="55" name="Text 53"/>
          <p:cNvSpPr txBox="1"/>
          <p:nvPr/>
        </p:nvSpPr>
        <p:spPr>
          <a:xfrm>
            <a:off x="8275320" y="3767328"/>
            <a:ext cx="2194560" cy="365760"/>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Admin &amp; AI</a:t>
            </a:r>
            <a:endParaRPr lang="en-US" sz="1500" dirty="0"/>
          </a:p>
        </p:txBody>
      </p:sp>
      <p:sp>
        <p:nvSpPr>
          <p:cNvPr id="56" name="Text 54"/>
          <p:cNvSpPr txBox="1"/>
          <p:nvPr/>
        </p:nvSpPr>
        <p:spPr>
          <a:xfrm>
            <a:off x="10241280" y="3767328"/>
            <a:ext cx="1143000" cy="365760"/>
          </a:xfrm>
          <a:prstGeom prst="rect">
            <a:avLst/>
          </a:prstGeom>
          <a:noFill/>
          <a:ln/>
        </p:spPr>
        <p:txBody>
          <a:bodyPr wrap="square" lIns="0" tIns="0" rIns="0" bIns="0" rtlCol="0" anchor="ctr"/>
          <a:lstStyle/>
          <a:p>
            <a:pPr algn="r" indent="0" marL="0">
              <a:buNone/>
            </a:pPr>
            <a:r>
              <a:rPr lang="en-US" sz="1500" b="1" dirty="0">
                <a:solidFill>
                  <a:srgbClr val="8A6115"/>
                </a:solidFill>
                <a:latin typeface="Cambria" pitchFamily="34" charset="0"/>
                <a:ea typeface="Cambria" pitchFamily="34" charset="-122"/>
                <a:cs typeface="Cambria" pitchFamily="34" charset="-120"/>
              </a:rPr>
              <a:t>$77/mo</a:t>
            </a:r>
            <a:endParaRPr lang="en-US" sz="1500" dirty="0"/>
          </a:p>
        </p:txBody>
      </p:sp>
      <p:sp>
        <p:nvSpPr>
          <p:cNvPr id="57" name="Text 55"/>
          <p:cNvSpPr txBox="1"/>
          <p:nvPr/>
        </p:nvSpPr>
        <p:spPr>
          <a:xfrm>
            <a:off x="8275320" y="4224528"/>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Google Workspace, 3 users</a:t>
            </a:r>
            <a:endParaRPr lang="en-US" sz="1150" dirty="0"/>
          </a:p>
        </p:txBody>
      </p:sp>
      <p:sp>
        <p:nvSpPr>
          <p:cNvPr id="58" name="Text 56"/>
          <p:cNvSpPr txBox="1"/>
          <p:nvPr/>
        </p:nvSpPr>
        <p:spPr>
          <a:xfrm>
            <a:off x="10607040" y="4224528"/>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$25</a:t>
            </a:r>
            <a:endParaRPr lang="en-US" sz="1150" dirty="0"/>
          </a:p>
        </p:txBody>
      </p:sp>
      <p:sp>
        <p:nvSpPr>
          <p:cNvPr id="59" name="Text 57"/>
          <p:cNvSpPr txBox="1"/>
          <p:nvPr/>
        </p:nvSpPr>
        <p:spPr>
          <a:xfrm>
            <a:off x="8275320" y="4553712"/>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Bitwarden, 3 users</a:t>
            </a:r>
            <a:endParaRPr lang="en-US" sz="1150" dirty="0"/>
          </a:p>
        </p:txBody>
      </p:sp>
      <p:sp>
        <p:nvSpPr>
          <p:cNvPr id="60" name="Text 58"/>
          <p:cNvSpPr txBox="1"/>
          <p:nvPr/>
        </p:nvSpPr>
        <p:spPr>
          <a:xfrm>
            <a:off x="10607040" y="4553712"/>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$12</a:t>
            </a:r>
            <a:endParaRPr lang="en-US" sz="1150" dirty="0"/>
          </a:p>
        </p:txBody>
      </p:sp>
      <p:sp>
        <p:nvSpPr>
          <p:cNvPr id="61" name="Text 59"/>
          <p:cNvSpPr txBox="1"/>
          <p:nvPr/>
        </p:nvSpPr>
        <p:spPr>
          <a:xfrm>
            <a:off x="8275320" y="4882896"/>
            <a:ext cx="2377440" cy="292608"/>
          </a:xfrm>
          <a:prstGeom prst="rect">
            <a:avLst/>
          </a:prstGeom>
          <a:noFill/>
          <a:ln/>
        </p:spPr>
        <p:txBody>
          <a:bodyPr wrap="square" lIns="0" tIns="0" rIns="0" bIns="0" rtlCol="0" anchor="ctr"/>
          <a:lstStyle/>
          <a:p>
            <a:pPr indent="0" marL="0">
              <a:buNone/>
            </a:pPr>
            <a:r>
              <a:rPr lang="en-US" sz="1150" dirty="0">
                <a:solidFill>
                  <a:srgbClr val="2B2A28"/>
                </a:solidFill>
                <a:latin typeface="Calibri" pitchFamily="34" charset="0"/>
                <a:ea typeface="Calibri" pitchFamily="34" charset="-122"/>
                <a:cs typeface="Calibri" pitchFamily="34" charset="-120"/>
              </a:rPr>
              <a:t>Claude, 2 users</a:t>
            </a:r>
            <a:endParaRPr lang="en-US" sz="1150" dirty="0"/>
          </a:p>
        </p:txBody>
      </p:sp>
      <p:sp>
        <p:nvSpPr>
          <p:cNvPr id="62" name="Text 60"/>
          <p:cNvSpPr txBox="1"/>
          <p:nvPr/>
        </p:nvSpPr>
        <p:spPr>
          <a:xfrm>
            <a:off x="10607040" y="4882896"/>
            <a:ext cx="777240" cy="292608"/>
          </a:xfrm>
          <a:prstGeom prst="rect">
            <a:avLst/>
          </a:prstGeom>
          <a:noFill/>
          <a:ln/>
        </p:spPr>
        <p:txBody>
          <a:bodyPr wrap="square" lIns="0" tIns="0" rIns="0" bIns="0" rtlCol="0" anchor="ctr"/>
          <a:lstStyle/>
          <a:p>
            <a:pPr algn="r" indent="0" marL="0">
              <a:buNone/>
            </a:pPr>
            <a:r>
              <a:rPr lang="en-US" sz="1150" b="1" dirty="0">
                <a:solidFill>
                  <a:srgbClr val="2B2A28"/>
                </a:solidFill>
                <a:latin typeface="Calibri" pitchFamily="34" charset="0"/>
                <a:ea typeface="Calibri" pitchFamily="34" charset="-122"/>
                <a:cs typeface="Calibri" pitchFamily="34" charset="-120"/>
              </a:rPr>
              <a:t>$40</a:t>
            </a:r>
            <a:endParaRPr lang="en-US" sz="1150" dirty="0"/>
          </a:p>
        </p:txBody>
      </p:sp>
      <p:sp>
        <p:nvSpPr>
          <p:cNvPr id="63" name="Shape 61"/>
          <p:cNvSpPr/>
          <p:nvPr/>
        </p:nvSpPr>
        <p:spPr>
          <a:xfrm>
            <a:off x="548640" y="5760720"/>
            <a:ext cx="11064240" cy="502920"/>
          </a:xfrm>
          <a:prstGeom prst="roundRect">
            <a:avLst>
              <a:gd name="adj" fmla="val 14545"/>
            </a:avLst>
          </a:prstGeom>
          <a:solidFill>
            <a:srgbClr val="2E4057"/>
          </a:solidFill>
          <a:ln w="12700">
            <a:solidFill>
              <a:srgbClr val="2E4057"/>
            </a:solidFill>
            <a:prstDash val="solid"/>
          </a:ln>
        </p:spPr>
      </p:sp>
      <p:sp>
        <p:nvSpPr>
          <p:cNvPr id="64" name="Text 62"/>
          <p:cNvSpPr txBox="1"/>
          <p:nvPr/>
        </p:nvSpPr>
        <p:spPr>
          <a:xfrm>
            <a:off x="822960" y="5760720"/>
            <a:ext cx="10515600" cy="502920"/>
          </a:xfrm>
          <a:prstGeom prst="rect">
            <a:avLst/>
          </a:prstGeom>
          <a:noFill/>
          <a:ln/>
        </p:spPr>
        <p:txBody>
          <a:bodyPr wrap="square" lIns="0" tIns="0" rIns="0" bIns="0" rtlCol="0" anchor="ctr"/>
          <a:lstStyle/>
          <a:p>
            <a:pPr indent="0" marL="0">
              <a:buNone/>
            </a:pPr>
            <a:r>
              <a:rPr lang="en-US" sz="1200" b="1" dirty="0">
                <a:solidFill>
                  <a:srgbClr val="C8922F"/>
                </a:solidFill>
                <a:latin typeface="Calibri" pitchFamily="34" charset="0"/>
                <a:ea typeface="Calibri" pitchFamily="34" charset="-122"/>
                <a:cs typeface="Calibri" pitchFamily="34" charset="-120"/>
              </a:rPr>
              <a:t>Start ≈ $382/mo (about $4.6k a year) · range $200–730/mo.  </a:t>
            </a:r>
            <a:pPr indent="0" marL="0">
              <a:buNone/>
            </a:pPr>
            <a:r>
              <a:rPr lang="en-US" sz="1200" dirty="0">
                <a:solidFill>
                  <a:srgbClr val="EDE7D8"/>
                </a:solidFill>
                <a:latin typeface="Calibri" pitchFamily="34" charset="0"/>
                <a:ea typeface="Calibri" pitchFamily="34" charset="-122"/>
                <a:cs typeface="Calibri" pitchFamily="34" charset="-120"/>
              </a:rPr>
              <a:t>Plus per-sale fees: cards 2.9% + 30¢ on Shopify Payments; booking fees on tours.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D9C7A3"/>
                </a:solidFill>
                <a:latin typeface="Calibri" pitchFamily="34" charset="0"/>
                <a:ea typeface="Calibri" pitchFamily="34" charset="-122"/>
                <a:cs typeface="Calibri" pitchFamily="34" charset="-120"/>
              </a:rPr>
              <a:t>Kenyon's Grist Mill  ·  Roles, Structure &amp; AI  ·  30</a:t>
            </a:r>
            <a:endParaRPr lang="en-US" sz="900" dirty="0"/>
          </a:p>
        </p:txBody>
      </p:sp>
      <p:sp>
        <p:nvSpPr>
          <p:cNvPr id="3" name="Text 1"/>
          <p:cNvSpPr txBox="1"/>
          <p:nvPr/>
        </p:nvSpPr>
        <p:spPr>
          <a:xfrm>
            <a:off x="548640" y="2194560"/>
            <a:ext cx="7315200" cy="365760"/>
          </a:xfrm>
          <a:prstGeom prst="rect">
            <a:avLst/>
          </a:prstGeom>
          <a:noFill/>
          <a:ln/>
        </p:spPr>
        <p:txBody>
          <a:bodyPr wrap="square" lIns="0" tIns="0" rIns="0" bIns="0" rtlCol="0" anchor="ctr"/>
          <a:lstStyle/>
          <a:p>
            <a:pPr indent="0" marL="0">
              <a:buNone/>
            </a:pPr>
            <a:r>
              <a:rPr lang="en-US" sz="1400" b="1" spc="400" kern="0" dirty="0">
                <a:solidFill>
                  <a:srgbClr val="C8922F"/>
                </a:solidFill>
                <a:latin typeface="Calibri" pitchFamily="34" charset="0"/>
                <a:ea typeface="Calibri" pitchFamily="34" charset="-122"/>
                <a:cs typeface="Calibri" pitchFamily="34" charset="-120"/>
              </a:rPr>
              <a:t>PART FOUR</a:t>
            </a:r>
            <a:endParaRPr lang="en-US" sz="1400" dirty="0"/>
          </a:p>
        </p:txBody>
      </p:sp>
      <p:sp>
        <p:nvSpPr>
          <p:cNvPr id="4" name="Text 2"/>
          <p:cNvSpPr txBox="1"/>
          <p:nvPr/>
        </p:nvSpPr>
        <p:spPr>
          <a:xfrm>
            <a:off x="548640" y="2606040"/>
            <a:ext cx="10515600" cy="914400"/>
          </a:xfrm>
          <a:prstGeom prst="rect">
            <a:avLst/>
          </a:prstGeom>
          <a:noFill/>
          <a:ln/>
        </p:spPr>
        <p:txBody>
          <a:bodyPr wrap="square" lIns="0" tIns="0" rIns="0" bIns="0" rtlCol="0" anchor="ctr"/>
          <a:lstStyle/>
          <a:p>
            <a:pPr indent="0" marL="0">
              <a:buNone/>
            </a:pPr>
            <a:r>
              <a:rPr lang="en-US" sz="4000" b="1" dirty="0">
                <a:solidFill>
                  <a:srgbClr val="EDE7D8"/>
                </a:solidFill>
                <a:latin typeface="Cambria" pitchFamily="34" charset="0"/>
                <a:ea typeface="Cambria" pitchFamily="34" charset="-122"/>
                <a:cs typeface="Cambria" pitchFamily="34" charset="-120"/>
              </a:rPr>
              <a:t>Roadmap: website, analytics, SEO &amp; AEO</a:t>
            </a:r>
            <a:endParaRPr lang="en-US" sz="4000" dirty="0"/>
          </a:p>
        </p:txBody>
      </p:sp>
      <p:sp>
        <p:nvSpPr>
          <p:cNvPr id="5" name="Text 3"/>
          <p:cNvSpPr txBox="1"/>
          <p:nvPr/>
        </p:nvSpPr>
        <p:spPr>
          <a:xfrm>
            <a:off x="548640" y="3611880"/>
            <a:ext cx="8778240" cy="822960"/>
          </a:xfrm>
          <a:prstGeom prst="rect">
            <a:avLst/>
          </a:prstGeom>
          <a:noFill/>
          <a:ln/>
        </p:spPr>
        <p:txBody>
          <a:bodyPr wrap="square" lIns="0" tIns="0" rIns="0" bIns="0" rtlCol="0" anchor="t"/>
          <a:lstStyle/>
          <a:p>
            <a:pPr indent="0" marL="0">
              <a:buNone/>
            </a:pPr>
            <a:r>
              <a:rPr lang="en-US" sz="1800" dirty="0">
                <a:solidFill>
                  <a:srgbClr val="D9C7A3"/>
                </a:solidFill>
                <a:latin typeface="Calibri" pitchFamily="34" charset="0"/>
                <a:ea typeface="Calibri" pitchFamily="34" charset="-122"/>
                <a:cs typeface="Calibri" pitchFamily="34" charset="-120"/>
              </a:rPr>
              <a:t>Starting from zero: everything needed for a new web build, real measurement, and a search strategy for both Google and AI answers.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31</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TWELVE-MONTH ROADMAP</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Build over the holidays, launch in January, grow all year</a:t>
            </a:r>
            <a:endParaRPr lang="en-US" sz="3000" dirty="0"/>
          </a:p>
        </p:txBody>
      </p:sp>
      <p:sp>
        <p:nvSpPr>
          <p:cNvPr id="5" name="Shape 3"/>
          <p:cNvSpPr/>
          <p:nvPr/>
        </p:nvSpPr>
        <p:spPr>
          <a:xfrm>
            <a:off x="3275076" y="1783080"/>
            <a:ext cx="1520952" cy="3977640"/>
          </a:xfrm>
          <a:prstGeom prst="rect">
            <a:avLst/>
          </a:prstGeom>
          <a:solidFill>
            <a:srgbClr val="F0E3C4"/>
          </a:solidFill>
          <a:ln w="12700">
            <a:solidFill>
              <a:srgbClr val="F0E3C4"/>
            </a:solidFill>
            <a:prstDash val="solid"/>
          </a:ln>
        </p:spPr>
      </p:sp>
      <p:sp>
        <p:nvSpPr>
          <p:cNvPr id="6" name="Text 4"/>
          <p:cNvSpPr txBox="1"/>
          <p:nvPr/>
        </p:nvSpPr>
        <p:spPr>
          <a:xfrm>
            <a:off x="3275076" y="5779008"/>
            <a:ext cx="1429512" cy="256032"/>
          </a:xfrm>
          <a:prstGeom prst="rect">
            <a:avLst/>
          </a:prstGeom>
          <a:noFill/>
          <a:ln/>
        </p:spPr>
        <p:txBody>
          <a:bodyPr wrap="square" lIns="0" tIns="0" rIns="0" bIns="0" rtlCol="0" anchor="ctr"/>
          <a:lstStyle/>
          <a:p>
            <a:pPr algn="ctr" indent="0" marL="0">
              <a:buNone/>
            </a:pPr>
            <a:r>
              <a:rPr lang="en-US" sz="950" i="1" dirty="0">
                <a:solidFill>
                  <a:srgbClr val="8A6115"/>
                </a:solidFill>
                <a:latin typeface="Calibri" pitchFamily="34" charset="0"/>
                <a:ea typeface="Calibri" pitchFamily="34" charset="-122"/>
                <a:cs typeface="Calibri" pitchFamily="34" charset="-120"/>
              </a:rPr>
              <a:t>Q4: build only</a:t>
            </a:r>
            <a:endParaRPr lang="en-US" sz="950" dirty="0"/>
          </a:p>
        </p:txBody>
      </p:sp>
      <p:sp>
        <p:nvSpPr>
          <p:cNvPr id="7" name="Text 5"/>
          <p:cNvSpPr txBox="1"/>
          <p:nvPr/>
        </p:nvSpPr>
        <p:spPr>
          <a:xfrm>
            <a:off x="2514600"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Oct '26</a:t>
            </a:r>
            <a:endParaRPr lang="en-US" sz="1050" dirty="0"/>
          </a:p>
        </p:txBody>
      </p:sp>
      <p:sp>
        <p:nvSpPr>
          <p:cNvPr id="8" name="Text 6"/>
          <p:cNvSpPr txBox="1"/>
          <p:nvPr/>
        </p:nvSpPr>
        <p:spPr>
          <a:xfrm>
            <a:off x="3275076"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Nov</a:t>
            </a:r>
            <a:endParaRPr lang="en-US" sz="1050" dirty="0"/>
          </a:p>
        </p:txBody>
      </p:sp>
      <p:sp>
        <p:nvSpPr>
          <p:cNvPr id="9" name="Shape 7"/>
          <p:cNvSpPr/>
          <p:nvPr/>
        </p:nvSpPr>
        <p:spPr>
          <a:xfrm>
            <a:off x="3275076" y="1783080"/>
            <a:ext cx="0" cy="3977640"/>
          </a:xfrm>
          <a:prstGeom prst="line">
            <a:avLst/>
          </a:prstGeom>
          <a:noFill/>
          <a:ln w="6350">
            <a:solidFill>
              <a:srgbClr val="D9C7A3"/>
            </a:solidFill>
            <a:prstDash val="solid"/>
          </a:ln>
        </p:spPr>
      </p:sp>
      <p:sp>
        <p:nvSpPr>
          <p:cNvPr id="10" name="Text 8"/>
          <p:cNvSpPr txBox="1"/>
          <p:nvPr/>
        </p:nvSpPr>
        <p:spPr>
          <a:xfrm>
            <a:off x="4035552"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Dec</a:t>
            </a:r>
            <a:endParaRPr lang="en-US" sz="1050" dirty="0"/>
          </a:p>
        </p:txBody>
      </p:sp>
      <p:sp>
        <p:nvSpPr>
          <p:cNvPr id="11" name="Shape 9"/>
          <p:cNvSpPr/>
          <p:nvPr/>
        </p:nvSpPr>
        <p:spPr>
          <a:xfrm>
            <a:off x="4035552" y="1783080"/>
            <a:ext cx="0" cy="3977640"/>
          </a:xfrm>
          <a:prstGeom prst="line">
            <a:avLst/>
          </a:prstGeom>
          <a:noFill/>
          <a:ln w="6350">
            <a:solidFill>
              <a:srgbClr val="D9C7A3"/>
            </a:solidFill>
            <a:prstDash val="solid"/>
          </a:ln>
        </p:spPr>
      </p:sp>
      <p:sp>
        <p:nvSpPr>
          <p:cNvPr id="12" name="Text 10"/>
          <p:cNvSpPr txBox="1"/>
          <p:nvPr/>
        </p:nvSpPr>
        <p:spPr>
          <a:xfrm>
            <a:off x="4796028"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Jan '27</a:t>
            </a:r>
            <a:endParaRPr lang="en-US" sz="1050" dirty="0"/>
          </a:p>
        </p:txBody>
      </p:sp>
      <p:sp>
        <p:nvSpPr>
          <p:cNvPr id="13" name="Shape 11"/>
          <p:cNvSpPr/>
          <p:nvPr/>
        </p:nvSpPr>
        <p:spPr>
          <a:xfrm>
            <a:off x="4796028" y="1783080"/>
            <a:ext cx="0" cy="3977640"/>
          </a:xfrm>
          <a:prstGeom prst="line">
            <a:avLst/>
          </a:prstGeom>
          <a:noFill/>
          <a:ln w="6350">
            <a:solidFill>
              <a:srgbClr val="D9C7A3"/>
            </a:solidFill>
            <a:prstDash val="solid"/>
          </a:ln>
        </p:spPr>
      </p:sp>
      <p:sp>
        <p:nvSpPr>
          <p:cNvPr id="14" name="Text 12"/>
          <p:cNvSpPr txBox="1"/>
          <p:nvPr/>
        </p:nvSpPr>
        <p:spPr>
          <a:xfrm>
            <a:off x="5556504"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Feb</a:t>
            </a:r>
            <a:endParaRPr lang="en-US" sz="1050" dirty="0"/>
          </a:p>
        </p:txBody>
      </p:sp>
      <p:sp>
        <p:nvSpPr>
          <p:cNvPr id="15" name="Shape 13"/>
          <p:cNvSpPr/>
          <p:nvPr/>
        </p:nvSpPr>
        <p:spPr>
          <a:xfrm>
            <a:off x="5556504" y="1783080"/>
            <a:ext cx="0" cy="3977640"/>
          </a:xfrm>
          <a:prstGeom prst="line">
            <a:avLst/>
          </a:prstGeom>
          <a:noFill/>
          <a:ln w="6350">
            <a:solidFill>
              <a:srgbClr val="D9C7A3"/>
            </a:solidFill>
            <a:prstDash val="solid"/>
          </a:ln>
        </p:spPr>
      </p:sp>
      <p:sp>
        <p:nvSpPr>
          <p:cNvPr id="16" name="Text 14"/>
          <p:cNvSpPr txBox="1"/>
          <p:nvPr/>
        </p:nvSpPr>
        <p:spPr>
          <a:xfrm>
            <a:off x="6316980"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Mar</a:t>
            </a:r>
            <a:endParaRPr lang="en-US" sz="1050" dirty="0"/>
          </a:p>
        </p:txBody>
      </p:sp>
      <p:sp>
        <p:nvSpPr>
          <p:cNvPr id="17" name="Shape 15"/>
          <p:cNvSpPr/>
          <p:nvPr/>
        </p:nvSpPr>
        <p:spPr>
          <a:xfrm>
            <a:off x="6316980" y="1783080"/>
            <a:ext cx="0" cy="3977640"/>
          </a:xfrm>
          <a:prstGeom prst="line">
            <a:avLst/>
          </a:prstGeom>
          <a:noFill/>
          <a:ln w="6350">
            <a:solidFill>
              <a:srgbClr val="D9C7A3"/>
            </a:solidFill>
            <a:prstDash val="solid"/>
          </a:ln>
        </p:spPr>
      </p:sp>
      <p:sp>
        <p:nvSpPr>
          <p:cNvPr id="18" name="Text 16"/>
          <p:cNvSpPr txBox="1"/>
          <p:nvPr/>
        </p:nvSpPr>
        <p:spPr>
          <a:xfrm>
            <a:off x="7077456"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Apr</a:t>
            </a:r>
            <a:endParaRPr lang="en-US" sz="1050" dirty="0"/>
          </a:p>
        </p:txBody>
      </p:sp>
      <p:sp>
        <p:nvSpPr>
          <p:cNvPr id="19" name="Shape 17"/>
          <p:cNvSpPr/>
          <p:nvPr/>
        </p:nvSpPr>
        <p:spPr>
          <a:xfrm>
            <a:off x="7077456" y="1783080"/>
            <a:ext cx="0" cy="3977640"/>
          </a:xfrm>
          <a:prstGeom prst="line">
            <a:avLst/>
          </a:prstGeom>
          <a:noFill/>
          <a:ln w="6350">
            <a:solidFill>
              <a:srgbClr val="D9C7A3"/>
            </a:solidFill>
            <a:prstDash val="solid"/>
          </a:ln>
        </p:spPr>
      </p:sp>
      <p:sp>
        <p:nvSpPr>
          <p:cNvPr id="20" name="Text 18"/>
          <p:cNvSpPr txBox="1"/>
          <p:nvPr/>
        </p:nvSpPr>
        <p:spPr>
          <a:xfrm>
            <a:off x="7837932"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May</a:t>
            </a:r>
            <a:endParaRPr lang="en-US" sz="1050" dirty="0"/>
          </a:p>
        </p:txBody>
      </p:sp>
      <p:sp>
        <p:nvSpPr>
          <p:cNvPr id="21" name="Shape 19"/>
          <p:cNvSpPr/>
          <p:nvPr/>
        </p:nvSpPr>
        <p:spPr>
          <a:xfrm>
            <a:off x="7837932" y="1783080"/>
            <a:ext cx="0" cy="3977640"/>
          </a:xfrm>
          <a:prstGeom prst="line">
            <a:avLst/>
          </a:prstGeom>
          <a:noFill/>
          <a:ln w="6350">
            <a:solidFill>
              <a:srgbClr val="D9C7A3"/>
            </a:solidFill>
            <a:prstDash val="solid"/>
          </a:ln>
        </p:spPr>
      </p:sp>
      <p:sp>
        <p:nvSpPr>
          <p:cNvPr id="22" name="Text 20"/>
          <p:cNvSpPr txBox="1"/>
          <p:nvPr/>
        </p:nvSpPr>
        <p:spPr>
          <a:xfrm>
            <a:off x="8598408"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Jun</a:t>
            </a:r>
            <a:endParaRPr lang="en-US" sz="1050" dirty="0"/>
          </a:p>
        </p:txBody>
      </p:sp>
      <p:sp>
        <p:nvSpPr>
          <p:cNvPr id="23" name="Shape 21"/>
          <p:cNvSpPr/>
          <p:nvPr/>
        </p:nvSpPr>
        <p:spPr>
          <a:xfrm>
            <a:off x="8598408" y="1783080"/>
            <a:ext cx="0" cy="3977640"/>
          </a:xfrm>
          <a:prstGeom prst="line">
            <a:avLst/>
          </a:prstGeom>
          <a:noFill/>
          <a:ln w="6350">
            <a:solidFill>
              <a:srgbClr val="D9C7A3"/>
            </a:solidFill>
            <a:prstDash val="solid"/>
          </a:ln>
        </p:spPr>
      </p:sp>
      <p:sp>
        <p:nvSpPr>
          <p:cNvPr id="24" name="Text 22"/>
          <p:cNvSpPr txBox="1"/>
          <p:nvPr/>
        </p:nvSpPr>
        <p:spPr>
          <a:xfrm>
            <a:off x="9358884"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Jul</a:t>
            </a:r>
            <a:endParaRPr lang="en-US" sz="1050" dirty="0"/>
          </a:p>
        </p:txBody>
      </p:sp>
      <p:sp>
        <p:nvSpPr>
          <p:cNvPr id="25" name="Shape 23"/>
          <p:cNvSpPr/>
          <p:nvPr/>
        </p:nvSpPr>
        <p:spPr>
          <a:xfrm>
            <a:off x="9358884" y="1783080"/>
            <a:ext cx="0" cy="3977640"/>
          </a:xfrm>
          <a:prstGeom prst="line">
            <a:avLst/>
          </a:prstGeom>
          <a:noFill/>
          <a:ln w="6350">
            <a:solidFill>
              <a:srgbClr val="D9C7A3"/>
            </a:solidFill>
            <a:prstDash val="solid"/>
          </a:ln>
        </p:spPr>
      </p:sp>
      <p:sp>
        <p:nvSpPr>
          <p:cNvPr id="26" name="Text 24"/>
          <p:cNvSpPr txBox="1"/>
          <p:nvPr/>
        </p:nvSpPr>
        <p:spPr>
          <a:xfrm>
            <a:off x="10119360"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Aug</a:t>
            </a:r>
            <a:endParaRPr lang="en-US" sz="1050" dirty="0"/>
          </a:p>
        </p:txBody>
      </p:sp>
      <p:sp>
        <p:nvSpPr>
          <p:cNvPr id="27" name="Shape 25"/>
          <p:cNvSpPr/>
          <p:nvPr/>
        </p:nvSpPr>
        <p:spPr>
          <a:xfrm>
            <a:off x="10119360" y="1783080"/>
            <a:ext cx="0" cy="3977640"/>
          </a:xfrm>
          <a:prstGeom prst="line">
            <a:avLst/>
          </a:prstGeom>
          <a:noFill/>
          <a:ln w="6350">
            <a:solidFill>
              <a:srgbClr val="D9C7A3"/>
            </a:solidFill>
            <a:prstDash val="solid"/>
          </a:ln>
        </p:spPr>
      </p:sp>
      <p:sp>
        <p:nvSpPr>
          <p:cNvPr id="28" name="Text 26"/>
          <p:cNvSpPr txBox="1"/>
          <p:nvPr/>
        </p:nvSpPr>
        <p:spPr>
          <a:xfrm>
            <a:off x="10879836" y="1481328"/>
            <a:ext cx="760476" cy="274320"/>
          </a:xfrm>
          <a:prstGeom prst="rect">
            <a:avLst/>
          </a:prstGeom>
          <a:noFill/>
          <a:ln/>
        </p:spPr>
        <p:txBody>
          <a:bodyPr wrap="square" lIns="0" tIns="0" rIns="0" bIns="0" rtlCol="0" anchor="ctr"/>
          <a:lstStyle/>
          <a:p>
            <a:pPr algn="ctr" indent="0" marL="0">
              <a:buNone/>
            </a:pPr>
            <a:r>
              <a:rPr lang="en-US" sz="1050" b="1" dirty="0">
                <a:solidFill>
                  <a:srgbClr val="4A5359"/>
                </a:solidFill>
                <a:latin typeface="Calibri" pitchFamily="34" charset="0"/>
                <a:ea typeface="Calibri" pitchFamily="34" charset="-122"/>
                <a:cs typeface="Calibri" pitchFamily="34" charset="-120"/>
              </a:rPr>
              <a:t>Sep</a:t>
            </a:r>
            <a:endParaRPr lang="en-US" sz="1050" dirty="0"/>
          </a:p>
        </p:txBody>
      </p:sp>
      <p:sp>
        <p:nvSpPr>
          <p:cNvPr id="29" name="Shape 27"/>
          <p:cNvSpPr/>
          <p:nvPr/>
        </p:nvSpPr>
        <p:spPr>
          <a:xfrm>
            <a:off x="10879836" y="1783080"/>
            <a:ext cx="0" cy="3977640"/>
          </a:xfrm>
          <a:prstGeom prst="line">
            <a:avLst/>
          </a:prstGeom>
          <a:noFill/>
          <a:ln w="6350">
            <a:solidFill>
              <a:srgbClr val="D9C7A3"/>
            </a:solidFill>
            <a:prstDash val="solid"/>
          </a:ln>
        </p:spPr>
      </p:sp>
      <p:sp>
        <p:nvSpPr>
          <p:cNvPr id="30" name="Text 28"/>
          <p:cNvSpPr txBox="1"/>
          <p:nvPr/>
        </p:nvSpPr>
        <p:spPr>
          <a:xfrm>
            <a:off x="548640" y="1828800"/>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Foundations</a:t>
            </a:r>
            <a:endParaRPr lang="en-US" sz="1250" dirty="0"/>
          </a:p>
        </p:txBody>
      </p:sp>
      <p:sp>
        <p:nvSpPr>
          <p:cNvPr id="31" name="Shape 29"/>
          <p:cNvSpPr/>
          <p:nvPr/>
        </p:nvSpPr>
        <p:spPr>
          <a:xfrm>
            <a:off x="2542032" y="1865376"/>
            <a:ext cx="1085850" cy="438912"/>
          </a:xfrm>
          <a:prstGeom prst="roundRect">
            <a:avLst>
              <a:gd name="adj" fmla="val 12500"/>
            </a:avLst>
          </a:prstGeom>
          <a:solidFill>
            <a:srgbClr val="D9C7A3"/>
          </a:solidFill>
          <a:ln w="9525">
            <a:solidFill>
              <a:srgbClr val="FFFFFF"/>
            </a:solidFill>
            <a:prstDash val="solid"/>
          </a:ln>
        </p:spPr>
      </p:sp>
      <p:sp>
        <p:nvSpPr>
          <p:cNvPr id="32" name="Text 30"/>
          <p:cNvSpPr txBox="1"/>
          <p:nvPr/>
        </p:nvSpPr>
        <p:spPr>
          <a:xfrm>
            <a:off x="2569464" y="1865376"/>
            <a:ext cx="1030986" cy="438912"/>
          </a:xfrm>
          <a:prstGeom prst="rect">
            <a:avLst/>
          </a:prstGeom>
          <a:noFill/>
          <a:ln/>
        </p:spPr>
        <p:txBody>
          <a:bodyPr wrap="square" lIns="0" tIns="0" rIns="0" bIns="0" rtlCol="0" anchor="ctr"/>
          <a:lstStyle/>
          <a:p>
            <a:pPr algn="ctr" indent="0" marL="0">
              <a:buNone/>
            </a:pPr>
            <a:r>
              <a:rPr lang="en-US" sz="1000" b="1" dirty="0">
                <a:solidFill>
                  <a:srgbClr val="2B2A28"/>
                </a:solidFill>
                <a:latin typeface="Calibri" pitchFamily="34" charset="0"/>
                <a:ea typeface="Calibri" pitchFamily="34" charset="-122"/>
                <a:cs typeface="Calibri" pitchFamily="34" charset="-120"/>
              </a:rPr>
              <a:t>Accounts · data · baseline</a:t>
            </a:r>
            <a:endParaRPr lang="en-US" sz="1000" dirty="0"/>
          </a:p>
        </p:txBody>
      </p:sp>
      <p:sp>
        <p:nvSpPr>
          <p:cNvPr id="33" name="Text 31"/>
          <p:cNvSpPr txBox="1"/>
          <p:nvPr/>
        </p:nvSpPr>
        <p:spPr>
          <a:xfrm>
            <a:off x="548640" y="2487168"/>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Web build</a:t>
            </a:r>
            <a:endParaRPr lang="en-US" sz="1250" dirty="0"/>
          </a:p>
        </p:txBody>
      </p:sp>
      <p:sp>
        <p:nvSpPr>
          <p:cNvPr id="34" name="Shape 32"/>
          <p:cNvSpPr/>
          <p:nvPr/>
        </p:nvSpPr>
        <p:spPr>
          <a:xfrm>
            <a:off x="2542032" y="2523744"/>
            <a:ext cx="705612" cy="438912"/>
          </a:xfrm>
          <a:prstGeom prst="roundRect">
            <a:avLst>
              <a:gd name="adj" fmla="val 12500"/>
            </a:avLst>
          </a:prstGeom>
          <a:solidFill>
            <a:srgbClr val="2E4057"/>
          </a:solidFill>
          <a:ln w="9525">
            <a:solidFill>
              <a:srgbClr val="FFFFFF"/>
            </a:solidFill>
            <a:prstDash val="solid"/>
          </a:ln>
        </p:spPr>
      </p:sp>
      <p:sp>
        <p:nvSpPr>
          <p:cNvPr id="35" name="Text 33"/>
          <p:cNvSpPr txBox="1"/>
          <p:nvPr/>
        </p:nvSpPr>
        <p:spPr>
          <a:xfrm>
            <a:off x="2569464" y="2523744"/>
            <a:ext cx="650748"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Discover · URL map</a:t>
            </a:r>
            <a:endParaRPr lang="en-US" sz="900" dirty="0"/>
          </a:p>
        </p:txBody>
      </p:sp>
      <p:sp>
        <p:nvSpPr>
          <p:cNvPr id="36" name="Shape 34"/>
          <p:cNvSpPr/>
          <p:nvPr/>
        </p:nvSpPr>
        <p:spPr>
          <a:xfrm>
            <a:off x="3302508" y="2523744"/>
            <a:ext cx="1466088" cy="438912"/>
          </a:xfrm>
          <a:prstGeom prst="roundRect">
            <a:avLst>
              <a:gd name="adj" fmla="val 12500"/>
            </a:avLst>
          </a:prstGeom>
          <a:solidFill>
            <a:srgbClr val="2E4057"/>
          </a:solidFill>
          <a:ln w="9525">
            <a:solidFill>
              <a:srgbClr val="FFFFFF"/>
            </a:solidFill>
            <a:prstDash val="solid"/>
          </a:ln>
        </p:spPr>
      </p:sp>
      <p:sp>
        <p:nvSpPr>
          <p:cNvPr id="37" name="Text 35"/>
          <p:cNvSpPr txBox="1"/>
          <p:nvPr/>
        </p:nvSpPr>
        <p:spPr>
          <a:xfrm>
            <a:off x="3329940" y="2523744"/>
            <a:ext cx="1411224"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Build on staging</a:t>
            </a:r>
            <a:endParaRPr lang="en-US" sz="1000" dirty="0"/>
          </a:p>
        </p:txBody>
      </p:sp>
      <p:sp>
        <p:nvSpPr>
          <p:cNvPr id="38" name="Shape 36"/>
          <p:cNvSpPr/>
          <p:nvPr/>
        </p:nvSpPr>
        <p:spPr>
          <a:xfrm>
            <a:off x="4823460" y="2523744"/>
            <a:ext cx="705612" cy="438912"/>
          </a:xfrm>
          <a:prstGeom prst="roundRect">
            <a:avLst>
              <a:gd name="adj" fmla="val 12500"/>
            </a:avLst>
          </a:prstGeom>
          <a:solidFill>
            <a:srgbClr val="2E4057"/>
          </a:solidFill>
          <a:ln w="9525">
            <a:solidFill>
              <a:srgbClr val="FFFFFF"/>
            </a:solidFill>
            <a:prstDash val="solid"/>
          </a:ln>
        </p:spPr>
      </p:sp>
      <p:sp>
        <p:nvSpPr>
          <p:cNvPr id="39" name="Text 37"/>
          <p:cNvSpPr txBox="1"/>
          <p:nvPr/>
        </p:nvSpPr>
        <p:spPr>
          <a:xfrm>
            <a:off x="4850892" y="2523744"/>
            <a:ext cx="650748"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Launch</a:t>
            </a:r>
            <a:endParaRPr lang="en-US" sz="900" dirty="0"/>
          </a:p>
        </p:txBody>
      </p:sp>
      <p:sp>
        <p:nvSpPr>
          <p:cNvPr id="40" name="Shape 38"/>
          <p:cNvSpPr/>
          <p:nvPr/>
        </p:nvSpPr>
        <p:spPr>
          <a:xfrm>
            <a:off x="5583936" y="2523744"/>
            <a:ext cx="6028944" cy="438912"/>
          </a:xfrm>
          <a:prstGeom prst="roundRect">
            <a:avLst>
              <a:gd name="adj" fmla="val 12500"/>
            </a:avLst>
          </a:prstGeom>
          <a:solidFill>
            <a:srgbClr val="2E4057"/>
          </a:solidFill>
          <a:ln w="9525">
            <a:solidFill>
              <a:srgbClr val="FFFFFF"/>
            </a:solidFill>
            <a:prstDash val="solid"/>
          </a:ln>
        </p:spPr>
      </p:sp>
      <p:sp>
        <p:nvSpPr>
          <p:cNvPr id="41" name="Text 39"/>
          <p:cNvSpPr txBox="1"/>
          <p:nvPr/>
        </p:nvSpPr>
        <p:spPr>
          <a:xfrm>
            <a:off x="5611368" y="2523744"/>
            <a:ext cx="597408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Retainer: fixes, seasonal collections, speed</a:t>
            </a:r>
            <a:endParaRPr lang="en-US" sz="1000" dirty="0"/>
          </a:p>
        </p:txBody>
      </p:sp>
      <p:sp>
        <p:nvSpPr>
          <p:cNvPr id="42" name="Text 40"/>
          <p:cNvSpPr txBox="1"/>
          <p:nvPr/>
        </p:nvSpPr>
        <p:spPr>
          <a:xfrm>
            <a:off x="548640" y="3145536"/>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Analytics</a:t>
            </a:r>
            <a:endParaRPr lang="en-US" sz="1250" dirty="0"/>
          </a:p>
        </p:txBody>
      </p:sp>
      <p:sp>
        <p:nvSpPr>
          <p:cNvPr id="43" name="Shape 41"/>
          <p:cNvSpPr/>
          <p:nvPr/>
        </p:nvSpPr>
        <p:spPr>
          <a:xfrm>
            <a:off x="2542032" y="3182112"/>
            <a:ext cx="705612" cy="438912"/>
          </a:xfrm>
          <a:prstGeom prst="roundRect">
            <a:avLst>
              <a:gd name="adj" fmla="val 12500"/>
            </a:avLst>
          </a:prstGeom>
          <a:solidFill>
            <a:srgbClr val="C8922F"/>
          </a:solidFill>
          <a:ln w="9525">
            <a:solidFill>
              <a:srgbClr val="FFFFFF"/>
            </a:solidFill>
            <a:prstDash val="solid"/>
          </a:ln>
        </p:spPr>
      </p:sp>
      <p:sp>
        <p:nvSpPr>
          <p:cNvPr id="44" name="Text 42"/>
          <p:cNvSpPr txBox="1"/>
          <p:nvPr/>
        </p:nvSpPr>
        <p:spPr>
          <a:xfrm>
            <a:off x="2569464" y="3182112"/>
            <a:ext cx="650748" cy="438912"/>
          </a:xfrm>
          <a:prstGeom prst="rect">
            <a:avLst/>
          </a:prstGeom>
          <a:noFill/>
          <a:ln/>
        </p:spPr>
        <p:txBody>
          <a:bodyPr wrap="square" lIns="0" tIns="0" rIns="0" bIns="0" rtlCol="0" anchor="ctr"/>
          <a:lstStyle/>
          <a:p>
            <a:pPr algn="ctr" indent="0" marL="0">
              <a:buNone/>
            </a:pPr>
            <a:r>
              <a:rPr lang="en-US" sz="900" b="1" dirty="0">
                <a:solidFill>
                  <a:srgbClr val="2B2A28"/>
                </a:solidFill>
                <a:latin typeface="Calibri" pitchFamily="34" charset="0"/>
                <a:ea typeface="Calibri" pitchFamily="34" charset="-122"/>
                <a:cs typeface="Calibri" pitchFamily="34" charset="-120"/>
              </a:rPr>
              <a:t>GSC · GBP</a:t>
            </a:r>
            <a:endParaRPr lang="en-US" sz="900" dirty="0"/>
          </a:p>
        </p:txBody>
      </p:sp>
      <p:sp>
        <p:nvSpPr>
          <p:cNvPr id="45" name="Shape 43"/>
          <p:cNvSpPr/>
          <p:nvPr/>
        </p:nvSpPr>
        <p:spPr>
          <a:xfrm>
            <a:off x="3302508" y="3182112"/>
            <a:ext cx="1466088" cy="438912"/>
          </a:xfrm>
          <a:prstGeom prst="roundRect">
            <a:avLst>
              <a:gd name="adj" fmla="val 12500"/>
            </a:avLst>
          </a:prstGeom>
          <a:solidFill>
            <a:srgbClr val="C8922F"/>
          </a:solidFill>
          <a:ln w="9525">
            <a:solidFill>
              <a:srgbClr val="FFFFFF"/>
            </a:solidFill>
            <a:prstDash val="solid"/>
          </a:ln>
        </p:spPr>
      </p:sp>
      <p:sp>
        <p:nvSpPr>
          <p:cNvPr id="46" name="Text 44"/>
          <p:cNvSpPr txBox="1"/>
          <p:nvPr/>
        </p:nvSpPr>
        <p:spPr>
          <a:xfrm>
            <a:off x="3329940" y="3182112"/>
            <a:ext cx="1411224" cy="438912"/>
          </a:xfrm>
          <a:prstGeom prst="rect">
            <a:avLst/>
          </a:prstGeom>
          <a:noFill/>
          <a:ln/>
        </p:spPr>
        <p:txBody>
          <a:bodyPr wrap="square" lIns="0" tIns="0" rIns="0" bIns="0" rtlCol="0" anchor="ctr"/>
          <a:lstStyle/>
          <a:p>
            <a:pPr algn="ctr" indent="0" marL="0">
              <a:buNone/>
            </a:pPr>
            <a:r>
              <a:rPr lang="en-US" sz="1000" b="1" dirty="0">
                <a:solidFill>
                  <a:srgbClr val="2B2A28"/>
                </a:solidFill>
                <a:latin typeface="Calibri" pitchFamily="34" charset="0"/>
                <a:ea typeface="Calibri" pitchFamily="34" charset="-122"/>
                <a:cs typeface="Calibri" pitchFamily="34" charset="-120"/>
              </a:rPr>
              <a:t>Tracking plan · GA4 on staging</a:t>
            </a:r>
            <a:endParaRPr lang="en-US" sz="1000" dirty="0"/>
          </a:p>
        </p:txBody>
      </p:sp>
      <p:sp>
        <p:nvSpPr>
          <p:cNvPr id="47" name="Shape 45"/>
          <p:cNvSpPr/>
          <p:nvPr/>
        </p:nvSpPr>
        <p:spPr>
          <a:xfrm>
            <a:off x="4823460" y="3182112"/>
            <a:ext cx="705612" cy="438912"/>
          </a:xfrm>
          <a:prstGeom prst="roundRect">
            <a:avLst>
              <a:gd name="adj" fmla="val 12500"/>
            </a:avLst>
          </a:prstGeom>
          <a:solidFill>
            <a:srgbClr val="C8922F"/>
          </a:solidFill>
          <a:ln w="9525">
            <a:solidFill>
              <a:srgbClr val="FFFFFF"/>
            </a:solidFill>
            <a:prstDash val="solid"/>
          </a:ln>
        </p:spPr>
      </p:sp>
      <p:sp>
        <p:nvSpPr>
          <p:cNvPr id="48" name="Text 46"/>
          <p:cNvSpPr txBox="1"/>
          <p:nvPr/>
        </p:nvSpPr>
        <p:spPr>
          <a:xfrm>
            <a:off x="4850892" y="3182112"/>
            <a:ext cx="650748" cy="438912"/>
          </a:xfrm>
          <a:prstGeom prst="rect">
            <a:avLst/>
          </a:prstGeom>
          <a:noFill/>
          <a:ln/>
        </p:spPr>
        <p:txBody>
          <a:bodyPr wrap="square" lIns="0" tIns="0" rIns="0" bIns="0" rtlCol="0" anchor="ctr"/>
          <a:lstStyle/>
          <a:p>
            <a:pPr algn="ctr" indent="0" marL="0">
              <a:buNone/>
            </a:pPr>
            <a:r>
              <a:rPr lang="en-US" sz="900" b="1" dirty="0">
                <a:solidFill>
                  <a:srgbClr val="2B2A28"/>
                </a:solidFill>
                <a:latin typeface="Calibri" pitchFamily="34" charset="0"/>
                <a:ea typeface="Calibri" pitchFamily="34" charset="-122"/>
                <a:cs typeface="Calibri" pitchFamily="34" charset="-120"/>
              </a:rPr>
              <a:t>Live</a:t>
            </a:r>
            <a:endParaRPr lang="en-US" sz="900" dirty="0"/>
          </a:p>
        </p:txBody>
      </p:sp>
      <p:sp>
        <p:nvSpPr>
          <p:cNvPr id="49" name="Shape 47"/>
          <p:cNvSpPr/>
          <p:nvPr/>
        </p:nvSpPr>
        <p:spPr>
          <a:xfrm>
            <a:off x="5583936" y="3182112"/>
            <a:ext cx="1466088" cy="438912"/>
          </a:xfrm>
          <a:prstGeom prst="roundRect">
            <a:avLst>
              <a:gd name="adj" fmla="val 12500"/>
            </a:avLst>
          </a:prstGeom>
          <a:solidFill>
            <a:srgbClr val="C8922F"/>
          </a:solidFill>
          <a:ln w="9525">
            <a:solidFill>
              <a:srgbClr val="FFFFFF"/>
            </a:solidFill>
            <a:prstDash val="solid"/>
          </a:ln>
        </p:spPr>
      </p:sp>
      <p:sp>
        <p:nvSpPr>
          <p:cNvPr id="50" name="Text 48"/>
          <p:cNvSpPr txBox="1"/>
          <p:nvPr/>
        </p:nvSpPr>
        <p:spPr>
          <a:xfrm>
            <a:off x="5611368" y="3182112"/>
            <a:ext cx="1411224" cy="438912"/>
          </a:xfrm>
          <a:prstGeom prst="rect">
            <a:avLst/>
          </a:prstGeom>
          <a:noFill/>
          <a:ln/>
        </p:spPr>
        <p:txBody>
          <a:bodyPr wrap="square" lIns="0" tIns="0" rIns="0" bIns="0" rtlCol="0" anchor="ctr"/>
          <a:lstStyle/>
          <a:p>
            <a:pPr algn="ctr" indent="0" marL="0">
              <a:buNone/>
            </a:pPr>
            <a:r>
              <a:rPr lang="en-US" sz="1000" b="1" dirty="0">
                <a:solidFill>
                  <a:srgbClr val="2B2A28"/>
                </a:solidFill>
                <a:latin typeface="Calibri" pitchFamily="34" charset="0"/>
                <a:ea typeface="Calibri" pitchFamily="34" charset="-122"/>
                <a:cs typeface="Calibri" pitchFamily="34" charset="-120"/>
              </a:rPr>
              <a:t>Dashboards</a:t>
            </a:r>
            <a:endParaRPr lang="en-US" sz="1000" dirty="0"/>
          </a:p>
        </p:txBody>
      </p:sp>
      <p:sp>
        <p:nvSpPr>
          <p:cNvPr id="51" name="Shape 49"/>
          <p:cNvSpPr/>
          <p:nvPr/>
        </p:nvSpPr>
        <p:spPr>
          <a:xfrm>
            <a:off x="7104888" y="3182112"/>
            <a:ext cx="4507992" cy="438912"/>
          </a:xfrm>
          <a:prstGeom prst="roundRect">
            <a:avLst>
              <a:gd name="adj" fmla="val 12500"/>
            </a:avLst>
          </a:prstGeom>
          <a:solidFill>
            <a:srgbClr val="C8922F"/>
          </a:solidFill>
          <a:ln w="9525">
            <a:solidFill>
              <a:srgbClr val="FFFFFF"/>
            </a:solidFill>
            <a:prstDash val="solid"/>
          </a:ln>
        </p:spPr>
      </p:sp>
      <p:sp>
        <p:nvSpPr>
          <p:cNvPr id="52" name="Text 50"/>
          <p:cNvSpPr txBox="1"/>
          <p:nvPr/>
        </p:nvSpPr>
        <p:spPr>
          <a:xfrm>
            <a:off x="7132320" y="3182112"/>
            <a:ext cx="4453128" cy="438912"/>
          </a:xfrm>
          <a:prstGeom prst="rect">
            <a:avLst/>
          </a:prstGeom>
          <a:noFill/>
          <a:ln/>
        </p:spPr>
        <p:txBody>
          <a:bodyPr wrap="square" lIns="0" tIns="0" rIns="0" bIns="0" rtlCol="0" anchor="ctr"/>
          <a:lstStyle/>
          <a:p>
            <a:pPr algn="ctr" indent="0" marL="0">
              <a:buNone/>
            </a:pPr>
            <a:r>
              <a:rPr lang="en-US" sz="1000" b="1" dirty="0">
                <a:solidFill>
                  <a:srgbClr val="2B2A28"/>
                </a:solidFill>
                <a:latin typeface="Calibri" pitchFamily="34" charset="0"/>
                <a:ea typeface="Calibri" pitchFamily="34" charset="-122"/>
                <a:cs typeface="Calibri" pitchFamily="34" charset="-120"/>
              </a:rPr>
              <a:t>Weekly and monthly reporting</a:t>
            </a:r>
            <a:endParaRPr lang="en-US" sz="1000" dirty="0"/>
          </a:p>
        </p:txBody>
      </p:sp>
      <p:sp>
        <p:nvSpPr>
          <p:cNvPr id="53" name="Text 51"/>
          <p:cNvSpPr txBox="1"/>
          <p:nvPr/>
        </p:nvSpPr>
        <p:spPr>
          <a:xfrm>
            <a:off x="548640" y="3803904"/>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SEO</a:t>
            </a:r>
            <a:endParaRPr lang="en-US" sz="1250" dirty="0"/>
          </a:p>
        </p:txBody>
      </p:sp>
      <p:sp>
        <p:nvSpPr>
          <p:cNvPr id="54" name="Shape 52"/>
          <p:cNvSpPr/>
          <p:nvPr/>
        </p:nvSpPr>
        <p:spPr>
          <a:xfrm>
            <a:off x="2542032" y="3840480"/>
            <a:ext cx="1466088" cy="438912"/>
          </a:xfrm>
          <a:prstGeom prst="roundRect">
            <a:avLst>
              <a:gd name="adj" fmla="val 12500"/>
            </a:avLst>
          </a:prstGeom>
          <a:solidFill>
            <a:srgbClr val="6E6A63"/>
          </a:solidFill>
          <a:ln w="9525">
            <a:solidFill>
              <a:srgbClr val="FFFFFF"/>
            </a:solidFill>
            <a:prstDash val="solid"/>
          </a:ln>
        </p:spPr>
      </p:sp>
      <p:sp>
        <p:nvSpPr>
          <p:cNvPr id="55" name="Text 53"/>
          <p:cNvSpPr txBox="1"/>
          <p:nvPr/>
        </p:nvSpPr>
        <p:spPr>
          <a:xfrm>
            <a:off x="2569464" y="3840480"/>
            <a:ext cx="1411224"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Keyword + redirect map</a:t>
            </a:r>
            <a:endParaRPr lang="en-US" sz="1000" dirty="0"/>
          </a:p>
        </p:txBody>
      </p:sp>
      <p:sp>
        <p:nvSpPr>
          <p:cNvPr id="56" name="Shape 54"/>
          <p:cNvSpPr/>
          <p:nvPr/>
        </p:nvSpPr>
        <p:spPr>
          <a:xfrm>
            <a:off x="4823460" y="3840480"/>
            <a:ext cx="705612" cy="438912"/>
          </a:xfrm>
          <a:prstGeom prst="roundRect">
            <a:avLst>
              <a:gd name="adj" fmla="val 12500"/>
            </a:avLst>
          </a:prstGeom>
          <a:solidFill>
            <a:srgbClr val="6E6A63"/>
          </a:solidFill>
          <a:ln w="9525">
            <a:solidFill>
              <a:srgbClr val="FFFFFF"/>
            </a:solidFill>
            <a:prstDash val="solid"/>
          </a:ln>
        </p:spPr>
      </p:sp>
      <p:sp>
        <p:nvSpPr>
          <p:cNvPr id="57" name="Text 55"/>
          <p:cNvSpPr txBox="1"/>
          <p:nvPr/>
        </p:nvSpPr>
        <p:spPr>
          <a:xfrm>
            <a:off x="4850892" y="3840480"/>
            <a:ext cx="650748"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On-page</a:t>
            </a:r>
            <a:endParaRPr lang="en-US" sz="900" dirty="0"/>
          </a:p>
        </p:txBody>
      </p:sp>
      <p:sp>
        <p:nvSpPr>
          <p:cNvPr id="58" name="Shape 56"/>
          <p:cNvSpPr/>
          <p:nvPr/>
        </p:nvSpPr>
        <p:spPr>
          <a:xfrm>
            <a:off x="5583936" y="3840480"/>
            <a:ext cx="1466088" cy="438912"/>
          </a:xfrm>
          <a:prstGeom prst="roundRect">
            <a:avLst>
              <a:gd name="adj" fmla="val 12500"/>
            </a:avLst>
          </a:prstGeom>
          <a:solidFill>
            <a:srgbClr val="6E6A63"/>
          </a:solidFill>
          <a:ln w="9525">
            <a:solidFill>
              <a:srgbClr val="FFFFFF"/>
            </a:solidFill>
            <a:prstDash val="solid"/>
          </a:ln>
        </p:spPr>
      </p:sp>
      <p:sp>
        <p:nvSpPr>
          <p:cNvPr id="59" name="Text 57"/>
          <p:cNvSpPr txBox="1"/>
          <p:nvPr/>
        </p:nvSpPr>
        <p:spPr>
          <a:xfrm>
            <a:off x="5611368" y="3840480"/>
            <a:ext cx="1411224"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Local + technical</a:t>
            </a:r>
            <a:endParaRPr lang="en-US" sz="1000" dirty="0"/>
          </a:p>
        </p:txBody>
      </p:sp>
      <p:sp>
        <p:nvSpPr>
          <p:cNvPr id="60" name="Shape 58"/>
          <p:cNvSpPr/>
          <p:nvPr/>
        </p:nvSpPr>
        <p:spPr>
          <a:xfrm>
            <a:off x="7104888" y="3840480"/>
            <a:ext cx="4507992" cy="438912"/>
          </a:xfrm>
          <a:prstGeom prst="roundRect">
            <a:avLst>
              <a:gd name="adj" fmla="val 12500"/>
            </a:avLst>
          </a:prstGeom>
          <a:solidFill>
            <a:srgbClr val="6E6A63"/>
          </a:solidFill>
          <a:ln w="9525">
            <a:solidFill>
              <a:srgbClr val="FFFFFF"/>
            </a:solidFill>
            <a:prstDash val="solid"/>
          </a:ln>
        </p:spPr>
      </p:sp>
      <p:sp>
        <p:nvSpPr>
          <p:cNvPr id="61" name="Text 59"/>
          <p:cNvSpPr txBox="1"/>
          <p:nvPr/>
        </p:nvSpPr>
        <p:spPr>
          <a:xfrm>
            <a:off x="7132320" y="3840480"/>
            <a:ext cx="4453128"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Content engine · digital PR</a:t>
            </a:r>
            <a:endParaRPr lang="en-US" sz="1000" dirty="0"/>
          </a:p>
        </p:txBody>
      </p:sp>
      <p:sp>
        <p:nvSpPr>
          <p:cNvPr id="62" name="Text 60"/>
          <p:cNvSpPr txBox="1"/>
          <p:nvPr/>
        </p:nvSpPr>
        <p:spPr>
          <a:xfrm>
            <a:off x="548640" y="4462272"/>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AEO</a:t>
            </a:r>
            <a:endParaRPr lang="en-US" sz="1250" dirty="0"/>
          </a:p>
        </p:txBody>
      </p:sp>
      <p:sp>
        <p:nvSpPr>
          <p:cNvPr id="63" name="Shape 61"/>
          <p:cNvSpPr/>
          <p:nvPr/>
        </p:nvSpPr>
        <p:spPr>
          <a:xfrm>
            <a:off x="2542032" y="4498848"/>
            <a:ext cx="1466088" cy="438912"/>
          </a:xfrm>
          <a:prstGeom prst="roundRect">
            <a:avLst>
              <a:gd name="adj" fmla="val 12500"/>
            </a:avLst>
          </a:prstGeom>
          <a:solidFill>
            <a:srgbClr val="4A5359"/>
          </a:solidFill>
          <a:ln w="9525">
            <a:solidFill>
              <a:srgbClr val="FFFFFF"/>
            </a:solidFill>
            <a:prstDash val="solid"/>
          </a:ln>
        </p:spPr>
      </p:sp>
      <p:sp>
        <p:nvSpPr>
          <p:cNvPr id="64" name="Text 62"/>
          <p:cNvSpPr txBox="1"/>
          <p:nvPr/>
        </p:nvSpPr>
        <p:spPr>
          <a:xfrm>
            <a:off x="2569464" y="4498848"/>
            <a:ext cx="1411224"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Facts sheet · AI baseline</a:t>
            </a:r>
            <a:endParaRPr lang="en-US" sz="1000" dirty="0"/>
          </a:p>
        </p:txBody>
      </p:sp>
      <p:sp>
        <p:nvSpPr>
          <p:cNvPr id="65" name="Shape 63"/>
          <p:cNvSpPr/>
          <p:nvPr/>
        </p:nvSpPr>
        <p:spPr>
          <a:xfrm>
            <a:off x="4823460" y="4498848"/>
            <a:ext cx="705612" cy="438912"/>
          </a:xfrm>
          <a:prstGeom prst="roundRect">
            <a:avLst>
              <a:gd name="adj" fmla="val 12500"/>
            </a:avLst>
          </a:prstGeom>
          <a:solidFill>
            <a:srgbClr val="4A5359"/>
          </a:solidFill>
          <a:ln w="9525">
            <a:solidFill>
              <a:srgbClr val="FFFFFF"/>
            </a:solidFill>
            <a:prstDash val="solid"/>
          </a:ln>
        </p:spPr>
      </p:sp>
      <p:sp>
        <p:nvSpPr>
          <p:cNvPr id="66" name="Text 64"/>
          <p:cNvSpPr txBox="1"/>
          <p:nvPr/>
        </p:nvSpPr>
        <p:spPr>
          <a:xfrm>
            <a:off x="4850892" y="4498848"/>
            <a:ext cx="650748"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Schema</a:t>
            </a:r>
            <a:endParaRPr lang="en-US" sz="900" dirty="0"/>
          </a:p>
        </p:txBody>
      </p:sp>
      <p:sp>
        <p:nvSpPr>
          <p:cNvPr id="67" name="Shape 65"/>
          <p:cNvSpPr/>
          <p:nvPr/>
        </p:nvSpPr>
        <p:spPr>
          <a:xfrm>
            <a:off x="5583936" y="4498848"/>
            <a:ext cx="2226564" cy="438912"/>
          </a:xfrm>
          <a:prstGeom prst="roundRect">
            <a:avLst>
              <a:gd name="adj" fmla="val 12500"/>
            </a:avLst>
          </a:prstGeom>
          <a:solidFill>
            <a:srgbClr val="4A5359"/>
          </a:solidFill>
          <a:ln w="9525">
            <a:solidFill>
              <a:srgbClr val="FFFFFF"/>
            </a:solidFill>
            <a:prstDash val="solid"/>
          </a:ln>
        </p:spPr>
      </p:sp>
      <p:sp>
        <p:nvSpPr>
          <p:cNvPr id="68" name="Text 66"/>
          <p:cNvSpPr txBox="1"/>
          <p:nvPr/>
        </p:nvSpPr>
        <p:spPr>
          <a:xfrm>
            <a:off x="5611368" y="4498848"/>
            <a:ext cx="21717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Answer-first content</a:t>
            </a:r>
            <a:endParaRPr lang="en-US" sz="1000" dirty="0"/>
          </a:p>
        </p:txBody>
      </p:sp>
      <p:sp>
        <p:nvSpPr>
          <p:cNvPr id="69" name="Shape 67"/>
          <p:cNvSpPr/>
          <p:nvPr/>
        </p:nvSpPr>
        <p:spPr>
          <a:xfrm>
            <a:off x="7865364" y="4498848"/>
            <a:ext cx="3747516" cy="438912"/>
          </a:xfrm>
          <a:prstGeom prst="roundRect">
            <a:avLst>
              <a:gd name="adj" fmla="val 12500"/>
            </a:avLst>
          </a:prstGeom>
          <a:solidFill>
            <a:srgbClr val="4A5359"/>
          </a:solidFill>
          <a:ln w="9525">
            <a:solidFill>
              <a:srgbClr val="FFFFFF"/>
            </a:solidFill>
            <a:prstDash val="solid"/>
          </a:ln>
        </p:spPr>
      </p:sp>
      <p:sp>
        <p:nvSpPr>
          <p:cNvPr id="70" name="Text 68"/>
          <p:cNvSpPr txBox="1"/>
          <p:nvPr/>
        </p:nvSpPr>
        <p:spPr>
          <a:xfrm>
            <a:off x="7892796" y="4498848"/>
            <a:ext cx="3692652"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Monthly AI tracking · citations</a:t>
            </a:r>
            <a:endParaRPr lang="en-US" sz="1000" dirty="0"/>
          </a:p>
        </p:txBody>
      </p:sp>
      <p:sp>
        <p:nvSpPr>
          <p:cNvPr id="71" name="Text 69"/>
          <p:cNvSpPr txBox="1"/>
          <p:nvPr/>
        </p:nvSpPr>
        <p:spPr>
          <a:xfrm>
            <a:off x="548640" y="5120640"/>
            <a:ext cx="1874520" cy="512064"/>
          </a:xfrm>
          <a:prstGeom prst="rect">
            <a:avLst/>
          </a:prstGeom>
          <a:noFill/>
          <a:ln/>
        </p:spPr>
        <p:txBody>
          <a:bodyPr wrap="square" lIns="0" tIns="0" rIns="0" bIns="0" rtlCol="0" anchor="ctr"/>
          <a:lstStyle/>
          <a:p>
            <a:pPr indent="0" marL="0">
              <a:buNone/>
            </a:pPr>
            <a:r>
              <a:rPr lang="en-US" sz="1250" b="1" dirty="0">
                <a:solidFill>
                  <a:srgbClr val="2B2A28"/>
                </a:solidFill>
                <a:latin typeface="Calibri" pitchFamily="34" charset="0"/>
                <a:ea typeface="Calibri" pitchFamily="34" charset="-122"/>
                <a:cs typeface="Calibri" pitchFamily="34" charset="-120"/>
              </a:rPr>
              <a:t>Customer service</a:t>
            </a:r>
            <a:endParaRPr lang="en-US" sz="1250" dirty="0"/>
          </a:p>
        </p:txBody>
      </p:sp>
      <p:sp>
        <p:nvSpPr>
          <p:cNvPr id="72" name="Shape 70"/>
          <p:cNvSpPr/>
          <p:nvPr/>
        </p:nvSpPr>
        <p:spPr>
          <a:xfrm>
            <a:off x="2542032" y="5157216"/>
            <a:ext cx="705612" cy="438912"/>
          </a:xfrm>
          <a:prstGeom prst="roundRect">
            <a:avLst>
              <a:gd name="adj" fmla="val 12500"/>
            </a:avLst>
          </a:prstGeom>
          <a:solidFill>
            <a:srgbClr val="2B2A28"/>
          </a:solidFill>
          <a:ln w="9525">
            <a:solidFill>
              <a:srgbClr val="FFFFFF"/>
            </a:solidFill>
            <a:prstDash val="solid"/>
          </a:ln>
        </p:spPr>
      </p:sp>
      <p:sp>
        <p:nvSpPr>
          <p:cNvPr id="73" name="Text 71"/>
          <p:cNvSpPr txBox="1"/>
          <p:nvPr/>
        </p:nvSpPr>
        <p:spPr>
          <a:xfrm>
            <a:off x="2569464" y="5157216"/>
            <a:ext cx="650748" cy="438912"/>
          </a:xfrm>
          <a:prstGeom prst="rect">
            <a:avLst/>
          </a:prstGeom>
          <a:noFill/>
          <a:ln/>
        </p:spPr>
        <p:txBody>
          <a:bodyPr wrap="square" lIns="0" tIns="0" rIns="0" bIns="0" rtlCol="0" anchor="ctr"/>
          <a:lstStyle/>
          <a:p>
            <a:pPr algn="ctr" indent="0" marL="0">
              <a:buNone/>
            </a:pPr>
            <a:r>
              <a:rPr lang="en-US" sz="900" b="1" dirty="0">
                <a:solidFill>
                  <a:srgbClr val="EDE7D8"/>
                </a:solidFill>
                <a:latin typeface="Calibri" pitchFamily="34" charset="0"/>
                <a:ea typeface="Calibri" pitchFamily="34" charset="-122"/>
                <a:cs typeface="Calibri" pitchFamily="34" charset="-120"/>
              </a:rPr>
              <a:t>Playbook</a:t>
            </a:r>
            <a:endParaRPr lang="en-US" sz="900" dirty="0"/>
          </a:p>
        </p:txBody>
      </p:sp>
      <p:sp>
        <p:nvSpPr>
          <p:cNvPr id="74" name="Shape 72"/>
          <p:cNvSpPr/>
          <p:nvPr/>
        </p:nvSpPr>
        <p:spPr>
          <a:xfrm>
            <a:off x="3302508" y="5157216"/>
            <a:ext cx="705612" cy="438912"/>
          </a:xfrm>
          <a:prstGeom prst="roundRect">
            <a:avLst>
              <a:gd name="adj" fmla="val 12500"/>
            </a:avLst>
          </a:prstGeom>
          <a:solidFill>
            <a:srgbClr val="2B2A28"/>
          </a:solidFill>
          <a:ln w="9525">
            <a:solidFill>
              <a:srgbClr val="FFFFFF"/>
            </a:solidFill>
            <a:prstDash val="solid"/>
          </a:ln>
        </p:spPr>
      </p:sp>
      <p:sp>
        <p:nvSpPr>
          <p:cNvPr id="75" name="Text 73"/>
          <p:cNvSpPr txBox="1"/>
          <p:nvPr/>
        </p:nvSpPr>
        <p:spPr>
          <a:xfrm>
            <a:off x="3329940" y="5157216"/>
            <a:ext cx="650748" cy="438912"/>
          </a:xfrm>
          <a:prstGeom prst="rect">
            <a:avLst/>
          </a:prstGeom>
          <a:noFill/>
          <a:ln/>
        </p:spPr>
        <p:txBody>
          <a:bodyPr wrap="square" lIns="0" tIns="0" rIns="0" bIns="0" rtlCol="0" anchor="ctr"/>
          <a:lstStyle/>
          <a:p>
            <a:pPr algn="ctr" indent="0" marL="0">
              <a:buNone/>
            </a:pPr>
            <a:r>
              <a:rPr lang="en-US" sz="900" b="1" dirty="0">
                <a:solidFill>
                  <a:srgbClr val="EDE7D8"/>
                </a:solidFill>
                <a:latin typeface="Calibri" pitchFamily="34" charset="0"/>
                <a:ea typeface="Calibri" pitchFamily="34" charset="-122"/>
                <a:cs typeface="Calibri" pitchFamily="34" charset="-120"/>
              </a:rPr>
              <a:t>Help desk live</a:t>
            </a:r>
            <a:endParaRPr lang="en-US" sz="900" dirty="0"/>
          </a:p>
        </p:txBody>
      </p:sp>
      <p:sp>
        <p:nvSpPr>
          <p:cNvPr id="76" name="Shape 74"/>
          <p:cNvSpPr/>
          <p:nvPr/>
        </p:nvSpPr>
        <p:spPr>
          <a:xfrm>
            <a:off x="4062984" y="5157216"/>
            <a:ext cx="1466088" cy="438912"/>
          </a:xfrm>
          <a:prstGeom prst="roundRect">
            <a:avLst>
              <a:gd name="adj" fmla="val 12500"/>
            </a:avLst>
          </a:prstGeom>
          <a:solidFill>
            <a:srgbClr val="2B2A28"/>
          </a:solidFill>
          <a:ln w="9525">
            <a:solidFill>
              <a:srgbClr val="FFFFFF"/>
            </a:solidFill>
            <a:prstDash val="solid"/>
          </a:ln>
        </p:spPr>
      </p:sp>
      <p:sp>
        <p:nvSpPr>
          <p:cNvPr id="77" name="Text 75"/>
          <p:cNvSpPr txBox="1"/>
          <p:nvPr/>
        </p:nvSpPr>
        <p:spPr>
          <a:xfrm>
            <a:off x="4090416" y="5157216"/>
            <a:ext cx="1411224" cy="438912"/>
          </a:xfrm>
          <a:prstGeom prst="rect">
            <a:avLst/>
          </a:prstGeom>
          <a:noFill/>
          <a:ln/>
        </p:spPr>
        <p:txBody>
          <a:bodyPr wrap="square" lIns="0" tIns="0" rIns="0" bIns="0" rtlCol="0" anchor="ctr"/>
          <a:lstStyle/>
          <a:p>
            <a:pPr algn="ctr" indent="0" marL="0">
              <a:buNone/>
            </a:pPr>
            <a:r>
              <a:rPr lang="en-US" sz="1000" b="1" dirty="0">
                <a:solidFill>
                  <a:srgbClr val="EDE7D8"/>
                </a:solidFill>
                <a:latin typeface="Calibri" pitchFamily="34" charset="0"/>
                <a:ea typeface="Calibri" pitchFamily="34" charset="-122"/>
                <a:cs typeface="Calibri" pitchFamily="34" charset="-120"/>
              </a:rPr>
              <a:t>AI drafts, approve</a:t>
            </a:r>
            <a:endParaRPr lang="en-US" sz="1000" dirty="0"/>
          </a:p>
        </p:txBody>
      </p:sp>
      <p:sp>
        <p:nvSpPr>
          <p:cNvPr id="78" name="Shape 76"/>
          <p:cNvSpPr/>
          <p:nvPr/>
        </p:nvSpPr>
        <p:spPr>
          <a:xfrm>
            <a:off x="5583936" y="5157216"/>
            <a:ext cx="6028944" cy="438912"/>
          </a:xfrm>
          <a:prstGeom prst="roundRect">
            <a:avLst>
              <a:gd name="adj" fmla="val 12500"/>
            </a:avLst>
          </a:prstGeom>
          <a:solidFill>
            <a:srgbClr val="2B2A28"/>
          </a:solidFill>
          <a:ln w="9525">
            <a:solidFill>
              <a:srgbClr val="FFFFFF"/>
            </a:solidFill>
            <a:prstDash val="solid"/>
          </a:ln>
        </p:spPr>
      </p:sp>
      <p:sp>
        <p:nvSpPr>
          <p:cNvPr id="79" name="Text 77"/>
          <p:cNvSpPr txBox="1"/>
          <p:nvPr/>
        </p:nvSpPr>
        <p:spPr>
          <a:xfrm>
            <a:off x="5611368" y="5157216"/>
            <a:ext cx="5974080" cy="438912"/>
          </a:xfrm>
          <a:prstGeom prst="rect">
            <a:avLst/>
          </a:prstGeom>
          <a:noFill/>
          <a:ln/>
        </p:spPr>
        <p:txBody>
          <a:bodyPr wrap="square" lIns="0" tIns="0" rIns="0" bIns="0" rtlCol="0" anchor="ctr"/>
          <a:lstStyle/>
          <a:p>
            <a:pPr algn="ctr" indent="0" marL="0">
              <a:buNone/>
            </a:pPr>
            <a:r>
              <a:rPr lang="en-US" sz="1000" b="1" dirty="0">
                <a:solidFill>
                  <a:srgbClr val="EDE7D8"/>
                </a:solidFill>
                <a:latin typeface="Calibri" pitchFamily="34" charset="0"/>
                <a:ea typeface="Calibri" pitchFamily="34" charset="-122"/>
                <a:cs typeface="Calibri" pitchFamily="34" charset="-120"/>
              </a:rPr>
              <a:t>Auto-send proven replies · weekly service note</a:t>
            </a:r>
            <a:endParaRPr lang="en-US" sz="1000" dirty="0"/>
          </a:p>
        </p:txBody>
      </p:sp>
      <p:sp>
        <p:nvSpPr>
          <p:cNvPr id="80" name="Shape 78"/>
          <p:cNvSpPr/>
          <p:nvPr/>
        </p:nvSpPr>
        <p:spPr>
          <a:xfrm>
            <a:off x="4796028" y="1737360"/>
            <a:ext cx="0" cy="4069080"/>
          </a:xfrm>
          <a:prstGeom prst="line">
            <a:avLst/>
          </a:prstGeom>
          <a:noFill/>
          <a:ln w="25400">
            <a:solidFill>
              <a:srgbClr val="8A6115"/>
            </a:solidFill>
            <a:prstDash val="dash"/>
          </a:ln>
        </p:spPr>
      </p:sp>
      <p:sp>
        <p:nvSpPr>
          <p:cNvPr id="81" name="Text 79"/>
          <p:cNvSpPr txBox="1"/>
          <p:nvPr/>
        </p:nvSpPr>
        <p:spPr>
          <a:xfrm>
            <a:off x="4869180" y="5779008"/>
            <a:ext cx="914400" cy="256032"/>
          </a:xfrm>
          <a:prstGeom prst="rect">
            <a:avLst/>
          </a:prstGeom>
          <a:noFill/>
          <a:ln/>
        </p:spPr>
        <p:txBody>
          <a:bodyPr wrap="square" lIns="0" tIns="0" rIns="0" bIns="0" rtlCol="0" anchor="ctr"/>
          <a:lstStyle/>
          <a:p>
            <a:pPr algn="l" indent="0" marL="0">
              <a:buNone/>
            </a:pPr>
            <a:r>
              <a:rPr lang="en-US" sz="1000" b="1" dirty="0">
                <a:solidFill>
                  <a:srgbClr val="8A6115"/>
                </a:solidFill>
                <a:latin typeface="Calibri" pitchFamily="34" charset="0"/>
                <a:ea typeface="Calibri" pitchFamily="34" charset="-122"/>
                <a:cs typeface="Calibri" pitchFamily="34" charset="-120"/>
              </a:rPr>
              <a:t>◆ Launch</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32</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STEP 0 · FOUNDATIONS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What has to exist before a developer writes a line</a:t>
            </a:r>
            <a:endParaRPr lang="en-US" sz="3000" dirty="0"/>
          </a:p>
        </p:txBody>
      </p:sp>
      <p:sp>
        <p:nvSpPr>
          <p:cNvPr id="5" name="Shape 3"/>
          <p:cNvSpPr/>
          <p:nvPr/>
        </p:nvSpPr>
        <p:spPr>
          <a:xfrm>
            <a:off x="548640" y="1508760"/>
            <a:ext cx="3566160" cy="2194560"/>
          </a:xfrm>
          <a:prstGeom prst="roundRect">
            <a:avLst>
              <a:gd name="adj" fmla="val 3333"/>
            </a:avLst>
          </a:prstGeom>
          <a:solidFill>
            <a:srgbClr val="FFFFFF"/>
          </a:solidFill>
          <a:ln w="9525">
            <a:solidFill>
              <a:srgbClr val="D9C7A3"/>
            </a:solidFill>
            <a:prstDash val="solid"/>
          </a:ln>
        </p:spPr>
      </p:sp>
      <p:sp>
        <p:nvSpPr>
          <p:cNvPr id="6" name="Shape 4"/>
          <p:cNvSpPr/>
          <p:nvPr/>
        </p:nvSpPr>
        <p:spPr>
          <a:xfrm>
            <a:off x="731520" y="1673352"/>
            <a:ext cx="384048" cy="384048"/>
          </a:xfrm>
          <a:prstGeom prst="ellipse">
            <a:avLst/>
          </a:prstGeom>
          <a:solidFill>
            <a:srgbClr val="C8922F"/>
          </a:solidFill>
          <a:ln w="12700">
            <a:solidFill>
              <a:srgbClr val="C8922F"/>
            </a:solidFill>
            <a:prstDash val="solid"/>
          </a:ln>
        </p:spPr>
      </p:sp>
      <p:sp>
        <p:nvSpPr>
          <p:cNvPr id="7" name="Text 5"/>
          <p:cNvSpPr txBox="1"/>
          <p:nvPr/>
        </p:nvSpPr>
        <p:spPr>
          <a:xfrm>
            <a:off x="731520" y="167335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234440" y="164592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Ownership &amp; access</a:t>
            </a:r>
            <a:endParaRPr lang="en-US" sz="1500" dirty="0"/>
          </a:p>
        </p:txBody>
      </p:sp>
      <p:sp>
        <p:nvSpPr>
          <p:cNvPr id="9" name="Text 7"/>
          <p:cNvSpPr txBox="1"/>
          <p:nvPr/>
        </p:nvSpPr>
        <p:spPr>
          <a:xfrm>
            <a:off x="749808" y="216712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A business Google Workspace account that owns every tool</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Domain registrar and DNS login, in the mill's name</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Password manager, with 2-factor on every account</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A list of who can access what</a:t>
            </a:r>
            <a:endParaRPr lang="en-US" sz="1150" dirty="0"/>
          </a:p>
        </p:txBody>
      </p:sp>
      <p:sp>
        <p:nvSpPr>
          <p:cNvPr id="10" name="Shape 8"/>
          <p:cNvSpPr/>
          <p:nvPr/>
        </p:nvSpPr>
        <p:spPr>
          <a:xfrm>
            <a:off x="4297680" y="1508760"/>
            <a:ext cx="3566160" cy="2194560"/>
          </a:xfrm>
          <a:prstGeom prst="roundRect">
            <a:avLst>
              <a:gd name="adj" fmla="val 3333"/>
            </a:avLst>
          </a:prstGeom>
          <a:solidFill>
            <a:srgbClr val="FFFFFF"/>
          </a:solidFill>
          <a:ln w="9525">
            <a:solidFill>
              <a:srgbClr val="D9C7A3"/>
            </a:solidFill>
            <a:prstDash val="solid"/>
          </a:ln>
        </p:spPr>
      </p:sp>
      <p:sp>
        <p:nvSpPr>
          <p:cNvPr id="11" name="Shape 9"/>
          <p:cNvSpPr/>
          <p:nvPr/>
        </p:nvSpPr>
        <p:spPr>
          <a:xfrm>
            <a:off x="4480560" y="1673352"/>
            <a:ext cx="384048" cy="384048"/>
          </a:xfrm>
          <a:prstGeom prst="ellipse">
            <a:avLst/>
          </a:prstGeom>
          <a:solidFill>
            <a:srgbClr val="C8922F"/>
          </a:solidFill>
          <a:ln w="12700">
            <a:solidFill>
              <a:srgbClr val="C8922F"/>
            </a:solidFill>
            <a:prstDash val="solid"/>
          </a:ln>
        </p:spPr>
      </p:sp>
      <p:sp>
        <p:nvSpPr>
          <p:cNvPr id="12" name="Text 10"/>
          <p:cNvSpPr txBox="1"/>
          <p:nvPr/>
        </p:nvSpPr>
        <p:spPr>
          <a:xfrm>
            <a:off x="4480560" y="167335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4983480" y="164592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Product data</a:t>
            </a:r>
            <a:endParaRPr lang="en-US" sz="1500" dirty="0"/>
          </a:p>
        </p:txBody>
      </p:sp>
      <p:sp>
        <p:nvSpPr>
          <p:cNvPr id="14" name="Text 12"/>
          <p:cNvSpPr txBox="1"/>
          <p:nvPr/>
        </p:nvSpPr>
        <p:spPr>
          <a:xfrm>
            <a:off x="4498848" y="216712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One sheet: SKU, name, size, price, weight</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Ingredients, allergens, nutrition panel</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Box size and ship weight per item</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Wholesale tiers, case packs, minimums</a:t>
            </a:r>
            <a:endParaRPr lang="en-US" sz="1150" dirty="0"/>
          </a:p>
        </p:txBody>
      </p:sp>
      <p:sp>
        <p:nvSpPr>
          <p:cNvPr id="15" name="Shape 13"/>
          <p:cNvSpPr/>
          <p:nvPr/>
        </p:nvSpPr>
        <p:spPr>
          <a:xfrm>
            <a:off x="8046720" y="1508760"/>
            <a:ext cx="3566160" cy="2194560"/>
          </a:xfrm>
          <a:prstGeom prst="roundRect">
            <a:avLst>
              <a:gd name="adj" fmla="val 3333"/>
            </a:avLst>
          </a:prstGeom>
          <a:solidFill>
            <a:srgbClr val="FFFFFF"/>
          </a:solidFill>
          <a:ln w="9525">
            <a:solidFill>
              <a:srgbClr val="D9C7A3"/>
            </a:solidFill>
            <a:prstDash val="solid"/>
          </a:ln>
        </p:spPr>
      </p:sp>
      <p:sp>
        <p:nvSpPr>
          <p:cNvPr id="16" name="Shape 14"/>
          <p:cNvSpPr/>
          <p:nvPr/>
        </p:nvSpPr>
        <p:spPr>
          <a:xfrm>
            <a:off x="8229600" y="1673352"/>
            <a:ext cx="384048" cy="384048"/>
          </a:xfrm>
          <a:prstGeom prst="ellipse">
            <a:avLst/>
          </a:prstGeom>
          <a:solidFill>
            <a:srgbClr val="C8922F"/>
          </a:solidFill>
          <a:ln w="12700">
            <a:solidFill>
              <a:srgbClr val="C8922F"/>
            </a:solidFill>
            <a:prstDash val="solid"/>
          </a:ln>
        </p:spPr>
      </p:sp>
      <p:sp>
        <p:nvSpPr>
          <p:cNvPr id="17" name="Text 15"/>
          <p:cNvSpPr txBox="1"/>
          <p:nvPr/>
        </p:nvSpPr>
        <p:spPr>
          <a:xfrm>
            <a:off x="8229600" y="167335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8732520" y="164592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Content &amp; brand</a:t>
            </a:r>
            <a:endParaRPr lang="en-US" sz="1500" dirty="0"/>
          </a:p>
        </p:txBody>
      </p:sp>
      <p:sp>
        <p:nvSpPr>
          <p:cNvPr id="19" name="Text 17"/>
          <p:cNvSpPr txBox="1"/>
          <p:nvPr/>
        </p:nvSpPr>
        <p:spPr>
          <a:xfrm>
            <a:off x="8247888" y="216712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Logo files and the Kenyon's palette</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Photo library, plus a top-20 product shoot</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Verified facts sheet: 1696, stones, flint corn</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Recipes, story pages and FAQ to carry over</a:t>
            </a:r>
            <a:endParaRPr lang="en-US" sz="1150" dirty="0"/>
          </a:p>
        </p:txBody>
      </p:sp>
      <p:sp>
        <p:nvSpPr>
          <p:cNvPr id="20" name="Shape 18"/>
          <p:cNvSpPr/>
          <p:nvPr/>
        </p:nvSpPr>
        <p:spPr>
          <a:xfrm>
            <a:off x="548640" y="3886200"/>
            <a:ext cx="3566160" cy="2194560"/>
          </a:xfrm>
          <a:prstGeom prst="roundRect">
            <a:avLst>
              <a:gd name="adj" fmla="val 3333"/>
            </a:avLst>
          </a:prstGeom>
          <a:solidFill>
            <a:srgbClr val="FFFFFF"/>
          </a:solidFill>
          <a:ln w="9525">
            <a:solidFill>
              <a:srgbClr val="D9C7A3"/>
            </a:solidFill>
            <a:prstDash val="solid"/>
          </a:ln>
        </p:spPr>
      </p:sp>
      <p:sp>
        <p:nvSpPr>
          <p:cNvPr id="21" name="Shape 19"/>
          <p:cNvSpPr/>
          <p:nvPr/>
        </p:nvSpPr>
        <p:spPr>
          <a:xfrm>
            <a:off x="731520" y="4050792"/>
            <a:ext cx="384048" cy="384048"/>
          </a:xfrm>
          <a:prstGeom prst="ellipse">
            <a:avLst/>
          </a:prstGeom>
          <a:solidFill>
            <a:srgbClr val="C8922F"/>
          </a:solidFill>
          <a:ln w="12700">
            <a:solidFill>
              <a:srgbClr val="C8922F"/>
            </a:solidFill>
            <a:prstDash val="solid"/>
          </a:ln>
        </p:spPr>
      </p:sp>
      <p:sp>
        <p:nvSpPr>
          <p:cNvPr id="22" name="Text 20"/>
          <p:cNvSpPr txBox="1"/>
          <p:nvPr/>
        </p:nvSpPr>
        <p:spPr>
          <a:xfrm>
            <a:off x="731520" y="405079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1234440" y="402336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Policies</a:t>
            </a:r>
            <a:endParaRPr lang="en-US" sz="1500" dirty="0"/>
          </a:p>
        </p:txBody>
      </p:sp>
      <p:sp>
        <p:nvSpPr>
          <p:cNvPr id="24" name="Text 22"/>
          <p:cNvSpPr txBox="1"/>
          <p:nvPr/>
        </p:nvSpPr>
        <p:spPr>
          <a:xfrm>
            <a:off x="749808" y="454456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Shipping and an honest, published lead time</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Returns, refunds and damaged goods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Privacy, terms and cookie consent</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Allergen statement; wholesale terms</a:t>
            </a:r>
            <a:endParaRPr lang="en-US" sz="1150" dirty="0"/>
          </a:p>
        </p:txBody>
      </p:sp>
      <p:sp>
        <p:nvSpPr>
          <p:cNvPr id="25" name="Shape 23"/>
          <p:cNvSpPr/>
          <p:nvPr/>
        </p:nvSpPr>
        <p:spPr>
          <a:xfrm>
            <a:off x="4297680" y="3886200"/>
            <a:ext cx="3566160" cy="2194560"/>
          </a:xfrm>
          <a:prstGeom prst="roundRect">
            <a:avLst>
              <a:gd name="adj" fmla="val 3333"/>
            </a:avLst>
          </a:prstGeom>
          <a:solidFill>
            <a:srgbClr val="FFFFFF"/>
          </a:solidFill>
          <a:ln w="9525">
            <a:solidFill>
              <a:srgbClr val="D9C7A3"/>
            </a:solidFill>
            <a:prstDash val="solid"/>
          </a:ln>
        </p:spPr>
      </p:sp>
      <p:sp>
        <p:nvSpPr>
          <p:cNvPr id="26" name="Shape 24"/>
          <p:cNvSpPr/>
          <p:nvPr/>
        </p:nvSpPr>
        <p:spPr>
          <a:xfrm>
            <a:off x="4480560" y="4050792"/>
            <a:ext cx="384048" cy="384048"/>
          </a:xfrm>
          <a:prstGeom prst="ellipse">
            <a:avLst/>
          </a:prstGeom>
          <a:solidFill>
            <a:srgbClr val="C8922F"/>
          </a:solidFill>
          <a:ln w="12700">
            <a:solidFill>
              <a:srgbClr val="C8922F"/>
            </a:solidFill>
            <a:prstDash val="solid"/>
          </a:ln>
        </p:spPr>
      </p:sp>
      <p:sp>
        <p:nvSpPr>
          <p:cNvPr id="27" name="Text 25"/>
          <p:cNvSpPr txBox="1"/>
          <p:nvPr/>
        </p:nvSpPr>
        <p:spPr>
          <a:xfrm>
            <a:off x="4480560" y="405079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4983480" y="402336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Commerce set-up</a:t>
            </a:r>
            <a:endParaRPr lang="en-US" sz="1500" dirty="0"/>
          </a:p>
        </p:txBody>
      </p:sp>
      <p:sp>
        <p:nvSpPr>
          <p:cNvPr id="29" name="Text 27"/>
          <p:cNvSpPr txBox="1"/>
          <p:nvPr/>
        </p:nvSpPr>
        <p:spPr>
          <a:xfrm>
            <a:off x="4498848" y="454456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Shopify Payments tied to the business bank</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Sales tax settings, confirmed with the accountant</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Carrier set-up and box sizes for live rates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Free-shipping threshold at $59</a:t>
            </a:r>
            <a:endParaRPr lang="en-US" sz="1150" dirty="0"/>
          </a:p>
        </p:txBody>
      </p:sp>
      <p:sp>
        <p:nvSpPr>
          <p:cNvPr id="30" name="Shape 28"/>
          <p:cNvSpPr/>
          <p:nvPr/>
        </p:nvSpPr>
        <p:spPr>
          <a:xfrm>
            <a:off x="8046720" y="3886200"/>
            <a:ext cx="3566160" cy="2194560"/>
          </a:xfrm>
          <a:prstGeom prst="roundRect">
            <a:avLst>
              <a:gd name="adj" fmla="val 3333"/>
            </a:avLst>
          </a:prstGeom>
          <a:solidFill>
            <a:srgbClr val="FFFFFF"/>
          </a:solidFill>
          <a:ln w="9525">
            <a:solidFill>
              <a:srgbClr val="D9C7A3"/>
            </a:solidFill>
            <a:prstDash val="solid"/>
          </a:ln>
        </p:spPr>
      </p:sp>
      <p:sp>
        <p:nvSpPr>
          <p:cNvPr id="31" name="Shape 29"/>
          <p:cNvSpPr/>
          <p:nvPr/>
        </p:nvSpPr>
        <p:spPr>
          <a:xfrm>
            <a:off x="8229600" y="4050792"/>
            <a:ext cx="384048" cy="384048"/>
          </a:xfrm>
          <a:prstGeom prst="ellipse">
            <a:avLst/>
          </a:prstGeom>
          <a:solidFill>
            <a:srgbClr val="C8922F"/>
          </a:solidFill>
          <a:ln w="12700">
            <a:solidFill>
              <a:srgbClr val="C8922F"/>
            </a:solidFill>
            <a:prstDash val="solid"/>
          </a:ln>
        </p:spPr>
      </p:sp>
      <p:sp>
        <p:nvSpPr>
          <p:cNvPr id="32" name="Text 30"/>
          <p:cNvSpPr txBox="1"/>
          <p:nvPr/>
        </p:nvSpPr>
        <p:spPr>
          <a:xfrm>
            <a:off x="8229600" y="4050792"/>
            <a:ext cx="384048" cy="384048"/>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6</a:t>
            </a:r>
            <a:endParaRPr lang="en-US" sz="1200" dirty="0"/>
          </a:p>
        </p:txBody>
      </p:sp>
      <p:sp>
        <p:nvSpPr>
          <p:cNvPr id="33" name="Text 31"/>
          <p:cNvSpPr txBox="1"/>
          <p:nvPr/>
        </p:nvSpPr>
        <p:spPr>
          <a:xfrm>
            <a:off x="8732520" y="4023360"/>
            <a:ext cx="2697480" cy="438912"/>
          </a:xfrm>
          <a:prstGeom prst="rect">
            <a:avLst/>
          </a:prstGeom>
          <a:noFill/>
          <a:ln/>
        </p:spPr>
        <p:txBody>
          <a:bodyPr wrap="square" lIns="0" tIns="0" rIns="0" bIns="0" rtlCol="0" anchor="ctr"/>
          <a:lstStyle/>
          <a:p>
            <a:pPr indent="0" marL="0">
              <a:buNone/>
            </a:pPr>
            <a:r>
              <a:rPr lang="en-US" sz="1500" b="1" dirty="0">
                <a:solidFill>
                  <a:srgbClr val="2B2A28"/>
                </a:solidFill>
                <a:latin typeface="Cambria" pitchFamily="34" charset="0"/>
                <a:ea typeface="Cambria" pitchFamily="34" charset="-122"/>
                <a:cs typeface="Cambria" pitchFamily="34" charset="-120"/>
              </a:rPr>
              <a:t>Baseline &amp; decisions</a:t>
            </a:r>
            <a:endParaRPr lang="en-US" sz="1500" dirty="0"/>
          </a:p>
        </p:txBody>
      </p:sp>
      <p:sp>
        <p:nvSpPr>
          <p:cNvPr id="34" name="Text 32"/>
          <p:cNvSpPr txBox="1"/>
          <p:nvPr/>
        </p:nvSpPr>
        <p:spPr>
          <a:xfrm>
            <a:off x="8247888" y="4544568"/>
            <a:ext cx="320040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Export products, orders and email list from CityMax</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Freeze a baseline: sales, traffic, rankings, AI answers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Choose the wholesale set-up and launch date</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Get 2–3 quotes; hire a Shopify Partner</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33</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WEB BUILD · NINE STAGES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Most of a safe migration is preparation</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138160" cy="914400"/>
        </p:xfrm>
        <a:graphic>
          <a:graphicData uri="http://schemas.openxmlformats.org/drawingml/2006/table">
            <a:tbl>
              <a:tblPr/>
              <a:tblGrid>
                <a:gridCol w="411480"/>
                <a:gridCol w="1691640"/>
                <a:gridCol w="3566160"/>
                <a:gridCol w="1600200"/>
                <a:gridCol w="868680"/>
              </a:tblGrid>
              <a:tr h="329184">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Who</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1</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Inventory &amp; URL map</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List every current page; keep, merge or retire; map old URL → new URL</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Digital Lead + SEO helper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Oct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2</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Platform &amp; builder</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Confirm Shopify; hire a freelance Shopify Partner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Owners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Oct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3</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Build on staging</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Theme, catalog, checkout, wholesale area, bookings. Hidden from Google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Developer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Nov–Dec</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4</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Content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Products, recipes, FAQ, story pages; titles, meta and schema from day one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Content lead + AI helpers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Nov–Dec</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5</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Redirects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A 301 redirect for every old URL, tested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Developer + SEO helper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Dec</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6</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Measurement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GA4, Tag Manager, Search Console, consent banner; every event tested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Developer + Digital Lead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Dec</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7</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QA</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Checkout, mobile, shipping, tax and forms on real devices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Developer + CS lead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Early Jan</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8</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Launch</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Point DNS; remove the staging noindex; submit the new sitemap</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Developer + Digital Lead</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Jan</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2B2A28"/>
                          </a:solidFill>
                          <a:latin typeface="Cambria" pitchFamily="34" charset="0"/>
                          <a:ea typeface="Cambria" pitchFamily="34" charset="-122"/>
                          <a:cs typeface="Cambria" pitchFamily="34" charset="-120"/>
                        </a:rPr>
                        <a:t>9</a:t>
                      </a:r>
                      <a:endParaRPr lang="en-US" sz="1300" dirty="0">
                        <a:latin typeface="Cambria" charset="0"/>
                        <a:ea typeface="Cambria" charset="0"/>
                        <a:cs typeface="Cambria"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Monitor</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404s, indexing, rankings and sales daily for 2–4 weeks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Digital Lead + SEO helper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Jan–Feb</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6" name="Shape 3"/>
          <p:cNvSpPr/>
          <p:nvPr/>
        </p:nvSpPr>
        <p:spPr>
          <a:xfrm>
            <a:off x="8961120" y="1508760"/>
            <a:ext cx="2651760" cy="4443984"/>
          </a:xfrm>
          <a:prstGeom prst="roundRect">
            <a:avLst>
              <a:gd name="adj" fmla="val 2759"/>
            </a:avLst>
          </a:prstGeom>
          <a:solidFill>
            <a:srgbClr val="2B2A28"/>
          </a:solidFill>
          <a:ln w="12700">
            <a:solidFill>
              <a:srgbClr val="2B2A28"/>
            </a:solidFill>
            <a:prstDash val="solid"/>
          </a:ln>
        </p:spPr>
      </p:sp>
      <p:sp>
        <p:nvSpPr>
          <p:cNvPr id="7" name="Text 4"/>
          <p:cNvSpPr txBox="1"/>
          <p:nvPr/>
        </p:nvSpPr>
        <p:spPr>
          <a:xfrm>
            <a:off x="9189720" y="1645920"/>
            <a:ext cx="2194560" cy="4206240"/>
          </a:xfrm>
          <a:prstGeom prst="rect">
            <a:avLst/>
          </a:prstGeom>
          <a:noFill/>
          <a:ln/>
        </p:spPr>
        <p:txBody>
          <a:bodyPr wrap="square" lIns="0" tIns="0" rIns="0" bIns="0" rtlCol="0" anchor="t"/>
          <a:lstStyle/>
          <a:p>
            <a:pPr indent="0" marL="0">
              <a:buNone/>
            </a:pPr>
            <a:r>
              <a:rPr lang="en-US" sz="1100" b="1" spc="100" kern="0" dirty="0">
                <a:solidFill>
                  <a:srgbClr val="C8922F"/>
                </a:solidFill>
                <a:latin typeface="Calibri" pitchFamily="34" charset="0"/>
                <a:ea typeface="Calibri" pitchFamily="34" charset="-122"/>
                <a:cs typeface="Calibri" pitchFamily="34" charset="-120"/>
              </a:rPr>
              <a:t>THREE THINGS THAT KILL TRAFFIC</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300" dirty="0">
                <a:solidFill>
                  <a:srgbClr val="EDE7D8"/>
                </a:solidFill>
                <a:latin typeface="Calibri" pitchFamily="34" charset="0"/>
                <a:ea typeface="Calibri" pitchFamily="34" charset="-122"/>
                <a:cs typeface="Calibri" pitchFamily="34" charset="-120"/>
              </a:rPr>
              <a:t>1. Old URLs dropped with no 301 redirect</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300" dirty="0">
                <a:solidFill>
                  <a:srgbClr val="EDE7D8"/>
                </a:solidFill>
                <a:latin typeface="Calibri" pitchFamily="34" charset="0"/>
                <a:ea typeface="Calibri" pitchFamily="34" charset="-122"/>
                <a:cs typeface="Calibri" pitchFamily="34" charset="-120"/>
              </a:rPr>
              <a:t>2. The staging 'noindex' left on at launch</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300" dirty="0">
                <a:solidFill>
                  <a:srgbClr val="EDE7D8"/>
                </a:solidFill>
                <a:latin typeface="Calibri" pitchFamily="34" charset="0"/>
                <a:ea typeface="Calibri" pitchFamily="34" charset="-122"/>
                <a:cs typeface="Calibri" pitchFamily="34" charset="-120"/>
              </a:rPr>
              <a:t>3. Content thinned or dropped in the move</a:t>
            </a:r>
            <a:endParaRPr lang="en-US" sz="11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50" dirty="0">
                <a:solidFill>
                  <a:srgbClr val="D9C7A3"/>
                </a:solidFill>
                <a:latin typeface="Calibri" pitchFamily="34" charset="0"/>
                <a:ea typeface="Calibri" pitchFamily="34" charset="-122"/>
                <a:cs typeface="Calibri" pitchFamily="34" charset="-120"/>
              </a:rPr>
              <a:t>Stages 1, 5 and 8 exist to stop these. Keep the domain: never change platform and domain at once.</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34</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WEB BUILD · WHAT THE NEW SITE MUST DO</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Four jobs, one store</a:t>
            </a:r>
            <a:endParaRPr lang="en-US" sz="3000" dirty="0"/>
          </a:p>
        </p:txBody>
      </p:sp>
      <p:sp>
        <p:nvSpPr>
          <p:cNvPr id="5" name="Shape 3"/>
          <p:cNvSpPr/>
          <p:nvPr/>
        </p:nvSpPr>
        <p:spPr>
          <a:xfrm>
            <a:off x="548640" y="1508760"/>
            <a:ext cx="2606040" cy="548640"/>
          </a:xfrm>
          <a:prstGeom prst="roundRect">
            <a:avLst>
              <a:gd name="adj" fmla="val 13333"/>
            </a:avLst>
          </a:prstGeom>
          <a:solidFill>
            <a:srgbClr val="2E4057"/>
          </a:solidFill>
          <a:ln w="12700">
            <a:solidFill>
              <a:srgbClr val="2E4057"/>
            </a:solidFill>
            <a:prstDash val="solid"/>
          </a:ln>
        </p:spPr>
      </p:sp>
      <p:sp>
        <p:nvSpPr>
          <p:cNvPr id="6" name="Text 4"/>
          <p:cNvSpPr txBox="1"/>
          <p:nvPr/>
        </p:nvSpPr>
        <p:spPr>
          <a:xfrm>
            <a:off x="731520" y="1508760"/>
            <a:ext cx="2240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Sell direct</a:t>
            </a:r>
            <a:endParaRPr lang="en-US" sz="1500" dirty="0"/>
          </a:p>
        </p:txBody>
      </p:sp>
      <p:sp>
        <p:nvSpPr>
          <p:cNvPr id="7" name="Shape 5"/>
          <p:cNvSpPr/>
          <p:nvPr/>
        </p:nvSpPr>
        <p:spPr>
          <a:xfrm>
            <a:off x="548640" y="2167128"/>
            <a:ext cx="2606040" cy="3685032"/>
          </a:xfrm>
          <a:prstGeom prst="roundRect">
            <a:avLst>
              <a:gd name="adj" fmla="val 2807"/>
            </a:avLst>
          </a:prstGeom>
          <a:solidFill>
            <a:srgbClr val="FFFFFF"/>
          </a:solidFill>
          <a:ln w="9525">
            <a:solidFill>
              <a:srgbClr val="D9C7A3"/>
            </a:solidFill>
            <a:prstDash val="solid"/>
          </a:ln>
        </p:spPr>
      </p:sp>
      <p:sp>
        <p:nvSpPr>
          <p:cNvPr id="8" name="Text 6"/>
          <p:cNvSpPr txBox="1"/>
          <p:nvPr/>
        </p:nvSpPr>
        <p:spPr>
          <a:xfrm>
            <a:off x="731520" y="2313432"/>
            <a:ext cx="22860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Product pages with real photos and schema</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Gift bundles and seasonal collections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Live shipping rates; free shipping at $59 with a progress bar</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Abandoned-cart emails at 1, 24 and 72 hours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Email sign-up offering a recipe card</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Product reviews</a:t>
            </a:r>
            <a:endParaRPr lang="en-US" sz="1150" dirty="0"/>
          </a:p>
        </p:txBody>
      </p:sp>
      <p:sp>
        <p:nvSpPr>
          <p:cNvPr id="9" name="Shape 7"/>
          <p:cNvSpPr/>
          <p:nvPr/>
        </p:nvSpPr>
        <p:spPr>
          <a:xfrm>
            <a:off x="685800" y="5120640"/>
            <a:ext cx="2331720" cy="594360"/>
          </a:xfrm>
          <a:prstGeom prst="roundRect">
            <a:avLst>
              <a:gd name="adj" fmla="val 9231"/>
            </a:avLst>
          </a:prstGeom>
          <a:solidFill>
            <a:srgbClr val="F0E3C4"/>
          </a:solidFill>
          <a:ln w="12700">
            <a:solidFill>
              <a:srgbClr val="F0E3C4"/>
            </a:solidFill>
            <a:prstDash val="solid"/>
          </a:ln>
        </p:spPr>
      </p:sp>
      <p:sp>
        <p:nvSpPr>
          <p:cNvPr id="10" name="Text 8"/>
          <p:cNvSpPr txBox="1"/>
          <p:nvPr/>
        </p:nvSpPr>
        <p:spPr>
          <a:xfrm>
            <a:off x="777240" y="5120640"/>
            <a:ext cx="2148840" cy="594360"/>
          </a:xfrm>
          <a:prstGeom prst="rect">
            <a:avLst/>
          </a:prstGeom>
          <a:noFill/>
          <a:ln/>
        </p:spPr>
        <p:txBody>
          <a:bodyPr wrap="square" lIns="0" tIns="0" rIns="0" bIns="0" rtlCol="0" anchor="ctr"/>
          <a:lstStyle/>
          <a:p>
            <a:pPr indent="0" marL="0">
              <a:buNone/>
            </a:pPr>
            <a:r>
              <a:rPr lang="en-US" sz="1050" b="1" dirty="0">
                <a:solidFill>
                  <a:srgbClr val="8A6115"/>
                </a:solidFill>
                <a:latin typeface="Calibri" pitchFamily="34" charset="0"/>
                <a:ea typeface="Calibri" pitchFamily="34" charset="-122"/>
                <a:cs typeface="Calibri" pitchFamily="34" charset="-120"/>
              </a:rPr>
              <a:t>Shopify · Klaviyo · Judge.me</a:t>
            </a:r>
            <a:endParaRPr lang="en-US" sz="1050" dirty="0"/>
          </a:p>
        </p:txBody>
      </p:sp>
      <p:sp>
        <p:nvSpPr>
          <p:cNvPr id="11" name="Shape 9"/>
          <p:cNvSpPr/>
          <p:nvPr/>
        </p:nvSpPr>
        <p:spPr>
          <a:xfrm>
            <a:off x="3367735" y="1508760"/>
            <a:ext cx="2606040" cy="548640"/>
          </a:xfrm>
          <a:prstGeom prst="roundRect">
            <a:avLst>
              <a:gd name="adj" fmla="val 13333"/>
            </a:avLst>
          </a:prstGeom>
          <a:solidFill>
            <a:srgbClr val="6E6A63"/>
          </a:solidFill>
          <a:ln w="12700">
            <a:solidFill>
              <a:srgbClr val="6E6A63"/>
            </a:solidFill>
            <a:prstDash val="solid"/>
          </a:ln>
        </p:spPr>
      </p:sp>
      <p:sp>
        <p:nvSpPr>
          <p:cNvPr id="12" name="Text 10"/>
          <p:cNvSpPr txBox="1"/>
          <p:nvPr/>
        </p:nvSpPr>
        <p:spPr>
          <a:xfrm>
            <a:off x="3550615" y="1508760"/>
            <a:ext cx="2240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Sell wholesale</a:t>
            </a:r>
            <a:endParaRPr lang="en-US" sz="1500" dirty="0"/>
          </a:p>
        </p:txBody>
      </p:sp>
      <p:sp>
        <p:nvSpPr>
          <p:cNvPr id="13" name="Shape 11"/>
          <p:cNvSpPr/>
          <p:nvPr/>
        </p:nvSpPr>
        <p:spPr>
          <a:xfrm>
            <a:off x="3367735" y="2167128"/>
            <a:ext cx="2606040" cy="3685032"/>
          </a:xfrm>
          <a:prstGeom prst="roundRect">
            <a:avLst>
              <a:gd name="adj" fmla="val 2807"/>
            </a:avLst>
          </a:prstGeom>
          <a:solidFill>
            <a:srgbClr val="FFFFFF"/>
          </a:solidFill>
          <a:ln w="9525">
            <a:solidFill>
              <a:srgbClr val="D9C7A3"/>
            </a:solidFill>
            <a:prstDash val="solid"/>
          </a:ln>
        </p:spPr>
      </p:sp>
      <p:sp>
        <p:nvSpPr>
          <p:cNvPr id="14" name="Text 12"/>
          <p:cNvSpPr txBox="1"/>
          <p:nvPr/>
        </p:nvSpPr>
        <p:spPr>
          <a:xfrm>
            <a:off x="3550615" y="2313432"/>
            <a:ext cx="22860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Gated wholesale area with tier pricing</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Online application form</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Case packs and minimum orders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Net-terms invoices and quick reorder</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Downloadable line sheet</a:t>
            </a:r>
            <a:endParaRPr lang="en-US" sz="1150" dirty="0"/>
          </a:p>
        </p:txBody>
      </p:sp>
      <p:sp>
        <p:nvSpPr>
          <p:cNvPr id="15" name="Shape 13"/>
          <p:cNvSpPr/>
          <p:nvPr/>
        </p:nvSpPr>
        <p:spPr>
          <a:xfrm>
            <a:off x="3504895" y="5120640"/>
            <a:ext cx="2331720" cy="594360"/>
          </a:xfrm>
          <a:prstGeom prst="roundRect">
            <a:avLst>
              <a:gd name="adj" fmla="val 9231"/>
            </a:avLst>
          </a:prstGeom>
          <a:solidFill>
            <a:srgbClr val="F0E3C4"/>
          </a:solidFill>
          <a:ln w="12700">
            <a:solidFill>
              <a:srgbClr val="F0E3C4"/>
            </a:solidFill>
            <a:prstDash val="solid"/>
          </a:ln>
        </p:spPr>
      </p:sp>
      <p:sp>
        <p:nvSpPr>
          <p:cNvPr id="16" name="Text 14"/>
          <p:cNvSpPr txBox="1"/>
          <p:nvPr/>
        </p:nvSpPr>
        <p:spPr>
          <a:xfrm>
            <a:off x="3596335" y="5120640"/>
            <a:ext cx="2148840" cy="594360"/>
          </a:xfrm>
          <a:prstGeom prst="rect">
            <a:avLst/>
          </a:prstGeom>
          <a:noFill/>
          <a:ln/>
        </p:spPr>
        <p:txBody>
          <a:bodyPr wrap="square" lIns="0" tIns="0" rIns="0" bIns="0" rtlCol="0" anchor="ctr"/>
          <a:lstStyle/>
          <a:p>
            <a:pPr indent="0" marL="0">
              <a:buNone/>
            </a:pPr>
            <a:r>
              <a:rPr lang="en-US" sz="1050" b="1" dirty="0">
                <a:solidFill>
                  <a:srgbClr val="8A6115"/>
                </a:solidFill>
                <a:latin typeface="Calibri" pitchFamily="34" charset="0"/>
                <a:ea typeface="Calibri" pitchFamily="34" charset="-122"/>
                <a:cs typeface="Calibri" pitchFamily="34" charset="-120"/>
              </a:rPr>
              <a:t>Wholesale app or Shopify B2B · QuickBooks</a:t>
            </a:r>
            <a:endParaRPr lang="en-US" sz="1050" dirty="0"/>
          </a:p>
        </p:txBody>
      </p:sp>
      <p:sp>
        <p:nvSpPr>
          <p:cNvPr id="17" name="Shape 15"/>
          <p:cNvSpPr/>
          <p:nvPr/>
        </p:nvSpPr>
        <p:spPr>
          <a:xfrm>
            <a:off x="6186830" y="1508760"/>
            <a:ext cx="2606040" cy="548640"/>
          </a:xfrm>
          <a:prstGeom prst="roundRect">
            <a:avLst>
              <a:gd name="adj" fmla="val 13333"/>
            </a:avLst>
          </a:prstGeom>
          <a:solidFill>
            <a:srgbClr val="4A5359"/>
          </a:solidFill>
          <a:ln w="12700">
            <a:solidFill>
              <a:srgbClr val="4A5359"/>
            </a:solidFill>
            <a:prstDash val="solid"/>
          </a:ln>
        </p:spPr>
      </p:sp>
      <p:sp>
        <p:nvSpPr>
          <p:cNvPr id="18" name="Text 16"/>
          <p:cNvSpPr txBox="1"/>
          <p:nvPr/>
        </p:nvSpPr>
        <p:spPr>
          <a:xfrm>
            <a:off x="6369710" y="1508760"/>
            <a:ext cx="2240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Bring people to the mill</a:t>
            </a:r>
            <a:endParaRPr lang="en-US" sz="1500" dirty="0"/>
          </a:p>
        </p:txBody>
      </p:sp>
      <p:sp>
        <p:nvSpPr>
          <p:cNvPr id="19" name="Shape 17"/>
          <p:cNvSpPr/>
          <p:nvPr/>
        </p:nvSpPr>
        <p:spPr>
          <a:xfrm>
            <a:off x="6186830" y="2167128"/>
            <a:ext cx="2606040" cy="3685032"/>
          </a:xfrm>
          <a:prstGeom prst="roundRect">
            <a:avLst>
              <a:gd name="adj" fmla="val 2807"/>
            </a:avLst>
          </a:prstGeom>
          <a:solidFill>
            <a:srgbClr val="FFFFFF"/>
          </a:solidFill>
          <a:ln w="9525">
            <a:solidFill>
              <a:srgbClr val="D9C7A3"/>
            </a:solidFill>
            <a:prstDash val="solid"/>
          </a:ln>
        </p:spPr>
      </p:sp>
      <p:sp>
        <p:nvSpPr>
          <p:cNvPr id="20" name="Text 18"/>
          <p:cNvSpPr txBox="1"/>
          <p:nvPr/>
        </p:nvSpPr>
        <p:spPr>
          <a:xfrm>
            <a:off x="6369710" y="2313432"/>
            <a:ext cx="22860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Tour, event and kayak booking</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Hours, directions and map</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Festival and event pages with Event schema</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Gift cards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Private events and weddings inquiry</a:t>
            </a:r>
            <a:endParaRPr lang="en-US" sz="1150" dirty="0"/>
          </a:p>
        </p:txBody>
      </p:sp>
      <p:sp>
        <p:nvSpPr>
          <p:cNvPr id="21" name="Shape 19"/>
          <p:cNvSpPr/>
          <p:nvPr/>
        </p:nvSpPr>
        <p:spPr>
          <a:xfrm>
            <a:off x="6323990" y="5120640"/>
            <a:ext cx="2331720" cy="594360"/>
          </a:xfrm>
          <a:prstGeom prst="roundRect">
            <a:avLst>
              <a:gd name="adj" fmla="val 9231"/>
            </a:avLst>
          </a:prstGeom>
          <a:solidFill>
            <a:srgbClr val="F0E3C4"/>
          </a:solidFill>
          <a:ln w="12700">
            <a:solidFill>
              <a:srgbClr val="F0E3C4"/>
            </a:solidFill>
            <a:prstDash val="solid"/>
          </a:ln>
        </p:spPr>
      </p:sp>
      <p:sp>
        <p:nvSpPr>
          <p:cNvPr id="22" name="Text 20"/>
          <p:cNvSpPr txBox="1"/>
          <p:nvPr/>
        </p:nvSpPr>
        <p:spPr>
          <a:xfrm>
            <a:off x="6415430" y="5120640"/>
            <a:ext cx="2148840" cy="594360"/>
          </a:xfrm>
          <a:prstGeom prst="rect">
            <a:avLst/>
          </a:prstGeom>
          <a:noFill/>
          <a:ln/>
        </p:spPr>
        <p:txBody>
          <a:bodyPr wrap="square" lIns="0" tIns="0" rIns="0" bIns="0" rtlCol="0" anchor="ctr"/>
          <a:lstStyle/>
          <a:p>
            <a:pPr indent="0" marL="0">
              <a:buNone/>
            </a:pPr>
            <a:r>
              <a:rPr lang="en-US" sz="1050" b="1" dirty="0">
                <a:solidFill>
                  <a:srgbClr val="8A6115"/>
                </a:solidFill>
                <a:latin typeface="Calibri" pitchFamily="34" charset="0"/>
                <a:ea typeface="Calibri" pitchFamily="34" charset="-122"/>
                <a:cs typeface="Calibri" pitchFamily="34" charset="-120"/>
              </a:rPr>
              <a:t>FareHarbor or Xola · Google Business Profile</a:t>
            </a:r>
            <a:endParaRPr lang="en-US" sz="1050" dirty="0"/>
          </a:p>
        </p:txBody>
      </p:sp>
      <p:sp>
        <p:nvSpPr>
          <p:cNvPr id="23" name="Shape 21"/>
          <p:cNvSpPr/>
          <p:nvPr/>
        </p:nvSpPr>
        <p:spPr>
          <a:xfrm>
            <a:off x="9005926" y="1508760"/>
            <a:ext cx="2606040" cy="548640"/>
          </a:xfrm>
          <a:prstGeom prst="roundRect">
            <a:avLst>
              <a:gd name="adj" fmla="val 13333"/>
            </a:avLst>
          </a:prstGeom>
          <a:solidFill>
            <a:srgbClr val="2B2A28"/>
          </a:solidFill>
          <a:ln w="12700">
            <a:solidFill>
              <a:srgbClr val="2B2A28"/>
            </a:solidFill>
            <a:prstDash val="solid"/>
          </a:ln>
        </p:spPr>
      </p:sp>
      <p:sp>
        <p:nvSpPr>
          <p:cNvPr id="24" name="Text 22"/>
          <p:cNvSpPr txBox="1"/>
          <p:nvPr/>
        </p:nvSpPr>
        <p:spPr>
          <a:xfrm>
            <a:off x="9188806" y="1508760"/>
            <a:ext cx="2240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Story and search</a:t>
            </a:r>
            <a:endParaRPr lang="en-US" sz="1500" dirty="0"/>
          </a:p>
        </p:txBody>
      </p:sp>
      <p:sp>
        <p:nvSpPr>
          <p:cNvPr id="25" name="Shape 23"/>
          <p:cNvSpPr/>
          <p:nvPr/>
        </p:nvSpPr>
        <p:spPr>
          <a:xfrm>
            <a:off x="9005926" y="2167128"/>
            <a:ext cx="2606040" cy="3685032"/>
          </a:xfrm>
          <a:prstGeom prst="roundRect">
            <a:avLst>
              <a:gd name="adj" fmla="val 2807"/>
            </a:avLst>
          </a:prstGeom>
          <a:solidFill>
            <a:srgbClr val="FFFFFF"/>
          </a:solidFill>
          <a:ln w="9525">
            <a:solidFill>
              <a:srgbClr val="D9C7A3"/>
            </a:solidFill>
            <a:prstDash val="solid"/>
          </a:ln>
        </p:spPr>
      </p:sp>
      <p:sp>
        <p:nvSpPr>
          <p:cNvPr id="26" name="Text 24"/>
          <p:cNvSpPr txBox="1"/>
          <p:nvPr/>
        </p:nvSpPr>
        <p:spPr>
          <a:xfrm>
            <a:off x="9188806" y="2313432"/>
            <a:ext cx="22860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Our story and the method</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Recipe library linked to products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FAQ written as direct answers</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Fast, mobile-first, accessible (WCAG 2.1 AA)</a:t>
            </a:r>
            <a:endParaRPr lang="en-US" sz="1150" dirty="0"/>
          </a:p>
          <a:p>
            <a:pPr marL="342900" indent="-342900">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Structured data and a cookie-consent banner</a:t>
            </a:r>
            <a:endParaRPr lang="en-US" sz="1150" dirty="0"/>
          </a:p>
        </p:txBody>
      </p:sp>
      <p:sp>
        <p:nvSpPr>
          <p:cNvPr id="27" name="Shape 25"/>
          <p:cNvSpPr/>
          <p:nvPr/>
        </p:nvSpPr>
        <p:spPr>
          <a:xfrm>
            <a:off x="9143086" y="5120640"/>
            <a:ext cx="2331720" cy="594360"/>
          </a:xfrm>
          <a:prstGeom prst="roundRect">
            <a:avLst>
              <a:gd name="adj" fmla="val 9231"/>
            </a:avLst>
          </a:prstGeom>
          <a:solidFill>
            <a:srgbClr val="F0E3C4"/>
          </a:solidFill>
          <a:ln w="12700">
            <a:solidFill>
              <a:srgbClr val="F0E3C4"/>
            </a:solidFill>
            <a:prstDash val="solid"/>
          </a:ln>
        </p:spPr>
      </p:sp>
      <p:sp>
        <p:nvSpPr>
          <p:cNvPr id="28" name="Text 26"/>
          <p:cNvSpPr txBox="1"/>
          <p:nvPr/>
        </p:nvSpPr>
        <p:spPr>
          <a:xfrm>
            <a:off x="9234526" y="5120640"/>
            <a:ext cx="2148840" cy="594360"/>
          </a:xfrm>
          <a:prstGeom prst="rect">
            <a:avLst/>
          </a:prstGeom>
          <a:noFill/>
          <a:ln/>
        </p:spPr>
        <p:txBody>
          <a:bodyPr wrap="square" lIns="0" tIns="0" rIns="0" bIns="0" rtlCol="0" anchor="ctr"/>
          <a:lstStyle/>
          <a:p>
            <a:pPr indent="0" marL="0">
              <a:buNone/>
            </a:pPr>
            <a:r>
              <a:rPr lang="en-US" sz="1050" b="1" dirty="0">
                <a:solidFill>
                  <a:srgbClr val="8A6115"/>
                </a:solidFill>
                <a:latin typeface="Calibri" pitchFamily="34" charset="0"/>
                <a:ea typeface="Calibri" pitchFamily="34" charset="-122"/>
                <a:cs typeface="Calibri" pitchFamily="34" charset="-120"/>
              </a:rPr>
              <a:t>Shopify blog · schema · Shopify Inbox chat</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35</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ANALYTICS · MEASURE FROM DAY ONE</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Ten set-up steps, one weekly dashboard</a:t>
            </a:r>
            <a:endParaRPr lang="en-US" sz="3000" dirty="0"/>
          </a:p>
        </p:txBody>
      </p:sp>
      <p:sp>
        <p:nvSpPr>
          <p:cNvPr id="5" name="Shape 3"/>
          <p:cNvSpPr/>
          <p:nvPr/>
        </p:nvSpPr>
        <p:spPr>
          <a:xfrm>
            <a:off x="548640" y="1545336"/>
            <a:ext cx="347472" cy="347472"/>
          </a:xfrm>
          <a:prstGeom prst="ellipse">
            <a:avLst/>
          </a:prstGeom>
          <a:solidFill>
            <a:srgbClr val="C8922F"/>
          </a:solidFill>
          <a:ln w="12700">
            <a:solidFill>
              <a:srgbClr val="C8922F"/>
            </a:solidFill>
            <a:prstDash val="solid"/>
          </a:ln>
        </p:spPr>
      </p:sp>
      <p:sp>
        <p:nvSpPr>
          <p:cNvPr id="6" name="Text 4"/>
          <p:cNvSpPr txBox="1"/>
          <p:nvPr/>
        </p:nvSpPr>
        <p:spPr>
          <a:xfrm>
            <a:off x="548640" y="1545336"/>
            <a:ext cx="347472" cy="347472"/>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1</a:t>
            </a:r>
            <a:endParaRPr lang="en-US" sz="1200" dirty="0"/>
          </a:p>
        </p:txBody>
      </p:sp>
      <p:sp>
        <p:nvSpPr>
          <p:cNvPr id="7" name="Text 5"/>
          <p:cNvSpPr txBox="1"/>
          <p:nvPr/>
        </p:nvSpPr>
        <p:spPr>
          <a:xfrm>
            <a:off x="1005840" y="1508760"/>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A business Google account owns everything</a:t>
            </a:r>
            <a:endParaRPr lang="en-US" sz="1200" dirty="0"/>
          </a:p>
        </p:txBody>
      </p:sp>
      <p:sp>
        <p:nvSpPr>
          <p:cNvPr id="8" name="Shape 6"/>
          <p:cNvSpPr/>
          <p:nvPr/>
        </p:nvSpPr>
        <p:spPr>
          <a:xfrm>
            <a:off x="548640" y="1993392"/>
            <a:ext cx="347472" cy="347472"/>
          </a:xfrm>
          <a:prstGeom prst="ellipse">
            <a:avLst/>
          </a:prstGeom>
          <a:solidFill>
            <a:srgbClr val="C8922F"/>
          </a:solidFill>
          <a:ln w="12700">
            <a:solidFill>
              <a:srgbClr val="C8922F"/>
            </a:solidFill>
            <a:prstDash val="solid"/>
          </a:ln>
        </p:spPr>
      </p:sp>
      <p:sp>
        <p:nvSpPr>
          <p:cNvPr id="9" name="Text 7"/>
          <p:cNvSpPr txBox="1"/>
          <p:nvPr/>
        </p:nvSpPr>
        <p:spPr>
          <a:xfrm>
            <a:off x="548640" y="1993392"/>
            <a:ext cx="347472" cy="347472"/>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1005840" y="1956816"/>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Write the tracking plan: what counts as a conversion</a:t>
            </a:r>
            <a:endParaRPr lang="en-US" sz="1200" dirty="0"/>
          </a:p>
        </p:txBody>
      </p:sp>
      <p:sp>
        <p:nvSpPr>
          <p:cNvPr id="11" name="Shape 9"/>
          <p:cNvSpPr/>
          <p:nvPr/>
        </p:nvSpPr>
        <p:spPr>
          <a:xfrm>
            <a:off x="548640" y="2441448"/>
            <a:ext cx="347472" cy="347472"/>
          </a:xfrm>
          <a:prstGeom prst="ellipse">
            <a:avLst/>
          </a:prstGeom>
          <a:solidFill>
            <a:srgbClr val="C8922F"/>
          </a:solidFill>
          <a:ln w="12700">
            <a:solidFill>
              <a:srgbClr val="C8922F"/>
            </a:solidFill>
            <a:prstDash val="solid"/>
          </a:ln>
        </p:spPr>
      </p:sp>
      <p:sp>
        <p:nvSpPr>
          <p:cNvPr id="12" name="Text 10"/>
          <p:cNvSpPr txBox="1"/>
          <p:nvPr/>
        </p:nvSpPr>
        <p:spPr>
          <a:xfrm>
            <a:off x="548640" y="2441448"/>
            <a:ext cx="347472" cy="347472"/>
          </a:xfrm>
          <a:prstGeom prst="rect">
            <a:avLst/>
          </a:prstGeom>
          <a:noFill/>
          <a:ln/>
        </p:spPr>
        <p:txBody>
          <a:bodyPr wrap="square" lIns="0" tIns="0" rIns="0" bIns="0" rtlCol="0" anchor="ctr"/>
          <a:lstStyle/>
          <a:p>
            <a:pPr algn="ctr" indent="0" marL="0">
              <a:buNone/>
            </a:pPr>
            <a:r>
              <a:rPr lang="en-US" sz="1200" b="1" dirty="0">
                <a:solidFill>
                  <a:srgbClr val="2B2A28"/>
                </a:solidFill>
                <a:latin typeface="Cambria" pitchFamily="34" charset="0"/>
                <a:ea typeface="Cambria" pitchFamily="34" charset="-122"/>
                <a:cs typeface="Cambria" pitchFamily="34" charset="-120"/>
              </a:rPr>
              <a:t>3</a:t>
            </a:r>
            <a:endParaRPr lang="en-US" sz="1200" dirty="0"/>
          </a:p>
        </p:txBody>
      </p:sp>
      <p:sp>
        <p:nvSpPr>
          <p:cNvPr id="13" name="Text 11"/>
          <p:cNvSpPr txBox="1"/>
          <p:nvPr/>
        </p:nvSpPr>
        <p:spPr>
          <a:xfrm>
            <a:off x="1005840" y="2404872"/>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GA4 through Shopify's Google app (store events built in)</a:t>
            </a:r>
            <a:endParaRPr lang="en-US" sz="1200" dirty="0"/>
          </a:p>
        </p:txBody>
      </p:sp>
      <p:sp>
        <p:nvSpPr>
          <p:cNvPr id="14" name="Shape 12"/>
          <p:cNvSpPr/>
          <p:nvPr/>
        </p:nvSpPr>
        <p:spPr>
          <a:xfrm>
            <a:off x="548640" y="2889504"/>
            <a:ext cx="347472" cy="347472"/>
          </a:xfrm>
          <a:prstGeom prst="ellipse">
            <a:avLst/>
          </a:prstGeom>
          <a:solidFill>
            <a:srgbClr val="6E6A63"/>
          </a:solidFill>
          <a:ln w="12700">
            <a:solidFill>
              <a:srgbClr val="6E6A63"/>
            </a:solidFill>
            <a:prstDash val="solid"/>
          </a:ln>
        </p:spPr>
      </p:sp>
      <p:sp>
        <p:nvSpPr>
          <p:cNvPr id="15" name="Text 13"/>
          <p:cNvSpPr txBox="1"/>
          <p:nvPr/>
        </p:nvSpPr>
        <p:spPr>
          <a:xfrm>
            <a:off x="548640" y="28895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6" name="Text 14"/>
          <p:cNvSpPr txBox="1"/>
          <p:nvPr/>
        </p:nvSpPr>
        <p:spPr>
          <a:xfrm>
            <a:off x="1005840" y="2852928"/>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Tag Manager for the rest: wholesale form, booking, sign-up, phone click</a:t>
            </a:r>
            <a:endParaRPr lang="en-US" sz="1200" dirty="0"/>
          </a:p>
        </p:txBody>
      </p:sp>
      <p:sp>
        <p:nvSpPr>
          <p:cNvPr id="17" name="Shape 15"/>
          <p:cNvSpPr/>
          <p:nvPr/>
        </p:nvSpPr>
        <p:spPr>
          <a:xfrm>
            <a:off x="548640" y="3337560"/>
            <a:ext cx="347472" cy="347472"/>
          </a:xfrm>
          <a:prstGeom prst="ellipse">
            <a:avLst/>
          </a:prstGeom>
          <a:solidFill>
            <a:srgbClr val="6E6A63"/>
          </a:solidFill>
          <a:ln w="12700">
            <a:solidFill>
              <a:srgbClr val="6E6A63"/>
            </a:solidFill>
            <a:prstDash val="solid"/>
          </a:ln>
        </p:spPr>
      </p:sp>
      <p:sp>
        <p:nvSpPr>
          <p:cNvPr id="18" name="Text 16"/>
          <p:cNvSpPr txBox="1"/>
          <p:nvPr/>
        </p:nvSpPr>
        <p:spPr>
          <a:xfrm>
            <a:off x="548640" y="33375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19" name="Text 17"/>
          <p:cNvSpPr txBox="1"/>
          <p:nvPr/>
        </p:nvSpPr>
        <p:spPr>
          <a:xfrm>
            <a:off x="1005840" y="3300984"/>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Cookie-consent banner (Shopify customer privacy)</a:t>
            </a:r>
            <a:endParaRPr lang="en-US" sz="1200" dirty="0"/>
          </a:p>
        </p:txBody>
      </p:sp>
      <p:sp>
        <p:nvSpPr>
          <p:cNvPr id="20" name="Shape 18"/>
          <p:cNvSpPr/>
          <p:nvPr/>
        </p:nvSpPr>
        <p:spPr>
          <a:xfrm>
            <a:off x="548640" y="3785616"/>
            <a:ext cx="347472" cy="347472"/>
          </a:xfrm>
          <a:prstGeom prst="ellipse">
            <a:avLst/>
          </a:prstGeom>
          <a:solidFill>
            <a:srgbClr val="6E6A63"/>
          </a:solidFill>
          <a:ln w="12700">
            <a:solidFill>
              <a:srgbClr val="6E6A63"/>
            </a:solidFill>
            <a:prstDash val="solid"/>
          </a:ln>
        </p:spPr>
      </p:sp>
      <p:sp>
        <p:nvSpPr>
          <p:cNvPr id="21" name="Text 19"/>
          <p:cNvSpPr txBox="1"/>
          <p:nvPr/>
        </p:nvSpPr>
        <p:spPr>
          <a:xfrm>
            <a:off x="54864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2" name="Text 20"/>
          <p:cNvSpPr txBox="1"/>
          <p:nvPr/>
        </p:nvSpPr>
        <p:spPr>
          <a:xfrm>
            <a:off x="1005840" y="3749040"/>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Search Console (verified via DNS) and Bing Webmaster Tools</a:t>
            </a:r>
            <a:endParaRPr lang="en-US" sz="1200" dirty="0"/>
          </a:p>
        </p:txBody>
      </p:sp>
      <p:sp>
        <p:nvSpPr>
          <p:cNvPr id="23" name="Shape 21"/>
          <p:cNvSpPr/>
          <p:nvPr/>
        </p:nvSpPr>
        <p:spPr>
          <a:xfrm>
            <a:off x="548640" y="4233672"/>
            <a:ext cx="347472" cy="347472"/>
          </a:xfrm>
          <a:prstGeom prst="ellipse">
            <a:avLst/>
          </a:prstGeom>
          <a:solidFill>
            <a:srgbClr val="6E6A63"/>
          </a:solidFill>
          <a:ln w="12700">
            <a:solidFill>
              <a:srgbClr val="6E6A63"/>
            </a:solidFill>
            <a:prstDash val="solid"/>
          </a:ln>
        </p:spPr>
      </p:sp>
      <p:sp>
        <p:nvSpPr>
          <p:cNvPr id="24" name="Text 22"/>
          <p:cNvSpPr txBox="1"/>
          <p:nvPr/>
        </p:nvSpPr>
        <p:spPr>
          <a:xfrm>
            <a:off x="548640" y="42336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25" name="Text 23"/>
          <p:cNvSpPr txBox="1"/>
          <p:nvPr/>
        </p:nvSpPr>
        <p:spPr>
          <a:xfrm>
            <a:off x="1005840" y="4197096"/>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Microsoft Clarity for heatmaps and session recordings</a:t>
            </a:r>
            <a:endParaRPr lang="en-US" sz="1200" dirty="0"/>
          </a:p>
        </p:txBody>
      </p:sp>
      <p:sp>
        <p:nvSpPr>
          <p:cNvPr id="26" name="Shape 24"/>
          <p:cNvSpPr/>
          <p:nvPr/>
        </p:nvSpPr>
        <p:spPr>
          <a:xfrm>
            <a:off x="548640" y="4681728"/>
            <a:ext cx="347472" cy="347472"/>
          </a:xfrm>
          <a:prstGeom prst="ellipse">
            <a:avLst/>
          </a:prstGeom>
          <a:solidFill>
            <a:srgbClr val="6E6A63"/>
          </a:solidFill>
          <a:ln w="12700">
            <a:solidFill>
              <a:srgbClr val="6E6A63"/>
            </a:solidFill>
            <a:prstDash val="solid"/>
          </a:ln>
        </p:spPr>
      </p:sp>
      <p:sp>
        <p:nvSpPr>
          <p:cNvPr id="27" name="Text 25"/>
          <p:cNvSpPr txBox="1"/>
          <p:nvPr/>
        </p:nvSpPr>
        <p:spPr>
          <a:xfrm>
            <a:off x="548640" y="46817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28" name="Text 26"/>
          <p:cNvSpPr txBox="1"/>
          <p:nvPr/>
        </p:nvSpPr>
        <p:spPr>
          <a:xfrm>
            <a:off x="1005840" y="4645152"/>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Tagging rules (UTMs) for every email, post and ad</a:t>
            </a:r>
            <a:endParaRPr lang="en-US" sz="1200" dirty="0"/>
          </a:p>
        </p:txBody>
      </p:sp>
      <p:sp>
        <p:nvSpPr>
          <p:cNvPr id="29" name="Shape 27"/>
          <p:cNvSpPr/>
          <p:nvPr/>
        </p:nvSpPr>
        <p:spPr>
          <a:xfrm>
            <a:off x="548640" y="5129784"/>
            <a:ext cx="347472" cy="347472"/>
          </a:xfrm>
          <a:prstGeom prst="ellipse">
            <a:avLst/>
          </a:prstGeom>
          <a:solidFill>
            <a:srgbClr val="6E6A63"/>
          </a:solidFill>
          <a:ln w="12700">
            <a:solidFill>
              <a:srgbClr val="6E6A63"/>
            </a:solidFill>
            <a:prstDash val="solid"/>
          </a:ln>
        </p:spPr>
      </p:sp>
      <p:sp>
        <p:nvSpPr>
          <p:cNvPr id="30" name="Text 28"/>
          <p:cNvSpPr txBox="1"/>
          <p:nvPr/>
        </p:nvSpPr>
        <p:spPr>
          <a:xfrm>
            <a:off x="548640" y="5129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31" name="Text 29"/>
          <p:cNvSpPr txBox="1"/>
          <p:nvPr/>
        </p:nvSpPr>
        <p:spPr>
          <a:xfrm>
            <a:off x="1005840" y="5093208"/>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Looker Studio dashboard: Shopify, GA4, Search Console, QuickBooks</a:t>
            </a:r>
            <a:endParaRPr lang="en-US" sz="1200" dirty="0"/>
          </a:p>
        </p:txBody>
      </p:sp>
      <p:sp>
        <p:nvSpPr>
          <p:cNvPr id="32" name="Shape 30"/>
          <p:cNvSpPr/>
          <p:nvPr/>
        </p:nvSpPr>
        <p:spPr>
          <a:xfrm>
            <a:off x="548640" y="5577840"/>
            <a:ext cx="347472" cy="347472"/>
          </a:xfrm>
          <a:prstGeom prst="ellipse">
            <a:avLst/>
          </a:prstGeom>
          <a:solidFill>
            <a:srgbClr val="6E6A63"/>
          </a:solidFill>
          <a:ln w="12700">
            <a:solidFill>
              <a:srgbClr val="6E6A63"/>
            </a:solidFill>
            <a:prstDash val="solid"/>
          </a:ln>
        </p:spPr>
      </p:sp>
      <p:sp>
        <p:nvSpPr>
          <p:cNvPr id="33" name="Text 31"/>
          <p:cNvSpPr txBox="1"/>
          <p:nvPr/>
        </p:nvSpPr>
        <p:spPr>
          <a:xfrm>
            <a:off x="548640" y="55778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34" name="Text 32"/>
          <p:cNvSpPr txBox="1"/>
          <p:nvPr/>
        </p:nvSpPr>
        <p:spPr>
          <a:xfrm>
            <a:off x="1005840" y="5541264"/>
            <a:ext cx="4754880" cy="420624"/>
          </a:xfrm>
          <a:prstGeom prst="rect">
            <a:avLst/>
          </a:prstGeom>
          <a:noFill/>
          <a:ln/>
        </p:spPr>
        <p:txBody>
          <a:bodyPr wrap="square" lIns="0" tIns="0" rIns="0" bIns="0" rtlCol="0" anchor="ctr"/>
          <a:lstStyle/>
          <a:p>
            <a:pPr indent="0" marL="0">
              <a:buNone/>
            </a:pPr>
            <a:r>
              <a:rPr lang="en-US" sz="1200" dirty="0">
                <a:solidFill>
                  <a:srgbClr val="2B2A28"/>
                </a:solidFill>
                <a:latin typeface="Calibri" pitchFamily="34" charset="0"/>
                <a:ea typeface="Calibri" pitchFamily="34" charset="-122"/>
                <a:cs typeface="Calibri" pitchFamily="34" charset="-120"/>
              </a:rPr>
              <a:t>Freeze the baseline, then review every week</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89320" y="1508760"/>
          <a:ext cx="5623560" cy="914400"/>
        </p:xfrm>
        <a:graphic>
          <a:graphicData uri="http://schemas.openxmlformats.org/drawingml/2006/table">
            <a:tbl>
              <a:tblPr/>
              <a:tblGrid>
                <a:gridCol w="2331720"/>
                <a:gridCol w="1737360"/>
                <a:gridCol w="1554480"/>
              </a:tblGrid>
              <a:tr h="347472">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Weekly dashboard</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00" b="1" dirty="0">
                          <a:solidFill>
                            <a:srgbClr val="EDE7D8"/>
                          </a:solidFill>
                          <a:latin typeface="Calibri" pitchFamily="34" charset="0"/>
                          <a:ea typeface="Calibri" pitchFamily="34" charset="-122"/>
                          <a:cs typeface="Calibri" pitchFamily="34" charset="-120"/>
                        </a:rPr>
                        <a:t>12-month target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Order value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Shopify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$45 → $55</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Online conversion rate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GA4</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1.8–2.5%</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Order to ship</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Shopify</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3 → 2 days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Revenue by channel</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Shopify + QuickBooks</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By channel</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Traffic by source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GA4</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Trend</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Organic clicks, top queries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Search Console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Trend</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AI answers naming Kenyon's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AEO tracker</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Up each quarter</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Email list and flow revenue</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Klaviyo</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Trend</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Service tickets by reason</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Help desk</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Falling</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A28"/>
                          </a:solidFill>
                          <a:latin typeface="Calibri" pitchFamily="34" charset="0"/>
                          <a:ea typeface="Calibri" pitchFamily="34" charset="-122"/>
                          <a:cs typeface="Calibri" pitchFamily="34" charset="-120"/>
                        </a:rPr>
                        <a:t>Reviews and rating</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050" dirty="0">
                          <a:solidFill>
                            <a:srgbClr val="4A5359"/>
                          </a:solidFill>
                          <a:latin typeface="Calibri" pitchFamily="34" charset="0"/>
                          <a:ea typeface="Calibri" pitchFamily="34" charset="-122"/>
                          <a:cs typeface="Calibri" pitchFamily="34" charset="-120"/>
                        </a:rPr>
                        <a:t>Judge.me, Google</a:t>
                      </a:r>
                      <a:endParaRPr lang="en-US" sz="10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b="1" dirty="0">
                          <a:solidFill>
                            <a:srgbClr val="2E4057"/>
                          </a:solidFill>
                          <a:latin typeface="Calibri" pitchFamily="34" charset="0"/>
                          <a:ea typeface="Calibri" pitchFamily="34" charset="-122"/>
                          <a:cs typeface="Calibri" pitchFamily="34" charset="-120"/>
                        </a:rPr>
                        <a:t>200+ reviews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36</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SEO STRATEGY</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Five pillars to be found on Google and Bing</a:t>
            </a:r>
            <a:endParaRPr lang="en-US" sz="3000" dirty="0"/>
          </a:p>
        </p:txBody>
      </p:sp>
      <p:sp>
        <p:nvSpPr>
          <p:cNvPr id="5" name="Shape 3"/>
          <p:cNvSpPr/>
          <p:nvPr/>
        </p:nvSpPr>
        <p:spPr>
          <a:xfrm>
            <a:off x="548640" y="1508760"/>
            <a:ext cx="2103120" cy="3566160"/>
          </a:xfrm>
          <a:prstGeom prst="roundRect">
            <a:avLst>
              <a:gd name="adj" fmla="val 3478"/>
            </a:avLst>
          </a:prstGeom>
          <a:solidFill>
            <a:srgbClr val="FFFFFF"/>
          </a:solidFill>
          <a:ln w="9525">
            <a:solidFill>
              <a:srgbClr val="D9C7A3"/>
            </a:solidFill>
            <a:prstDash val="solid"/>
          </a:ln>
        </p:spPr>
      </p:sp>
      <p:sp>
        <p:nvSpPr>
          <p:cNvPr id="6" name="Shape 4"/>
          <p:cNvSpPr/>
          <p:nvPr/>
        </p:nvSpPr>
        <p:spPr>
          <a:xfrm>
            <a:off x="713232" y="1673352"/>
            <a:ext cx="384048" cy="384048"/>
          </a:xfrm>
          <a:prstGeom prst="ellipse">
            <a:avLst/>
          </a:prstGeom>
          <a:solidFill>
            <a:srgbClr val="6E6A63"/>
          </a:solidFill>
          <a:ln w="12700">
            <a:solidFill>
              <a:srgbClr val="6E6A63"/>
            </a:solidFill>
            <a:prstDash val="solid"/>
          </a:ln>
        </p:spPr>
      </p:sp>
      <p:sp>
        <p:nvSpPr>
          <p:cNvPr id="7" name="Text 5"/>
          <p:cNvSpPr txBox="1"/>
          <p:nvPr/>
        </p:nvSpPr>
        <p:spPr>
          <a:xfrm>
            <a:off x="713232"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645920"/>
            <a:ext cx="1371600" cy="43891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Technical</a:t>
            </a:r>
            <a:endParaRPr lang="en-US" sz="1400" dirty="0"/>
          </a:p>
        </p:txBody>
      </p:sp>
      <p:sp>
        <p:nvSpPr>
          <p:cNvPr id="9" name="Text 7"/>
          <p:cNvSpPr txBox="1"/>
          <p:nvPr/>
        </p:nvSpPr>
        <p:spPr>
          <a:xfrm>
            <a:off x="713232" y="2194560"/>
            <a:ext cx="1828800" cy="2743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301 map for every old URL</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Complete XML sitemap</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Clean URLs, canonicals, HTTPS</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Core Web Vitals passing on mobile</a:t>
            </a:r>
            <a:endParaRPr lang="en-US" sz="1100" dirty="0"/>
          </a:p>
        </p:txBody>
      </p:sp>
      <p:sp>
        <p:nvSpPr>
          <p:cNvPr id="10" name="Shape 8"/>
          <p:cNvSpPr/>
          <p:nvPr/>
        </p:nvSpPr>
        <p:spPr>
          <a:xfrm>
            <a:off x="2788920" y="1508760"/>
            <a:ext cx="2103120" cy="3566160"/>
          </a:xfrm>
          <a:prstGeom prst="roundRect">
            <a:avLst>
              <a:gd name="adj" fmla="val 3478"/>
            </a:avLst>
          </a:prstGeom>
          <a:solidFill>
            <a:srgbClr val="FFFFFF"/>
          </a:solidFill>
          <a:ln w="9525">
            <a:solidFill>
              <a:srgbClr val="D9C7A3"/>
            </a:solidFill>
            <a:prstDash val="solid"/>
          </a:ln>
        </p:spPr>
      </p:sp>
      <p:sp>
        <p:nvSpPr>
          <p:cNvPr id="11" name="Shape 9"/>
          <p:cNvSpPr/>
          <p:nvPr/>
        </p:nvSpPr>
        <p:spPr>
          <a:xfrm>
            <a:off x="2953512" y="1673352"/>
            <a:ext cx="384048" cy="384048"/>
          </a:xfrm>
          <a:prstGeom prst="ellipse">
            <a:avLst/>
          </a:prstGeom>
          <a:solidFill>
            <a:srgbClr val="6E6A63"/>
          </a:solidFill>
          <a:ln w="12700">
            <a:solidFill>
              <a:srgbClr val="6E6A63"/>
            </a:solidFill>
            <a:prstDash val="solid"/>
          </a:ln>
        </p:spPr>
      </p:sp>
      <p:sp>
        <p:nvSpPr>
          <p:cNvPr id="12" name="Text 10"/>
          <p:cNvSpPr txBox="1"/>
          <p:nvPr/>
        </p:nvSpPr>
        <p:spPr>
          <a:xfrm>
            <a:off x="2953512"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3429000" y="1645920"/>
            <a:ext cx="1371600" cy="43891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On-page</a:t>
            </a:r>
            <a:endParaRPr lang="en-US" sz="1400" dirty="0"/>
          </a:p>
        </p:txBody>
      </p:sp>
      <p:sp>
        <p:nvSpPr>
          <p:cNvPr id="14" name="Text 12"/>
          <p:cNvSpPr txBox="1"/>
          <p:nvPr/>
        </p:nvSpPr>
        <p:spPr>
          <a:xfrm>
            <a:off x="2953512" y="2194560"/>
            <a:ext cx="1828800" cy="2743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Unique titles (~55 characters) and meta (~150)</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One H1 per page; image alt text</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Recipes link to the products they use</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Provenance-led product copy</a:t>
            </a:r>
            <a:endParaRPr lang="en-US" sz="1100" dirty="0"/>
          </a:p>
        </p:txBody>
      </p:sp>
      <p:sp>
        <p:nvSpPr>
          <p:cNvPr id="15" name="Shape 13"/>
          <p:cNvSpPr/>
          <p:nvPr/>
        </p:nvSpPr>
        <p:spPr>
          <a:xfrm>
            <a:off x="5029200" y="1508760"/>
            <a:ext cx="2103120" cy="3566160"/>
          </a:xfrm>
          <a:prstGeom prst="roundRect">
            <a:avLst>
              <a:gd name="adj" fmla="val 3478"/>
            </a:avLst>
          </a:prstGeom>
          <a:solidFill>
            <a:srgbClr val="FFFFFF"/>
          </a:solidFill>
          <a:ln w="9525">
            <a:solidFill>
              <a:srgbClr val="D9C7A3"/>
            </a:solidFill>
            <a:prstDash val="solid"/>
          </a:ln>
        </p:spPr>
      </p:sp>
      <p:sp>
        <p:nvSpPr>
          <p:cNvPr id="16" name="Shape 14"/>
          <p:cNvSpPr/>
          <p:nvPr/>
        </p:nvSpPr>
        <p:spPr>
          <a:xfrm>
            <a:off x="5193792" y="1673352"/>
            <a:ext cx="384048" cy="384048"/>
          </a:xfrm>
          <a:prstGeom prst="ellipse">
            <a:avLst/>
          </a:prstGeom>
          <a:solidFill>
            <a:srgbClr val="6E6A63"/>
          </a:solidFill>
          <a:ln w="12700">
            <a:solidFill>
              <a:srgbClr val="6E6A63"/>
            </a:solidFill>
            <a:prstDash val="solid"/>
          </a:ln>
        </p:spPr>
      </p:sp>
      <p:sp>
        <p:nvSpPr>
          <p:cNvPr id="17" name="Text 15"/>
          <p:cNvSpPr txBox="1"/>
          <p:nvPr/>
        </p:nvSpPr>
        <p:spPr>
          <a:xfrm>
            <a:off x="5193792"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5669280" y="1645920"/>
            <a:ext cx="1371600" cy="43891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Keywords &amp; content</a:t>
            </a:r>
            <a:endParaRPr lang="en-US" sz="1400" dirty="0"/>
          </a:p>
        </p:txBody>
      </p:sp>
      <p:sp>
        <p:nvSpPr>
          <p:cNvPr id="19" name="Text 17"/>
          <p:cNvSpPr txBox="1"/>
          <p:nvPr/>
        </p:nvSpPr>
        <p:spPr>
          <a:xfrm>
            <a:off x="5193792" y="2194560"/>
            <a:ext cx="1828800" cy="2743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Johnny cake meal and recipes</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Stone-ground cornmeal, flint corn</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Clam cake and fritter mix</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RI food gifts; mill visits, kayaking</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2–4 pieces a month</a:t>
            </a:r>
            <a:endParaRPr lang="en-US" sz="1100" dirty="0"/>
          </a:p>
        </p:txBody>
      </p:sp>
      <p:sp>
        <p:nvSpPr>
          <p:cNvPr id="20" name="Shape 18"/>
          <p:cNvSpPr/>
          <p:nvPr/>
        </p:nvSpPr>
        <p:spPr>
          <a:xfrm>
            <a:off x="7269480" y="1508760"/>
            <a:ext cx="2103120" cy="3566160"/>
          </a:xfrm>
          <a:prstGeom prst="roundRect">
            <a:avLst>
              <a:gd name="adj" fmla="val 3478"/>
            </a:avLst>
          </a:prstGeom>
          <a:solidFill>
            <a:srgbClr val="FFFFFF"/>
          </a:solidFill>
          <a:ln w="9525">
            <a:solidFill>
              <a:srgbClr val="D9C7A3"/>
            </a:solidFill>
            <a:prstDash val="solid"/>
          </a:ln>
        </p:spPr>
      </p:sp>
      <p:sp>
        <p:nvSpPr>
          <p:cNvPr id="21" name="Shape 19"/>
          <p:cNvSpPr/>
          <p:nvPr/>
        </p:nvSpPr>
        <p:spPr>
          <a:xfrm>
            <a:off x="7434072" y="1673352"/>
            <a:ext cx="384048" cy="384048"/>
          </a:xfrm>
          <a:prstGeom prst="ellipse">
            <a:avLst/>
          </a:prstGeom>
          <a:solidFill>
            <a:srgbClr val="6E6A63"/>
          </a:solidFill>
          <a:ln w="12700">
            <a:solidFill>
              <a:srgbClr val="6E6A63"/>
            </a:solidFill>
            <a:prstDash val="solid"/>
          </a:ln>
        </p:spPr>
      </p:sp>
      <p:sp>
        <p:nvSpPr>
          <p:cNvPr id="22" name="Text 20"/>
          <p:cNvSpPr txBox="1"/>
          <p:nvPr/>
        </p:nvSpPr>
        <p:spPr>
          <a:xfrm>
            <a:off x="7434072"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7909560" y="1645920"/>
            <a:ext cx="1371600" cy="43891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Local</a:t>
            </a:r>
            <a:endParaRPr lang="en-US" sz="1400" dirty="0"/>
          </a:p>
        </p:txBody>
      </p:sp>
      <p:sp>
        <p:nvSpPr>
          <p:cNvPr id="24" name="Text 22"/>
          <p:cNvSpPr txBox="1"/>
          <p:nvPr/>
        </p:nvSpPr>
        <p:spPr>
          <a:xfrm>
            <a:off x="7434072" y="2194560"/>
            <a:ext cx="1828800" cy="2743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Google Business Profile complete: hours, photos, products, posts</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Name, address, phone identical everywhere</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100% review reply rate</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TripAdvisor and VisitRI listings</a:t>
            </a:r>
            <a:endParaRPr lang="en-US" sz="1100" dirty="0"/>
          </a:p>
        </p:txBody>
      </p:sp>
      <p:sp>
        <p:nvSpPr>
          <p:cNvPr id="25" name="Shape 23"/>
          <p:cNvSpPr/>
          <p:nvPr/>
        </p:nvSpPr>
        <p:spPr>
          <a:xfrm>
            <a:off x="9509760" y="1508760"/>
            <a:ext cx="2103120" cy="3566160"/>
          </a:xfrm>
          <a:prstGeom prst="roundRect">
            <a:avLst>
              <a:gd name="adj" fmla="val 3478"/>
            </a:avLst>
          </a:prstGeom>
          <a:solidFill>
            <a:srgbClr val="FFFFFF"/>
          </a:solidFill>
          <a:ln w="9525">
            <a:solidFill>
              <a:srgbClr val="D9C7A3"/>
            </a:solidFill>
            <a:prstDash val="solid"/>
          </a:ln>
        </p:spPr>
      </p:sp>
      <p:sp>
        <p:nvSpPr>
          <p:cNvPr id="26" name="Shape 24"/>
          <p:cNvSpPr/>
          <p:nvPr/>
        </p:nvSpPr>
        <p:spPr>
          <a:xfrm>
            <a:off x="9674352" y="1673352"/>
            <a:ext cx="384048" cy="384048"/>
          </a:xfrm>
          <a:prstGeom prst="ellipse">
            <a:avLst/>
          </a:prstGeom>
          <a:solidFill>
            <a:srgbClr val="6E6A63"/>
          </a:solidFill>
          <a:ln w="12700">
            <a:solidFill>
              <a:srgbClr val="6E6A63"/>
            </a:solidFill>
            <a:prstDash val="solid"/>
          </a:ln>
        </p:spPr>
      </p:sp>
      <p:sp>
        <p:nvSpPr>
          <p:cNvPr id="27" name="Text 25"/>
          <p:cNvSpPr txBox="1"/>
          <p:nvPr/>
        </p:nvSpPr>
        <p:spPr>
          <a:xfrm>
            <a:off x="9674352" y="1673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10149840" y="1645920"/>
            <a:ext cx="1371600" cy="43891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Authority</a:t>
            </a:r>
            <a:endParaRPr lang="en-US" sz="1400" dirty="0"/>
          </a:p>
        </p:txBody>
      </p:sp>
      <p:sp>
        <p:nvSpPr>
          <p:cNvPr id="29" name="Text 27"/>
          <p:cNvSpPr txBox="1"/>
          <p:nvPr/>
        </p:nvSpPr>
        <p:spPr>
          <a:xfrm>
            <a:off x="9674352" y="2194560"/>
            <a:ext cx="1828800" cy="27432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Press pitch: RI's oldest manufacturer</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Food writers and regional press</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Every wholesale account links back</a:t>
            </a:r>
            <a:endParaRPr lang="en-US" sz="1100" dirty="0"/>
          </a:p>
          <a:p>
            <a:pPr marL="342900" indent="-342900">
              <a:spcAft>
                <a:spcPts val="400"/>
              </a:spcAft>
              <a:buSzPct val="100000"/>
              <a:buChar char="•"/>
            </a:pPr>
            <a:r>
              <a:rPr lang="en-US" sz="1100" dirty="0">
                <a:solidFill>
                  <a:srgbClr val="2B2A28"/>
                </a:solidFill>
                <a:latin typeface="Calibri" pitchFamily="34" charset="0"/>
                <a:ea typeface="Calibri" pitchFamily="34" charset="-122"/>
                <a:cs typeface="Calibri" pitchFamily="34" charset="-120"/>
              </a:rPr>
              <a:t>Festival and event coverage</a:t>
            </a:r>
            <a:endParaRPr lang="en-US" sz="1100" dirty="0"/>
          </a:p>
        </p:txBody>
      </p:sp>
      <p:sp>
        <p:nvSpPr>
          <p:cNvPr id="30" name="Shape 28"/>
          <p:cNvSpPr/>
          <p:nvPr/>
        </p:nvSpPr>
        <p:spPr>
          <a:xfrm>
            <a:off x="548640" y="5230368"/>
            <a:ext cx="11064240" cy="960120"/>
          </a:xfrm>
          <a:prstGeom prst="roundRect">
            <a:avLst>
              <a:gd name="adj" fmla="val 7619"/>
            </a:avLst>
          </a:prstGeom>
          <a:solidFill>
            <a:srgbClr val="F0E3C4"/>
          </a:solidFill>
          <a:ln w="12700">
            <a:solidFill>
              <a:srgbClr val="F0E3C4"/>
            </a:solidFill>
            <a:prstDash val="solid"/>
          </a:ln>
        </p:spPr>
      </p:sp>
      <p:sp>
        <p:nvSpPr>
          <p:cNvPr id="31" name="Text 29"/>
          <p:cNvSpPr txBox="1"/>
          <p:nvPr/>
        </p:nvSpPr>
        <p:spPr>
          <a:xfrm>
            <a:off x="822960" y="5230368"/>
            <a:ext cx="10515600" cy="960120"/>
          </a:xfrm>
          <a:prstGeom prst="rect">
            <a:avLst/>
          </a:prstGeom>
          <a:noFill/>
          <a:ln/>
        </p:spPr>
        <p:txBody>
          <a:bodyPr wrap="square" lIns="0" tIns="0" rIns="0" bIns="0" rtlCol="0" anchor="ctr"/>
          <a:lstStyle/>
          <a:p>
            <a:pPr indent="0" marL="0">
              <a:spcAft>
                <a:spcPts val="300"/>
              </a:spcAft>
              <a:buNone/>
            </a:pPr>
            <a:r>
              <a:rPr lang="en-US" sz="1200" b="1" dirty="0">
                <a:solidFill>
                  <a:srgbClr val="8A6115"/>
                </a:solidFill>
                <a:latin typeface="Calibri" pitchFamily="34" charset="0"/>
                <a:ea typeface="Calibri" pitchFamily="34" charset="-122"/>
                <a:cs typeface="Calibri" pitchFamily="34" charset="-120"/>
              </a:rPr>
              <a:t>Measured by:  </a:t>
            </a:r>
            <a:pPr indent="0" marL="0">
              <a:spcAft>
                <a:spcPts val="300"/>
              </a:spcAft>
              <a:buNone/>
            </a:pPr>
            <a:r>
              <a:rPr lang="en-US" sz="1200" dirty="0">
                <a:solidFill>
                  <a:srgbClr val="2B2A28"/>
                </a:solidFill>
                <a:latin typeface="Calibri" pitchFamily="34" charset="0"/>
                <a:ea typeface="Calibri" pitchFamily="34" charset="-122"/>
                <a:cs typeface="Calibri" pitchFamily="34" charset="-120"/>
              </a:rPr>
              <a:t>organic clicks and impressions, top-10 rankings on core queries, Google Business Profile calls and direction requests, and sites linking in.</a:t>
            </a:r>
            <a:endParaRPr lang="en-US" sz="1200" dirty="0"/>
          </a:p>
          <a:p>
            <a:pPr indent="0" marL="0">
              <a:spcAft>
                <a:spcPts val="300"/>
              </a:spcAft>
              <a:buNone/>
            </a:pPr>
            <a:r>
              <a:rPr lang="en-US" sz="1200" b="1" dirty="0">
                <a:solidFill>
                  <a:srgbClr val="8A6115"/>
                </a:solidFill>
                <a:latin typeface="Calibri" pitchFamily="34" charset="0"/>
                <a:ea typeface="Calibri" pitchFamily="34" charset="-122"/>
                <a:cs typeface="Calibri" pitchFamily="34" charset="-120"/>
              </a:rPr>
              <a:t>Tools:  </a:t>
            </a:r>
            <a:pPr indent="0" marL="0">
              <a:spcAft>
                <a:spcPts val="300"/>
              </a:spcAft>
              <a:buNone/>
            </a:pPr>
            <a:r>
              <a:rPr lang="en-US" sz="1200" dirty="0">
                <a:solidFill>
                  <a:srgbClr val="2B2A28"/>
                </a:solidFill>
                <a:latin typeface="Calibri" pitchFamily="34" charset="0"/>
                <a:ea typeface="Calibri" pitchFamily="34" charset="-122"/>
                <a:cs typeface="Calibri" pitchFamily="34" charset="-120"/>
              </a:rPr>
              <a:t>Search Console (free) from day one; add Moz, Ahrefs or Semrush ($99–140/mo) from month 3.</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37</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AEO STRATEGY</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Be the answer when people ask an AI</a:t>
            </a:r>
            <a:endParaRPr lang="en-US" sz="3000" dirty="0"/>
          </a:p>
        </p:txBody>
      </p:sp>
      <p:sp>
        <p:nvSpPr>
          <p:cNvPr id="5" name="Shape 3"/>
          <p:cNvSpPr/>
          <p:nvPr/>
        </p:nvSpPr>
        <p:spPr>
          <a:xfrm>
            <a:off x="548640" y="1508760"/>
            <a:ext cx="7589520" cy="758952"/>
          </a:xfrm>
          <a:prstGeom prst="roundRect">
            <a:avLst>
              <a:gd name="adj" fmla="val 9639"/>
            </a:avLst>
          </a:prstGeom>
          <a:solidFill>
            <a:srgbClr val="FFFFFF"/>
          </a:solidFill>
          <a:ln w="9525">
            <a:solidFill>
              <a:srgbClr val="D9C7A3"/>
            </a:solidFill>
            <a:prstDash val="solid"/>
          </a:ln>
        </p:spPr>
      </p:sp>
      <p:sp>
        <p:nvSpPr>
          <p:cNvPr id="6" name="Shape 4"/>
          <p:cNvSpPr/>
          <p:nvPr/>
        </p:nvSpPr>
        <p:spPr>
          <a:xfrm>
            <a:off x="713232" y="1682496"/>
            <a:ext cx="411480" cy="411480"/>
          </a:xfrm>
          <a:prstGeom prst="ellipse">
            <a:avLst/>
          </a:prstGeom>
          <a:solidFill>
            <a:srgbClr val="4A5359"/>
          </a:solidFill>
          <a:ln w="12700">
            <a:solidFill>
              <a:srgbClr val="4A5359"/>
            </a:solidFill>
            <a:prstDash val="solid"/>
          </a:ln>
        </p:spPr>
      </p:sp>
      <p:sp>
        <p:nvSpPr>
          <p:cNvPr id="7" name="Text 5"/>
          <p:cNvSpPr txBox="1"/>
          <p:nvPr/>
        </p:nvSpPr>
        <p:spPr>
          <a:xfrm>
            <a:off x="713232" y="168249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280160" y="1508760"/>
            <a:ext cx="2011680" cy="75895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One facts sheet</a:t>
            </a:r>
            <a:endParaRPr lang="en-US" sz="1400" dirty="0"/>
          </a:p>
        </p:txBody>
      </p:sp>
      <p:sp>
        <p:nvSpPr>
          <p:cNvPr id="9" name="Text 7"/>
          <p:cNvSpPr txBox="1"/>
          <p:nvPr/>
        </p:nvSpPr>
        <p:spPr>
          <a:xfrm>
            <a:off x="3291840" y="1508760"/>
            <a:ext cx="4709160" cy="758952"/>
          </a:xfrm>
          <a:prstGeom prst="rect">
            <a:avLst/>
          </a:prstGeom>
          <a:noFill/>
          <a:ln/>
        </p:spPr>
        <p:txBody>
          <a:bodyPr wrap="square" lIns="0" tIns="0" rIns="0" bIns="0" rtlCol="0" anchor="ctr"/>
          <a:lstStyle/>
          <a:p>
            <a:pPr indent="0" marL="0">
              <a:buNone/>
            </a:pPr>
            <a:r>
              <a:rPr lang="en-US" sz="1100" dirty="0">
                <a:solidFill>
                  <a:srgbClr val="4A5359"/>
                </a:solidFill>
                <a:latin typeface="Calibri" pitchFamily="34" charset="0"/>
                <a:ea typeface="Calibri" pitchFamily="34" charset="-122"/>
                <a:cs typeface="Calibri" pitchFamily="34" charset="-120"/>
              </a:rPr>
              <a:t>1696; granite stones quarried in Westerly; the 1886 mill; single-pass grinding; Narragansett White Cap flint corn. Worded the same everywhere.</a:t>
            </a:r>
            <a:endParaRPr lang="en-US" sz="1100" dirty="0"/>
          </a:p>
        </p:txBody>
      </p:sp>
      <p:sp>
        <p:nvSpPr>
          <p:cNvPr id="10" name="Shape 8"/>
          <p:cNvSpPr/>
          <p:nvPr/>
        </p:nvSpPr>
        <p:spPr>
          <a:xfrm>
            <a:off x="548640" y="2359152"/>
            <a:ext cx="7589520" cy="758952"/>
          </a:xfrm>
          <a:prstGeom prst="roundRect">
            <a:avLst>
              <a:gd name="adj" fmla="val 9639"/>
            </a:avLst>
          </a:prstGeom>
          <a:solidFill>
            <a:srgbClr val="FFFFFF"/>
          </a:solidFill>
          <a:ln w="9525">
            <a:solidFill>
              <a:srgbClr val="D9C7A3"/>
            </a:solidFill>
            <a:prstDash val="solid"/>
          </a:ln>
        </p:spPr>
      </p:sp>
      <p:sp>
        <p:nvSpPr>
          <p:cNvPr id="11" name="Shape 9"/>
          <p:cNvSpPr/>
          <p:nvPr/>
        </p:nvSpPr>
        <p:spPr>
          <a:xfrm>
            <a:off x="713232" y="2532888"/>
            <a:ext cx="411480" cy="411480"/>
          </a:xfrm>
          <a:prstGeom prst="ellipse">
            <a:avLst/>
          </a:prstGeom>
          <a:solidFill>
            <a:srgbClr val="4A5359"/>
          </a:solidFill>
          <a:ln w="12700">
            <a:solidFill>
              <a:srgbClr val="4A5359"/>
            </a:solidFill>
            <a:prstDash val="solid"/>
          </a:ln>
        </p:spPr>
      </p:sp>
      <p:sp>
        <p:nvSpPr>
          <p:cNvPr id="12" name="Text 10"/>
          <p:cNvSpPr txBox="1"/>
          <p:nvPr/>
        </p:nvSpPr>
        <p:spPr>
          <a:xfrm>
            <a:off x="713232" y="253288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280160" y="2359152"/>
            <a:ext cx="2011680" cy="75895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Structured data</a:t>
            </a:r>
            <a:endParaRPr lang="en-US" sz="1400" dirty="0"/>
          </a:p>
        </p:txBody>
      </p:sp>
      <p:sp>
        <p:nvSpPr>
          <p:cNvPr id="14" name="Text 12"/>
          <p:cNvSpPr txBox="1"/>
          <p:nvPr/>
        </p:nvSpPr>
        <p:spPr>
          <a:xfrm>
            <a:off x="3291840" y="2359152"/>
            <a:ext cx="4709160" cy="758952"/>
          </a:xfrm>
          <a:prstGeom prst="rect">
            <a:avLst/>
          </a:prstGeom>
          <a:noFill/>
          <a:ln/>
        </p:spPr>
        <p:txBody>
          <a:bodyPr wrap="square" lIns="0" tIns="0" rIns="0" bIns="0" rtlCol="0" anchor="ctr"/>
          <a:lstStyle/>
          <a:p>
            <a:pPr indent="0" marL="0">
              <a:buNone/>
            </a:pPr>
            <a:r>
              <a:rPr lang="en-US" sz="1100" dirty="0">
                <a:solidFill>
                  <a:srgbClr val="4A5359"/>
                </a:solidFill>
                <a:latin typeface="Calibri" pitchFamily="34" charset="0"/>
                <a:ea typeface="Calibri" pitchFamily="34" charset="-122"/>
                <a:cs typeface="Calibri" pitchFamily="34" charset="-120"/>
              </a:rPr>
              <a:t>Organization and LocalBusiness with sameAs links; Product and Offer; Recipe; FAQPage; Event for the festival; BreadcrumbList.</a:t>
            </a:r>
            <a:endParaRPr lang="en-US" sz="1100" dirty="0"/>
          </a:p>
        </p:txBody>
      </p:sp>
      <p:sp>
        <p:nvSpPr>
          <p:cNvPr id="15" name="Shape 13"/>
          <p:cNvSpPr/>
          <p:nvPr/>
        </p:nvSpPr>
        <p:spPr>
          <a:xfrm>
            <a:off x="548640" y="3209544"/>
            <a:ext cx="7589520" cy="758952"/>
          </a:xfrm>
          <a:prstGeom prst="roundRect">
            <a:avLst>
              <a:gd name="adj" fmla="val 9639"/>
            </a:avLst>
          </a:prstGeom>
          <a:solidFill>
            <a:srgbClr val="FFFFFF"/>
          </a:solidFill>
          <a:ln w="9525">
            <a:solidFill>
              <a:srgbClr val="D9C7A3"/>
            </a:solidFill>
            <a:prstDash val="solid"/>
          </a:ln>
        </p:spPr>
      </p:sp>
      <p:sp>
        <p:nvSpPr>
          <p:cNvPr id="16" name="Shape 14"/>
          <p:cNvSpPr/>
          <p:nvPr/>
        </p:nvSpPr>
        <p:spPr>
          <a:xfrm>
            <a:off x="713232" y="3383280"/>
            <a:ext cx="411480" cy="411480"/>
          </a:xfrm>
          <a:prstGeom prst="ellipse">
            <a:avLst/>
          </a:prstGeom>
          <a:solidFill>
            <a:srgbClr val="4A5359"/>
          </a:solidFill>
          <a:ln w="12700">
            <a:solidFill>
              <a:srgbClr val="4A5359"/>
            </a:solidFill>
            <a:prstDash val="solid"/>
          </a:ln>
        </p:spPr>
      </p:sp>
      <p:sp>
        <p:nvSpPr>
          <p:cNvPr id="17" name="Text 15"/>
          <p:cNvSpPr txBox="1"/>
          <p:nvPr/>
        </p:nvSpPr>
        <p:spPr>
          <a:xfrm>
            <a:off x="713232" y="33832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280160" y="3209544"/>
            <a:ext cx="2011680" cy="75895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Answer-first content</a:t>
            </a:r>
            <a:endParaRPr lang="en-US" sz="1400" dirty="0"/>
          </a:p>
        </p:txBody>
      </p:sp>
      <p:sp>
        <p:nvSpPr>
          <p:cNvPr id="19" name="Text 17"/>
          <p:cNvSpPr txBox="1"/>
          <p:nvPr/>
        </p:nvSpPr>
        <p:spPr>
          <a:xfrm>
            <a:off x="3291840" y="3209544"/>
            <a:ext cx="4709160" cy="758952"/>
          </a:xfrm>
          <a:prstGeom prst="rect">
            <a:avLst/>
          </a:prstGeom>
          <a:noFill/>
          <a:ln/>
        </p:spPr>
        <p:txBody>
          <a:bodyPr wrap="square" lIns="0" tIns="0" rIns="0" bIns="0" rtlCol="0" anchor="ctr"/>
          <a:lstStyle/>
          <a:p>
            <a:pPr indent="0" marL="0">
              <a:buNone/>
            </a:pPr>
            <a:r>
              <a:rPr lang="en-US" sz="1100" dirty="0">
                <a:solidFill>
                  <a:srgbClr val="4A5359"/>
                </a:solidFill>
                <a:latin typeface="Calibri" pitchFamily="34" charset="0"/>
                <a:ea typeface="Calibri" pitchFamily="34" charset="-122"/>
                <a:cs typeface="Calibri" pitchFamily="34" charset="-120"/>
              </a:rPr>
              <a:t>FAQ and guide pages that answer in the first 40–60 words: 'What is a johnny cake?', 'Where can I buy real Rhode Island johnny cake meal?'</a:t>
            </a:r>
            <a:endParaRPr lang="en-US" sz="1100" dirty="0"/>
          </a:p>
        </p:txBody>
      </p:sp>
      <p:sp>
        <p:nvSpPr>
          <p:cNvPr id="20" name="Shape 18"/>
          <p:cNvSpPr/>
          <p:nvPr/>
        </p:nvSpPr>
        <p:spPr>
          <a:xfrm>
            <a:off x="548640" y="4059936"/>
            <a:ext cx="7589520" cy="758952"/>
          </a:xfrm>
          <a:prstGeom prst="roundRect">
            <a:avLst>
              <a:gd name="adj" fmla="val 9639"/>
            </a:avLst>
          </a:prstGeom>
          <a:solidFill>
            <a:srgbClr val="FFFFFF"/>
          </a:solidFill>
          <a:ln w="9525">
            <a:solidFill>
              <a:srgbClr val="D9C7A3"/>
            </a:solidFill>
            <a:prstDash val="solid"/>
          </a:ln>
        </p:spPr>
      </p:sp>
      <p:sp>
        <p:nvSpPr>
          <p:cNvPr id="21" name="Shape 19"/>
          <p:cNvSpPr/>
          <p:nvPr/>
        </p:nvSpPr>
        <p:spPr>
          <a:xfrm>
            <a:off x="713232" y="4233672"/>
            <a:ext cx="411480" cy="411480"/>
          </a:xfrm>
          <a:prstGeom prst="ellipse">
            <a:avLst/>
          </a:prstGeom>
          <a:solidFill>
            <a:srgbClr val="4A5359"/>
          </a:solidFill>
          <a:ln w="12700">
            <a:solidFill>
              <a:srgbClr val="4A5359"/>
            </a:solidFill>
            <a:prstDash val="solid"/>
          </a:ln>
        </p:spPr>
      </p:sp>
      <p:sp>
        <p:nvSpPr>
          <p:cNvPr id="22" name="Text 20"/>
          <p:cNvSpPr txBox="1"/>
          <p:nvPr/>
        </p:nvSpPr>
        <p:spPr>
          <a:xfrm>
            <a:off x="713232" y="423367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1280160" y="4059936"/>
            <a:ext cx="2011680" cy="75895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Be cited where AI reads</a:t>
            </a:r>
            <a:endParaRPr lang="en-US" sz="1400" dirty="0"/>
          </a:p>
        </p:txBody>
      </p:sp>
      <p:sp>
        <p:nvSpPr>
          <p:cNvPr id="24" name="Text 22"/>
          <p:cNvSpPr txBox="1"/>
          <p:nvPr/>
        </p:nvSpPr>
        <p:spPr>
          <a:xfrm>
            <a:off x="3291840" y="4059936"/>
            <a:ext cx="4709160" cy="758952"/>
          </a:xfrm>
          <a:prstGeom prst="rect">
            <a:avLst/>
          </a:prstGeom>
          <a:noFill/>
          <a:ln/>
        </p:spPr>
        <p:txBody>
          <a:bodyPr wrap="square" lIns="0" tIns="0" rIns="0" bIns="0" rtlCol="0" anchor="ctr"/>
          <a:lstStyle/>
          <a:p>
            <a:pPr indent="0" marL="0">
              <a:buNone/>
            </a:pPr>
            <a:r>
              <a:rPr lang="en-US" sz="1100" dirty="0">
                <a:solidFill>
                  <a:srgbClr val="4A5359"/>
                </a:solidFill>
                <a:latin typeface="Calibri" pitchFamily="34" charset="0"/>
                <a:ea typeface="Calibri" pitchFamily="34" charset="-122"/>
                <a:cs typeface="Calibri" pitchFamily="34" charset="-120"/>
              </a:rPr>
              <a:t>Google Business Profile, directories, press, partner and stockist pages, review sites. Fix errors through each site's own process, never by self-editing.</a:t>
            </a:r>
            <a:endParaRPr lang="en-US" sz="1100" dirty="0"/>
          </a:p>
        </p:txBody>
      </p:sp>
      <p:sp>
        <p:nvSpPr>
          <p:cNvPr id="25" name="Shape 23"/>
          <p:cNvSpPr/>
          <p:nvPr/>
        </p:nvSpPr>
        <p:spPr>
          <a:xfrm>
            <a:off x="548640" y="4910328"/>
            <a:ext cx="7589520" cy="758952"/>
          </a:xfrm>
          <a:prstGeom prst="roundRect">
            <a:avLst>
              <a:gd name="adj" fmla="val 9639"/>
            </a:avLst>
          </a:prstGeom>
          <a:solidFill>
            <a:srgbClr val="FFFFFF"/>
          </a:solidFill>
          <a:ln w="9525">
            <a:solidFill>
              <a:srgbClr val="D9C7A3"/>
            </a:solidFill>
            <a:prstDash val="solid"/>
          </a:ln>
        </p:spPr>
      </p:sp>
      <p:sp>
        <p:nvSpPr>
          <p:cNvPr id="26" name="Shape 24"/>
          <p:cNvSpPr/>
          <p:nvPr/>
        </p:nvSpPr>
        <p:spPr>
          <a:xfrm>
            <a:off x="713232" y="5084064"/>
            <a:ext cx="411480" cy="411480"/>
          </a:xfrm>
          <a:prstGeom prst="ellipse">
            <a:avLst/>
          </a:prstGeom>
          <a:solidFill>
            <a:srgbClr val="4A5359"/>
          </a:solidFill>
          <a:ln w="12700">
            <a:solidFill>
              <a:srgbClr val="4A5359"/>
            </a:solidFill>
            <a:prstDash val="solid"/>
          </a:ln>
        </p:spPr>
      </p:sp>
      <p:sp>
        <p:nvSpPr>
          <p:cNvPr id="27" name="Text 25"/>
          <p:cNvSpPr txBox="1"/>
          <p:nvPr/>
        </p:nvSpPr>
        <p:spPr>
          <a:xfrm>
            <a:off x="713232" y="508406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1280160" y="4910328"/>
            <a:ext cx="2011680" cy="758952"/>
          </a:xfrm>
          <a:prstGeom prst="rect">
            <a:avLst/>
          </a:prstGeom>
          <a:noFill/>
          <a:ln/>
        </p:spPr>
        <p:txBody>
          <a:bodyPr wrap="square" lIns="0" tIns="0" rIns="0" bIns="0" rtlCol="0" anchor="ctr"/>
          <a:lstStyle/>
          <a:p>
            <a:pPr indent="0" marL="0">
              <a:buNone/>
            </a:pPr>
            <a:r>
              <a:rPr lang="en-US" sz="1400" b="1" dirty="0">
                <a:solidFill>
                  <a:srgbClr val="2B2A28"/>
                </a:solidFill>
                <a:latin typeface="Cambria" pitchFamily="34" charset="0"/>
                <a:ea typeface="Cambria" pitchFamily="34" charset="-122"/>
                <a:cs typeface="Cambria" pitchFamily="34" charset="-120"/>
              </a:rPr>
              <a:t>Track monthly</a:t>
            </a:r>
            <a:endParaRPr lang="en-US" sz="1400" dirty="0"/>
          </a:p>
        </p:txBody>
      </p:sp>
      <p:sp>
        <p:nvSpPr>
          <p:cNvPr id="29" name="Text 27"/>
          <p:cNvSpPr txBox="1"/>
          <p:nvPr/>
        </p:nvSpPr>
        <p:spPr>
          <a:xfrm>
            <a:off x="3291840" y="4910328"/>
            <a:ext cx="4709160" cy="758952"/>
          </a:xfrm>
          <a:prstGeom prst="rect">
            <a:avLst/>
          </a:prstGeom>
          <a:noFill/>
          <a:ln/>
        </p:spPr>
        <p:txBody>
          <a:bodyPr wrap="square" lIns="0" tIns="0" rIns="0" bIns="0" rtlCol="0" anchor="ctr"/>
          <a:lstStyle/>
          <a:p>
            <a:pPr indent="0" marL="0">
              <a:buNone/>
            </a:pPr>
            <a:r>
              <a:rPr lang="en-US" sz="1100" dirty="0">
                <a:solidFill>
                  <a:srgbClr val="4A5359"/>
                </a:solidFill>
                <a:latin typeface="Calibri" pitchFamily="34" charset="0"/>
                <a:ea typeface="Calibri" pitchFamily="34" charset="-122"/>
                <a:cs typeface="Calibri" pitchFamily="34" charset="-120"/>
              </a:rPr>
              <a:t>Run 15–25 real buyer questions through ChatGPT, Perplexity, Google AI Overviews, Gemini and Claude. Record whether Kenyon's is named and the facts are right.</a:t>
            </a:r>
            <a:endParaRPr lang="en-US" sz="1100" dirty="0"/>
          </a:p>
        </p:txBody>
      </p:sp>
      <p:sp>
        <p:nvSpPr>
          <p:cNvPr id="30" name="Shape 28"/>
          <p:cNvSpPr/>
          <p:nvPr/>
        </p:nvSpPr>
        <p:spPr>
          <a:xfrm>
            <a:off x="8321040" y="1508760"/>
            <a:ext cx="3291840" cy="4160520"/>
          </a:xfrm>
          <a:prstGeom prst="roundRect">
            <a:avLst>
              <a:gd name="adj" fmla="val 2222"/>
            </a:avLst>
          </a:prstGeom>
          <a:solidFill>
            <a:srgbClr val="2B2A28"/>
          </a:solidFill>
          <a:ln w="12700">
            <a:solidFill>
              <a:srgbClr val="2B2A28"/>
            </a:solidFill>
            <a:prstDash val="solid"/>
          </a:ln>
        </p:spPr>
      </p:sp>
      <p:sp>
        <p:nvSpPr>
          <p:cNvPr id="31" name="Text 29"/>
          <p:cNvSpPr txBox="1"/>
          <p:nvPr/>
        </p:nvSpPr>
        <p:spPr>
          <a:xfrm>
            <a:off x="8549640" y="1645920"/>
            <a:ext cx="2834640" cy="3931920"/>
          </a:xfrm>
          <a:prstGeom prst="rect">
            <a:avLst/>
          </a:prstGeom>
          <a:noFill/>
          <a:ln/>
        </p:spPr>
        <p:txBody>
          <a:bodyPr wrap="square" lIns="0" tIns="0" rIns="0" bIns="0" rtlCol="0" anchor="t"/>
          <a:lstStyle/>
          <a:p>
            <a:pPr indent="0" marL="0">
              <a:buNone/>
            </a:pPr>
            <a:r>
              <a:rPr lang="en-US" sz="1100" b="1" spc="200" kern="0" dirty="0">
                <a:solidFill>
                  <a:srgbClr val="C8922F"/>
                </a:solidFill>
                <a:latin typeface="Calibri" pitchFamily="34" charset="0"/>
                <a:ea typeface="Calibri" pitchFamily="34" charset="-122"/>
                <a:cs typeface="Calibri" pitchFamily="34" charset="-120"/>
              </a:rPr>
              <a:t>WHY IT MATTERS HERE</a:t>
            </a:r>
            <a:endParaRPr lang="en-US" sz="11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250" dirty="0">
                <a:solidFill>
                  <a:srgbClr val="EDE7D8"/>
                </a:solidFill>
                <a:latin typeface="Calibri" pitchFamily="34" charset="0"/>
                <a:ea typeface="Calibri" pitchFamily="34" charset="-122"/>
                <a:cs typeface="Calibri" pitchFamily="34" charset="-120"/>
              </a:rPr>
              <a:t>AI engines name one or a few sources and often skip the click. Kenyon's has rare, checkable facts that AI likes to quote, but only if the web states them the same way everywhere.</a:t>
            </a:r>
            <a:endParaRPr lang="en-US" sz="11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spc="200" kern="0" dirty="0">
                <a:solidFill>
                  <a:srgbClr val="C8922F"/>
                </a:solidFill>
                <a:latin typeface="Calibri" pitchFamily="34" charset="0"/>
                <a:ea typeface="Calibri" pitchFamily="34" charset="-122"/>
                <a:cs typeface="Calibri" pitchFamily="34" charset="-120"/>
              </a:rPr>
              <a:t>MEASURED BY</a:t>
            </a:r>
            <a:endParaRPr lang="en-US" sz="1100" dirty="0"/>
          </a:p>
          <a:p>
            <a:pPr indent="0" marL="0">
              <a:buNone/>
            </a:pPr>
            <a:r>
              <a:rPr lang="en-US" sz="1150" dirty="0">
                <a:solidFill>
                  <a:srgbClr val="D9C7A3"/>
                </a:solidFill>
                <a:latin typeface="Calibri" pitchFamily="34" charset="0"/>
                <a:ea typeface="Calibri" pitchFamily="34" charset="-122"/>
                <a:cs typeface="Calibri" pitchFamily="34" charset="-120"/>
              </a:rPr>
              <a:t>How often Kenyon's is named across the question bank · whether the facts are right · visits from AI engines in GA4</a:t>
            </a:r>
            <a:endParaRPr lang="en-US" sz="1100" dirty="0"/>
          </a:p>
          <a:p>
            <a:pPr indent="0" marL="0">
              <a:buNone/>
            </a:pPr>
            <a:r>
              <a:rPr lang="en-US" sz="10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spc="200" kern="0" dirty="0">
                <a:solidFill>
                  <a:srgbClr val="C8922F"/>
                </a:solidFill>
                <a:latin typeface="Calibri" pitchFamily="34" charset="0"/>
                <a:ea typeface="Calibri" pitchFamily="34" charset="-122"/>
                <a:cs typeface="Calibri" pitchFamily="34" charset="-120"/>
              </a:rPr>
              <a:t>TOOLS</a:t>
            </a:r>
            <a:endParaRPr lang="en-US" sz="1100" dirty="0"/>
          </a:p>
          <a:p>
            <a:pPr indent="0" marL="0">
              <a:buNone/>
            </a:pPr>
            <a:r>
              <a:rPr lang="en-US" sz="1150" dirty="0">
                <a:solidFill>
                  <a:srgbClr val="D9C7A3"/>
                </a:solidFill>
                <a:latin typeface="Calibri" pitchFamily="34" charset="0"/>
                <a:ea typeface="Calibri" pitchFamily="34" charset="-122"/>
                <a:cs typeface="Calibri" pitchFamily="34" charset="-120"/>
              </a:rPr>
              <a:t>Otterly ($29/mo) or Searcherries ($19/mo), plus the question bank already drafted in the Agents folder</a:t>
            </a:r>
            <a:endParaRPr lang="en-US" sz="1100" dirty="0"/>
          </a:p>
        </p:txBody>
      </p:sp>
      <p:sp>
        <p:nvSpPr>
          <p:cNvPr id="32" name="Text 30"/>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200" b="1" i="1" dirty="0">
                <a:solidFill>
                  <a:srgbClr val="2E4057"/>
                </a:solidFill>
                <a:latin typeface="Calibri" pitchFamily="34" charset="0"/>
                <a:ea typeface="Calibri" pitchFamily="34" charset="-122"/>
                <a:cs typeface="Calibri" pitchFamily="34" charset="-120"/>
              </a:rPr>
              <a:t>Schema, the facts sheet and FAQ pages help both SEO and AEO. Build them once, at launch.</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4A5359"/>
                </a:solidFill>
                <a:latin typeface="Calibri" pitchFamily="34" charset="0"/>
                <a:ea typeface="Calibri" pitchFamily="34" charset="-122"/>
                <a:cs typeface="Calibri" pitchFamily="34" charset="-120"/>
              </a:rPr>
              <a:t>Kenyon's Grist Mill  ·  Roles, Structure &amp; AI  ·  38</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8A6115"/>
                </a:solidFill>
                <a:latin typeface="Calibri" pitchFamily="34" charset="0"/>
                <a:ea typeface="Calibri" pitchFamily="34" charset="-122"/>
                <a:cs typeface="Calibri" pitchFamily="34" charset="-120"/>
              </a:rPr>
              <a:t>WHAT THE ROADMAP COSTS</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2B2A28"/>
                </a:solidFill>
                <a:latin typeface="Cambria" pitchFamily="34" charset="0"/>
                <a:ea typeface="Cambria" pitchFamily="34" charset="-122"/>
                <a:cs typeface="Cambria" pitchFamily="34" charset="-120"/>
              </a:rPr>
              <a:t>About $6k–17k one-time, then about $500–900 a month</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394960" cy="914400"/>
        </p:xfrm>
        <a:graphic>
          <a:graphicData uri="http://schemas.openxmlformats.org/drawingml/2006/table">
            <a:tbl>
              <a:tblPr/>
              <a:tblGrid>
                <a:gridCol w="3657600"/>
                <a:gridCol w="1737360"/>
              </a:tblGrid>
              <a:tr h="347472">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One-time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420624">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Freelance Shopify Partner build</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$3,000–8,000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Premium theme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$0–350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Redirect app or service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$200–1,000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Product photography (top 20 items)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$2,500–6,000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Analytics set-up (8–16 hrs, est.)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$520–2,080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One-time total</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algn="r" indent="0" marL="0">
                        <a:buNone/>
                      </a:pPr>
                      <a:r>
                        <a:rPr lang="en-US" sz="1250" b="1" dirty="0">
                          <a:solidFill>
                            <a:srgbClr val="8A6115"/>
                          </a:solidFill>
                          <a:latin typeface="Calibri" pitchFamily="34" charset="0"/>
                          <a:ea typeface="Calibri" pitchFamily="34" charset="-122"/>
                          <a:cs typeface="Calibri" pitchFamily="34" charset="-120"/>
                        </a:rPr>
                        <a:t>$6.2k–17.4k</a:t>
                      </a:r>
                      <a:endParaRPr lang="en-US" sz="12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548640" y="4617720"/>
          <a:ext cx="5394960" cy="914400"/>
        </p:xfrm>
        <a:graphic>
          <a:graphicData uri="http://schemas.openxmlformats.org/drawingml/2006/table">
            <a:tbl>
              <a:tblPr/>
              <a:tblGrid>
                <a:gridCol w="3657600"/>
                <a:gridCol w="1737360"/>
              </a:tblGrid>
              <a:tr h="329184">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Ongoing</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Per month</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384048">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Tool stack (start)</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$382</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B2A28"/>
                          </a:solidFill>
                          <a:latin typeface="Calibri" pitchFamily="34" charset="0"/>
                          <a:ea typeface="Calibri" pitchFamily="34" charset="-122"/>
                          <a:cs typeface="Calibri" pitchFamily="34" charset="-120"/>
                        </a:rPr>
                        <a:t>Web retainer (2–4 hrs)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B2A28"/>
                          </a:solidFill>
                          <a:latin typeface="Calibri" pitchFamily="34" charset="0"/>
                          <a:ea typeface="Calibri" pitchFamily="34" charset="-122"/>
                          <a:cs typeface="Calibri" pitchFamily="34" charset="-120"/>
                        </a:rPr>
                        <a:t>$130–520</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2B2A28"/>
                          </a:solidFill>
                          <a:latin typeface="Calibri" pitchFamily="34" charset="0"/>
                          <a:ea typeface="Calibri" pitchFamily="34" charset="-122"/>
                          <a:cs typeface="Calibri" pitchFamily="34" charset="-120"/>
                        </a:rPr>
                        <a:t>Monthly total</a:t>
                      </a:r>
                      <a:endParaRPr lang="en-US" sz="12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c>
                  <a:txBody>
                    <a:bodyPr/>
                    <a:lstStyle/>
                    <a:p>
                      <a:pPr algn="r" indent="0" marL="0">
                        <a:buNone/>
                      </a:pPr>
                      <a:r>
                        <a:rPr lang="en-US" sz="1250" b="1" dirty="0">
                          <a:solidFill>
                            <a:srgbClr val="8A6115"/>
                          </a:solidFill>
                          <a:latin typeface="Calibri" pitchFamily="34" charset="0"/>
                          <a:ea typeface="Calibri" pitchFamily="34" charset="-122"/>
                          <a:cs typeface="Calibri" pitchFamily="34" charset="-120"/>
                        </a:rPr>
                        <a:t>$512–902</a:t>
                      </a:r>
                      <a:endParaRPr lang="en-US" sz="12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0E3C4"/>
                    </a:solidFill>
                  </a:tcPr>
                </a:tc>
              </a:tr>
            </a:tbl>
          </a:graphicData>
        </a:graphic>
      </p:graphicFrame>
      <p:graphicFrame>
        <p:nvGraphicFramePr>
          <p:cNvPr id="115" name="Table 2"/>
          <p:cNvGraphicFramePr>
            <a:graphicFrameLocks noGrp="1"/>
          </p:cNvGraphicFramePr>
          <p:nvPr>
            <p:extLst>
              <p:ext uri="{D42A27DB-BD31-4B8C-83A1-F6EECF244321}">
                <p14:modId xmlns:p14="http://schemas.microsoft.com/office/powerpoint/2010/main" val="1579011935"/>
              </p:ext>
            </p:extLst>
          </p:nvPr>
        </p:nvGraphicFramePr>
        <p:xfrm>
          <a:off x="6217920" y="1508760"/>
          <a:ext cx="5394960" cy="914400"/>
        </p:xfrm>
        <a:graphic>
          <a:graphicData uri="http://schemas.openxmlformats.org/drawingml/2006/table">
            <a:tbl>
              <a:tblPr/>
              <a:tblGrid>
                <a:gridCol w="1737360"/>
                <a:gridCol w="3657600"/>
              </a:tblGrid>
              <a:tr h="347472">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c>
                  <a:txBody>
                    <a:bodyPr/>
                    <a:lstStyle/>
                    <a:p>
                      <a:pPr indent="0" marL="0">
                        <a:buNone/>
                      </a:pPr>
                      <a:r>
                        <a:rPr lang="en-US" sz="1150" b="1" dirty="0">
                          <a:solidFill>
                            <a:srgbClr val="EDE7D8"/>
                          </a:solidFill>
                          <a:latin typeface="Calibri" pitchFamily="34" charset="0"/>
                          <a:ea typeface="Calibri" pitchFamily="34" charset="-122"/>
                          <a:cs typeface="Calibri" pitchFamily="34" charset="-120"/>
                        </a:rPr>
                        <a:t>Commitment (estimates)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2B2A28"/>
                    </a:solidFill>
                  </a:tcPr>
                </a:tc>
              </a:tr>
              <a:tr h="54864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Digital Lead</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About 10 hrs/wk during the build (Oct–Jan), then 5</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Owners</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2–3 hrs/wk: decisions, content sign-off, launch go/no-go</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CS Lead</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6–8 hrs to write the playbook and saved replies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Content lead</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15–25 hrs to review AI-drafted product and recipe pages</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2B2A28"/>
                          </a:solidFill>
                          <a:latin typeface="Calibri" pitchFamily="34" charset="0"/>
                          <a:ea typeface="Calibri" pitchFamily="34" charset="-122"/>
                          <a:cs typeface="Calibri" pitchFamily="34" charset="-120"/>
                        </a:rPr>
                        <a:t>Shop / production staff</a:t>
                      </a:r>
                      <a:endParaRPr lang="en-US" sz="115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c>
                  <a:txBody>
                    <a:bodyPr/>
                    <a:lstStyle/>
                    <a:p>
                      <a:pPr indent="0" marL="0">
                        <a:buNone/>
                      </a:pPr>
                      <a:r>
                        <a:rPr lang="en-US" sz="1100" dirty="0">
                          <a:solidFill>
                            <a:srgbClr val="4A5359"/>
                          </a:solidFill>
                          <a:latin typeface="Calibri" pitchFamily="34" charset="0"/>
                          <a:ea typeface="Calibri" pitchFamily="34" charset="-122"/>
                          <a:cs typeface="Calibri" pitchFamily="34" charset="-120"/>
                        </a:rPr>
                        <a:t>8–12 hrs to build the product data sheet</a:t>
                      </a:r>
                      <a:endParaRPr lang="en-US" sz="1100" dirty="0">
                        <a:latin typeface="Calibri" charset="0"/>
                        <a:ea typeface="Calibri" charset="0"/>
                        <a:cs typeface="Calibri" charset="0"/>
                      </a:endParaRPr>
                    </a:p>
                  </a:txBody>
                  <a:tcPr marL="54864" marR="54864" marT="54864" marB="54864" anchor="ctr">
                    <a:lnL w="6350" cap="flat" cmpd="sng" algn="ctr">
                      <a:solidFill>
                        <a:srgbClr val="D9C7A3"/>
                      </a:solidFill>
                      <a:prstDash val="solid"/>
                      <a:round/>
                      <a:headEnd type="none" w="med" len="med"/>
                      <a:tailEnd type="none" w="med" len="med"/>
                    </a:lnL>
                    <a:lnR w="6350" cap="flat" cmpd="sng" algn="ctr">
                      <a:solidFill>
                        <a:srgbClr val="D9C7A3"/>
                      </a:solidFill>
                      <a:prstDash val="solid"/>
                      <a:round/>
                      <a:headEnd type="none" w="med" len="med"/>
                      <a:tailEnd type="none" w="med" len="med"/>
                    </a:lnR>
                    <a:lnT w="6350" cap="flat" cmpd="sng" algn="ctr">
                      <a:solidFill>
                        <a:srgbClr val="D9C7A3"/>
                      </a:solidFill>
                      <a:prstDash val="solid"/>
                      <a:round/>
                      <a:headEnd type="none" w="med" len="med"/>
                      <a:tailEnd type="none" w="med" len="med"/>
                    </a:lnT>
                    <a:lnB w="6350" cap="flat" cmpd="sng" algn="ctr">
                      <a:solidFill>
                        <a:srgbClr val="D9C7A3"/>
                      </a:solidFill>
                      <a:prstDash val="solid"/>
                      <a:round/>
                      <a:headEnd type="none" w="med" len="med"/>
                      <a:tailEnd type="none" w="med" len="med"/>
                    </a:lnB>
                    <a:solidFill>
                      <a:srgbClr val="FFFFFF"/>
                    </a:solidFill>
                  </a:tcPr>
                </a:tc>
              </a:tr>
            </a:tbl>
          </a:graphicData>
        </a:graphic>
      </p:graphicFrame>
      <p:sp>
        <p:nvSpPr>
          <p:cNvPr id="8" name="Shape 3"/>
          <p:cNvSpPr/>
          <p:nvPr/>
        </p:nvSpPr>
        <p:spPr>
          <a:xfrm>
            <a:off x="6217920" y="4617720"/>
            <a:ext cx="5394960" cy="1517904"/>
          </a:xfrm>
          <a:prstGeom prst="roundRect">
            <a:avLst>
              <a:gd name="adj" fmla="val 4819"/>
            </a:avLst>
          </a:prstGeom>
          <a:solidFill>
            <a:srgbClr val="2E4057"/>
          </a:solidFill>
          <a:ln w="12700">
            <a:solidFill>
              <a:srgbClr val="2E4057"/>
            </a:solidFill>
            <a:prstDash val="solid"/>
          </a:ln>
        </p:spPr>
      </p:sp>
      <p:sp>
        <p:nvSpPr>
          <p:cNvPr id="9" name="Text 4"/>
          <p:cNvSpPr txBox="1"/>
          <p:nvPr/>
        </p:nvSpPr>
        <p:spPr>
          <a:xfrm>
            <a:off x="6492240" y="4617720"/>
            <a:ext cx="4846320" cy="1517904"/>
          </a:xfrm>
          <a:prstGeom prst="rect">
            <a:avLst/>
          </a:prstGeom>
          <a:noFill/>
          <a:ln/>
        </p:spPr>
        <p:txBody>
          <a:bodyPr wrap="square" lIns="0" tIns="0" rIns="0" bIns="0" rtlCol="0" anchor="ctr"/>
          <a:lstStyle/>
          <a:p>
            <a:pPr indent="0" marL="0">
              <a:spcAft>
                <a:spcPts val="400"/>
              </a:spcAft>
              <a:buNone/>
            </a:pPr>
            <a:r>
              <a:rPr lang="en-US" sz="1200" b="1" dirty="0">
                <a:solidFill>
                  <a:srgbClr val="C8922F"/>
                </a:solidFill>
                <a:latin typeface="Calibri" pitchFamily="34" charset="0"/>
                <a:ea typeface="Calibri" pitchFamily="34" charset="-122"/>
                <a:cs typeface="Calibri" pitchFamily="34" charset="-120"/>
              </a:rPr>
              <a:t>Fits the Growth Plan budget  </a:t>
            </a:r>
            <a:endParaRPr lang="en-US" sz="1200" dirty="0"/>
          </a:p>
          <a:p>
            <a:pPr indent="0" marL="0">
              <a:spcAft>
                <a:spcPts val="400"/>
              </a:spcAft>
              <a:buNone/>
            </a:pPr>
            <a:r>
              <a:rPr lang="en-US" sz="1200" dirty="0">
                <a:solidFill>
                  <a:srgbClr val="EDE7D8"/>
                </a:solidFill>
                <a:latin typeface="Calibri" pitchFamily="34" charset="0"/>
                <a:ea typeface="Calibri" pitchFamily="34" charset="-122"/>
                <a:cs typeface="Calibri" pitchFamily="34" charset="-120"/>
              </a:rPr>
              <a:t>Stabilize is budgeted at $6k–14k and Optimize at $8k–18k. Build and analytics set-up go in Stabilize; photography can move to Optimize if cash is tight.</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D9C7A3"/>
                </a:solidFill>
                <a:latin typeface="Calibri" pitchFamily="34" charset="0"/>
                <a:ea typeface="Calibri" pitchFamily="34" charset="-122"/>
                <a:cs typeface="Calibri" pitchFamily="34" charset="-120"/>
              </a:rPr>
              <a:t>Kenyon's Grist Mill  ·  Roles, Structure &amp; AI  ·  39</a:t>
            </a:r>
            <a:endParaRPr lang="en-US" sz="900" dirty="0"/>
          </a:p>
        </p:txBody>
      </p:sp>
      <p:sp>
        <p:nvSpPr>
          <p:cNvPr id="3" name="Text 1"/>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300" kern="0" dirty="0">
                <a:solidFill>
                  <a:srgbClr val="C8922F"/>
                </a:solidFill>
                <a:latin typeface="Calibri" pitchFamily="34" charset="0"/>
                <a:ea typeface="Calibri" pitchFamily="34" charset="-122"/>
                <a:cs typeface="Calibri" pitchFamily="34" charset="-120"/>
              </a:rPr>
              <a:t>WHAT HAPPENS NEXT</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EDE7D8"/>
                </a:solidFill>
                <a:latin typeface="Cambria" pitchFamily="34" charset="0"/>
                <a:ea typeface="Cambria" pitchFamily="34" charset="-122"/>
                <a:cs typeface="Cambria" pitchFamily="34" charset="-120"/>
              </a:rPr>
              <a:t>Six steps for October</a:t>
            </a:r>
            <a:endParaRPr lang="en-US" sz="3000" dirty="0"/>
          </a:p>
        </p:txBody>
      </p:sp>
      <p:sp>
        <p:nvSpPr>
          <p:cNvPr id="5" name="Shape 3"/>
          <p:cNvSpPr/>
          <p:nvPr/>
        </p:nvSpPr>
        <p:spPr>
          <a:xfrm>
            <a:off x="548640" y="1737360"/>
            <a:ext cx="502920" cy="502920"/>
          </a:xfrm>
          <a:prstGeom prst="ellipse">
            <a:avLst/>
          </a:prstGeom>
          <a:solidFill>
            <a:srgbClr val="C8922F"/>
          </a:solidFill>
          <a:ln w="12700">
            <a:solidFill>
              <a:srgbClr val="C8922F"/>
            </a:solidFill>
            <a:prstDash val="solid"/>
          </a:ln>
        </p:spPr>
      </p:sp>
      <p:sp>
        <p:nvSpPr>
          <p:cNvPr id="6" name="Text 4"/>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234440" y="164592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Run the two-week time log and build a Role Card for every person</a:t>
            </a:r>
            <a:endParaRPr lang="en-US" sz="1500" dirty="0"/>
          </a:p>
        </p:txBody>
      </p:sp>
      <p:sp>
        <p:nvSpPr>
          <p:cNvPr id="8" name="Shape 6"/>
          <p:cNvSpPr/>
          <p:nvPr/>
        </p:nvSpPr>
        <p:spPr>
          <a:xfrm>
            <a:off x="6172200" y="1737360"/>
            <a:ext cx="502920" cy="502920"/>
          </a:xfrm>
          <a:prstGeom prst="ellipse">
            <a:avLst/>
          </a:prstGeom>
          <a:solidFill>
            <a:srgbClr val="C8922F"/>
          </a:solidFill>
          <a:ln w="12700">
            <a:solidFill>
              <a:srgbClr val="C8922F"/>
            </a:solidFill>
            <a:prstDash val="solid"/>
          </a:ln>
        </p:spPr>
      </p:sp>
      <p:sp>
        <p:nvSpPr>
          <p:cNvPr id="9" name="Text 7"/>
          <p:cNvSpPr txBox="1"/>
          <p:nvPr/>
        </p:nvSpPr>
        <p:spPr>
          <a:xfrm>
            <a:off x="6172200" y="173736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6858000" y="164592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Name the CS Lead, the Digital Lead and an interim wholesale owner</a:t>
            </a:r>
            <a:endParaRPr lang="en-US" sz="1500" dirty="0"/>
          </a:p>
        </p:txBody>
      </p:sp>
      <p:sp>
        <p:nvSpPr>
          <p:cNvPr id="11" name="Shape 9"/>
          <p:cNvSpPr/>
          <p:nvPr/>
        </p:nvSpPr>
        <p:spPr>
          <a:xfrm>
            <a:off x="548640" y="2697480"/>
            <a:ext cx="502920" cy="502920"/>
          </a:xfrm>
          <a:prstGeom prst="ellipse">
            <a:avLst/>
          </a:prstGeom>
          <a:solidFill>
            <a:srgbClr val="C8922F"/>
          </a:solidFill>
          <a:ln w="12700">
            <a:solidFill>
              <a:srgbClr val="C8922F"/>
            </a:solidFill>
            <a:prstDash val="solid"/>
          </a:ln>
        </p:spPr>
      </p:sp>
      <p:sp>
        <p:nvSpPr>
          <p:cNvPr id="12" name="Text 10"/>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234440" y="260604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Open a business Google account and password manager; take control of the domain and DNS</a:t>
            </a:r>
            <a:endParaRPr lang="en-US" sz="1500" dirty="0"/>
          </a:p>
        </p:txBody>
      </p:sp>
      <p:sp>
        <p:nvSpPr>
          <p:cNvPr id="14" name="Shape 12"/>
          <p:cNvSpPr/>
          <p:nvPr/>
        </p:nvSpPr>
        <p:spPr>
          <a:xfrm>
            <a:off x="6172200" y="2697480"/>
            <a:ext cx="502920" cy="502920"/>
          </a:xfrm>
          <a:prstGeom prst="ellipse">
            <a:avLst/>
          </a:prstGeom>
          <a:solidFill>
            <a:srgbClr val="C8922F"/>
          </a:solidFill>
          <a:ln w="12700">
            <a:solidFill>
              <a:srgbClr val="C8922F"/>
            </a:solidFill>
            <a:prstDash val="solid"/>
          </a:ln>
        </p:spPr>
      </p:sp>
      <p:sp>
        <p:nvSpPr>
          <p:cNvPr id="15" name="Text 13"/>
          <p:cNvSpPr txBox="1"/>
          <p:nvPr/>
        </p:nvSpPr>
        <p:spPr>
          <a:xfrm>
            <a:off x="6172200" y="269748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4</a:t>
            </a:r>
            <a:endParaRPr lang="en-US" sz="1600" dirty="0"/>
          </a:p>
        </p:txBody>
      </p:sp>
      <p:sp>
        <p:nvSpPr>
          <p:cNvPr id="16" name="Text 14"/>
          <p:cNvSpPr txBox="1"/>
          <p:nvPr/>
        </p:nvSpPr>
        <p:spPr>
          <a:xfrm>
            <a:off x="6858000" y="260604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Start SAM.gov and UEI registration; sign a contract bookkeeper</a:t>
            </a:r>
            <a:endParaRPr lang="en-US" sz="1500" dirty="0"/>
          </a:p>
        </p:txBody>
      </p:sp>
      <p:sp>
        <p:nvSpPr>
          <p:cNvPr id="17" name="Shape 15"/>
          <p:cNvSpPr/>
          <p:nvPr/>
        </p:nvSpPr>
        <p:spPr>
          <a:xfrm>
            <a:off x="548640" y="3657600"/>
            <a:ext cx="502920" cy="502920"/>
          </a:xfrm>
          <a:prstGeom prst="ellipse">
            <a:avLst/>
          </a:prstGeom>
          <a:solidFill>
            <a:srgbClr val="C8922F"/>
          </a:solidFill>
          <a:ln w="12700">
            <a:solidFill>
              <a:srgbClr val="C8922F"/>
            </a:solidFill>
            <a:prstDash val="solid"/>
          </a:ln>
        </p:spPr>
      </p:sp>
      <p:sp>
        <p:nvSpPr>
          <p:cNvPr id="18" name="Text 16"/>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5</a:t>
            </a:r>
            <a:endParaRPr lang="en-US" sz="1600" dirty="0"/>
          </a:p>
        </p:txBody>
      </p:sp>
      <p:sp>
        <p:nvSpPr>
          <p:cNvPr id="19" name="Text 17"/>
          <p:cNvSpPr txBox="1"/>
          <p:nvPr/>
        </p:nvSpPr>
        <p:spPr>
          <a:xfrm>
            <a:off x="1234440" y="356616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Get 2–3 Shopify Partner quotes; build on staging, launch in January</a:t>
            </a:r>
            <a:endParaRPr lang="en-US" sz="1500" dirty="0"/>
          </a:p>
        </p:txBody>
      </p:sp>
      <p:sp>
        <p:nvSpPr>
          <p:cNvPr id="20" name="Shape 18"/>
          <p:cNvSpPr/>
          <p:nvPr/>
        </p:nvSpPr>
        <p:spPr>
          <a:xfrm>
            <a:off x="6172200" y="3657600"/>
            <a:ext cx="502920" cy="502920"/>
          </a:xfrm>
          <a:prstGeom prst="ellipse">
            <a:avLst/>
          </a:prstGeom>
          <a:solidFill>
            <a:srgbClr val="C8922F"/>
          </a:solidFill>
          <a:ln w="12700">
            <a:solidFill>
              <a:srgbClr val="C8922F"/>
            </a:solidFill>
            <a:prstDash val="solid"/>
          </a:ln>
        </p:spPr>
      </p:sp>
      <p:sp>
        <p:nvSpPr>
          <p:cNvPr id="21" name="Text 19"/>
          <p:cNvSpPr txBox="1"/>
          <p:nvPr/>
        </p:nvSpPr>
        <p:spPr>
          <a:xfrm>
            <a:off x="6172200" y="3657600"/>
            <a:ext cx="502920" cy="502920"/>
          </a:xfrm>
          <a:prstGeom prst="rect">
            <a:avLst/>
          </a:prstGeom>
          <a:noFill/>
          <a:ln/>
        </p:spPr>
        <p:txBody>
          <a:bodyPr wrap="square" lIns="0" tIns="0" rIns="0" bIns="0" rtlCol="0" anchor="ctr"/>
          <a:lstStyle/>
          <a:p>
            <a:pPr algn="ctr" indent="0" marL="0">
              <a:buNone/>
            </a:pPr>
            <a:r>
              <a:rPr lang="en-US" sz="1600" b="1" dirty="0">
                <a:solidFill>
                  <a:srgbClr val="2B2A28"/>
                </a:solidFill>
                <a:latin typeface="Cambria" pitchFamily="34" charset="0"/>
                <a:ea typeface="Cambria" pitchFamily="34" charset="-122"/>
                <a:cs typeface="Cambria" pitchFamily="34" charset="-120"/>
              </a:rPr>
              <a:t>6</a:t>
            </a:r>
            <a:endParaRPr lang="en-US" sz="1600" dirty="0"/>
          </a:p>
        </p:txBody>
      </p:sp>
      <p:sp>
        <p:nvSpPr>
          <p:cNvPr id="22" name="Text 20"/>
          <p:cNvSpPr txBox="1"/>
          <p:nvPr/>
        </p:nvSpPr>
        <p:spPr>
          <a:xfrm>
            <a:off x="6858000" y="3566160"/>
            <a:ext cx="4663440" cy="731520"/>
          </a:xfrm>
          <a:prstGeom prst="rect">
            <a:avLst/>
          </a:prstGeom>
          <a:noFill/>
          <a:ln/>
        </p:spPr>
        <p:txBody>
          <a:bodyPr wrap="square" lIns="0" tIns="0" rIns="0" bIns="0" rtlCol="0" anchor="ctr"/>
          <a:lstStyle/>
          <a:p>
            <a:pPr indent="0" marL="0">
              <a:buNone/>
            </a:pPr>
            <a:r>
              <a:rPr lang="en-US" sz="1500" dirty="0">
                <a:solidFill>
                  <a:srgbClr val="EDE7D8"/>
                </a:solidFill>
                <a:latin typeface="Calibri" pitchFamily="34" charset="0"/>
                <a:ea typeface="Calibri" pitchFamily="34" charset="-122"/>
                <a:cs typeface="Calibri" pitchFamily="34" charset="-120"/>
              </a:rPr>
              <a:t>Verify Search Console and the Google Business Profile; get repair quotes</a:t>
            </a:r>
            <a:endParaRPr lang="en-US" sz="1500" dirty="0"/>
          </a:p>
        </p:txBody>
      </p:sp>
      <p:sp>
        <p:nvSpPr>
          <p:cNvPr id="23" name="Shape 21"/>
          <p:cNvSpPr/>
          <p:nvPr/>
        </p:nvSpPr>
        <p:spPr>
          <a:xfrm>
            <a:off x="548640" y="4754880"/>
            <a:ext cx="11064240" cy="1325880"/>
          </a:xfrm>
          <a:prstGeom prst="roundRect">
            <a:avLst>
              <a:gd name="adj" fmla="val 5517"/>
            </a:avLst>
          </a:prstGeom>
          <a:solidFill>
            <a:srgbClr val="4A5359"/>
          </a:solidFill>
          <a:ln w="12700">
            <a:solidFill>
              <a:srgbClr val="4A5359"/>
            </a:solidFill>
            <a:prstDash val="solid"/>
          </a:ln>
        </p:spPr>
      </p:sp>
      <p:sp>
        <p:nvSpPr>
          <p:cNvPr id="24" name="Text 22"/>
          <p:cNvSpPr txBox="1"/>
          <p:nvPr/>
        </p:nvSpPr>
        <p:spPr>
          <a:xfrm>
            <a:off x="868680" y="4754880"/>
            <a:ext cx="10424160" cy="1325880"/>
          </a:xfrm>
          <a:prstGeom prst="rect">
            <a:avLst/>
          </a:prstGeom>
          <a:noFill/>
          <a:ln/>
        </p:spPr>
        <p:txBody>
          <a:bodyPr wrap="square" lIns="0" tIns="0" rIns="0" bIns="0" rtlCol="0" anchor="ctr"/>
          <a:lstStyle/>
          <a:p>
            <a:pPr indent="0" marL="0">
              <a:spcAft>
                <a:spcPts val="600"/>
              </a:spcAft>
              <a:buNone/>
            </a:pPr>
            <a:r>
              <a:rPr lang="en-US" sz="1100" b="1" spc="200" kern="0" dirty="0">
                <a:solidFill>
                  <a:srgbClr val="C8922F"/>
                </a:solidFill>
                <a:latin typeface="Calibri" pitchFamily="34" charset="0"/>
                <a:ea typeface="Calibri" pitchFamily="34" charset="-122"/>
                <a:cs typeface="Calibri" pitchFamily="34" charset="-120"/>
              </a:rPr>
              <a:t>DECISIONS NEEDED FROM OWNERSHIP</a:t>
            </a:r>
            <a:endParaRPr lang="en-US" sz="1100" dirty="0"/>
          </a:p>
          <a:p>
            <a:pPr indent="0" marL="0">
              <a:spcAft>
                <a:spcPts val="600"/>
              </a:spcAft>
              <a:buNone/>
            </a:pPr>
            <a:r>
              <a:rPr lang="en-US" sz="1400" dirty="0">
                <a:solidFill>
                  <a:srgbClr val="EDE7D8"/>
                </a:solidFill>
                <a:latin typeface="Calibri" pitchFamily="34" charset="0"/>
                <a:ea typeface="Calibri" pitchFamily="34" charset="-122"/>
                <a:cs typeface="Calibri" pitchFamily="34" charset="-120"/>
              </a:rPr>
              <a:t>1. Adopt the framework and the new structure.   2. Approve Wave 1 ($23k–37k a year) and the web build ($6k–17k one-time).   3. Confirm a January launch.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Kenyon's Grist Mill: Roles, Structure &amp; AI</dc:title>
  <dc:subject>PptxGenJS Presentation</dc:subject>
  <dc:creator>PptxGenJS</dc:creator>
  <cp:lastModifiedBy>PptxGenJS</cp:lastModifiedBy>
  <cp:revision>1</cp:revision>
  <dcterms:created xsi:type="dcterms:W3CDTF">2026-09-26T14:20:47Z</dcterms:created>
  <dcterms:modified xsi:type="dcterms:W3CDTF">2026-09-26T14:20:47Z</dcterms:modified>
</cp:coreProperties>
</file>